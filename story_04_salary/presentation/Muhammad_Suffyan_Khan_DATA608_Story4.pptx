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914400"/>
            <a:ext cx="100584" cy="685800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941832"/>
            <a:ext cx="9144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8FD9D1"/>
                </a:solidFill>
                <a:latin typeface="Aptos"/>
              </a:defRPr>
            </a:pPr>
            <a:r>
              <a:rPr sz="1600" dirty="0"/>
              <a:t>DATA 608  /  KNOWLEDGE &amp; VISUAL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17595"/>
            <a:ext cx="1042416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rPr dirty="0"/>
              <a:t>How much do</a:t>
            </a:r>
          </a:p>
          <a:p>
            <a:pPr>
              <a:spcAft>
                <a:spcPts val="4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rPr dirty="0"/>
              <a:t>we get paid?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977639"/>
            <a:ext cx="96012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200" b="0">
                <a:solidFill>
                  <a:srgbClr val="D8E7F0"/>
                </a:solidFill>
                <a:latin typeface="Aptos"/>
              </a:defRPr>
            </a:pPr>
            <a:r>
              <a:t>The salary story changes with the job title — and the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5065776"/>
            <a:ext cx="4480560" cy="41148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5486400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CBD6E2"/>
                </a:solidFill>
                <a:latin typeface="Aptos"/>
              </a:defRPr>
            </a:pPr>
            <a:r>
              <a:t>Muhammad Suffyan Khan  •  CUNY School of Professional Studies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" y="356616"/>
            <a:ext cx="100584" cy="356616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8A94"/>
                </a:solidFill>
                <a:latin typeface="Aptos"/>
              </a:defRPr>
            </a:pPr>
            <a:r>
              <a:rPr sz="1600" dirty="0"/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5253B"/>
                </a:solidFill>
                <a:latin typeface="Aptos"/>
              </a:defRPr>
            </a:pPr>
            <a:r>
              <a:t>Same field, different ways to get paid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1083564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A descriptive comparison of annual mean wages—not an individual salary prediction.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28816"/>
            <a:ext cx="10808208" cy="10058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17188"/>
                </a:solidFill>
                <a:latin typeface="Aptos"/>
              </a:defRPr>
            </a:pPr>
            <a:r>
              <a:t>DATA 608  •  STORY 4     |     OEWS MAY 2025 • SELECTED-STATE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1718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3154680" cy="3090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267712"/>
            <a:ext cx="3154680" cy="68580"/>
          </a:xfrm>
          <a:prstGeom prst="rect">
            <a:avLst/>
          </a:prstGeom>
          <a:solidFill>
            <a:srgbClr val="1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615184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300" b="1">
                <a:solidFill>
                  <a:srgbClr val="E9694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5253B"/>
                </a:solidFill>
                <a:latin typeface="Aptos"/>
              </a:defRPr>
            </a:pPr>
            <a:r>
              <a:t>OCCUPATIONS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51376"/>
            <a:ext cx="2587752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Official BLS SOC categories; not exact matches for every industry job title.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17136" y="2267712"/>
            <a:ext cx="3154680" cy="3090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17136" y="2267712"/>
            <a:ext cx="3154680" cy="68580"/>
          </a:xfrm>
          <a:prstGeom prst="rect">
            <a:avLst/>
          </a:prstGeom>
          <a:solidFill>
            <a:srgbClr val="1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91456" y="2615184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300" b="1">
                <a:solidFill>
                  <a:srgbClr val="E96942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3566160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5253B"/>
                </a:solidFill>
                <a:latin typeface="Aptos"/>
              </a:defRPr>
            </a:pPr>
            <a:r>
              <a:t>SELECTED 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4151376"/>
            <a:ext cx="2587752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Six-role comparisons across a deliberately selected subset of U.S. states.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2267712"/>
            <a:ext cx="3154680" cy="3090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02752" y="2267712"/>
            <a:ext cx="3154680" cy="68580"/>
          </a:xfrm>
          <a:prstGeom prst="rect">
            <a:avLst/>
          </a:prstGeom>
          <a:solidFill>
            <a:srgbClr val="1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77072" y="2615184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4300" b="1">
                <a:solidFill>
                  <a:srgbClr val="E96942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3566160"/>
            <a:ext cx="26517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5253B"/>
                </a:solidFill>
                <a:latin typeface="Aptos"/>
              </a:defRPr>
            </a:pPr>
            <a:r>
              <a:t>JURISDICTIONS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4151376"/>
            <a:ext cx="2587752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Published Data Scientist wage observations in the source 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769864"/>
            <a:ext cx="105156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48A94"/>
                </a:solidFill>
                <a:latin typeface="Aptos"/>
              </a:defRPr>
            </a:pPr>
            <a:r>
              <a:t>Important: equal-state averages are not U.S. national means; nominal wages are not cost-of-living adjusted.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" y="356616"/>
            <a:ext cx="100584" cy="356616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8A94"/>
                </a:solidFill>
                <a:latin typeface="Aptos"/>
              </a:defRPr>
            </a:pPr>
            <a:r>
              <a:rPr sz="1600" dirty="0"/>
              <a:t>FINDING 01 ·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5253B"/>
                </a:solidFill>
                <a:latin typeface="Aptos"/>
              </a:defRPr>
            </a:pPr>
            <a:r>
              <a:t>Database Architects lead the six-role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1083564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Equal-weight average of the 16 selected state mean wages, annual USD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28816"/>
            <a:ext cx="10808208" cy="10058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17188"/>
                </a:solidFill>
                <a:latin typeface="Aptos"/>
              </a:defRPr>
            </a:pPr>
            <a:r>
              <a:t>DATA 608  •  STORY 4     |     OEWS MAY 2025 • SELECTED-STATE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17188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0" name="Picture 9" descr="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856231"/>
            <a:ext cx="8458200" cy="4389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88552" y="2057400"/>
            <a:ext cx="2468880" cy="3886200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71432" y="2295144"/>
            <a:ext cx="82296" cy="329184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45168" y="2267712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5253B"/>
                </a:solidFill>
                <a:latin typeface="Aptos"/>
              </a:defRPr>
            </a:pPr>
            <a:r>
              <a:t>$142.5k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044952"/>
            <a:ext cx="201168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Database Architects average $14.9k more than Data Scientists in this selected-state comparison.</a:t>
            </a:r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These are averages of state means—not a worker-weighted U.S. estimate.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" y="356616"/>
            <a:ext cx="100584" cy="356616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8A94"/>
                </a:solidFill>
                <a:latin typeface="Aptos"/>
              </a:defRPr>
            </a:pPr>
            <a:r>
              <a:rPr sz="1600" dirty="0"/>
              <a:t>FINDING 02 · ROLE ×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5253B"/>
                </a:solidFill>
                <a:latin typeface="Aptos"/>
              </a:defRPr>
            </a:pPr>
            <a:r>
              <a:t>There is no single salary ranking for every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1083564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Darker cells indicate higher annual mean wages ($000s); gray means unavailable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28816"/>
            <a:ext cx="10808208" cy="10058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17188"/>
                </a:solidFill>
                <a:latin typeface="Aptos"/>
              </a:defRPr>
            </a:pPr>
            <a:r>
              <a:t>DATA 608  •  STORY 4     |     OEWS MAY 2025 • SELECTED-STATE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17188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10" name="Picture 9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8778240" cy="451713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308592" y="2084831"/>
            <a:ext cx="2148840" cy="3877056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91472" y="2322576"/>
            <a:ext cx="82296" cy="329184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65208" y="2295144"/>
            <a:ext cx="16459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5253B"/>
                </a:solidFill>
                <a:latin typeface="Aptos"/>
              </a:defRPr>
            </a:pPr>
            <a:r>
              <a:t>Look across &amp;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7192" y="3072384"/>
            <a:ext cx="1691640" cy="2642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Compare roles within a state (across a row), then compare states within a role (down a column).</a:t>
            </a:r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California Database Architects: $175k; Mississippi Statisticians: about $68k.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" y="356616"/>
            <a:ext cx="100584" cy="356616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8A94"/>
                </a:solidFill>
                <a:latin typeface="Aptos"/>
              </a:defRPr>
            </a:pPr>
            <a:r>
              <a:t>FINDING 03 · GEOGRAPHY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5253B"/>
                </a:solidFill>
                <a:latin typeface="Aptos"/>
              </a:defRPr>
            </a:pPr>
            <a:r>
              <a:t>Data Scientist wages nearly double between extremes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1083564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Five highest and five lowest published jurisdictions, annual mean wages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28816"/>
            <a:ext cx="10808208" cy="10058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17188"/>
                </a:solidFill>
                <a:latin typeface="Aptos"/>
              </a:defRPr>
            </a:pPr>
            <a:r>
              <a:t>DATA 608  •  STORY 4     |     OEWS MAY 2025 • SELECTED-STATE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17188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10" name="Picture 9" descr="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83664"/>
            <a:ext cx="8275320" cy="44256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70264" y="2066543"/>
            <a:ext cx="2523744" cy="3867912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53144" y="2304287"/>
            <a:ext cx="82296" cy="329184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2276856"/>
            <a:ext cx="20208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5253B"/>
                </a:solidFill>
                <a:latin typeface="Aptos"/>
              </a:defRPr>
            </a:pPr>
            <a:r>
              <a:t>$78,750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054096"/>
            <a:ext cx="2066543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Washington: $158,040</a:t>
            </a:r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Mississippi: $79,290</a:t>
            </a:r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The higher figure is about 1.99× the lower—not a measure of after-tax purchasing power.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" y="356616"/>
            <a:ext cx="100584" cy="356616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8A94"/>
                </a:solidFill>
                <a:latin typeface="Aptos"/>
              </a:defRPr>
            </a:pPr>
            <a:r>
              <a:rPr sz="1600" dirty="0"/>
              <a:t>FINDING 04 ·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5253B"/>
                </a:solidFill>
                <a:latin typeface="Aptos"/>
              </a:defRPr>
            </a:pPr>
            <a:r>
              <a:t>The Data Scientist pay advantage is not universal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1083564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Data Scientist mean wage minus Computer Systems Analyst mean wage, 16 selected states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28816"/>
            <a:ext cx="10808208" cy="10058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17188"/>
                </a:solidFill>
                <a:latin typeface="Aptos"/>
              </a:defRPr>
            </a:pPr>
            <a:r>
              <a:t>DATA 608  •  STORY 4     |     OEWS MAY 2025 • SELECTED-STATE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17188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0" name="Picture 9" descr="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865376"/>
            <a:ext cx="8412480" cy="45537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61120" y="2103120"/>
            <a:ext cx="2523744" cy="3858768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2340863"/>
            <a:ext cx="82296" cy="329184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17736" y="2313432"/>
            <a:ext cx="2020824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5253B"/>
                </a:solidFill>
                <a:latin typeface="Aptos"/>
              </a:defRPr>
            </a:pPr>
            <a:r>
              <a:t>The sign flips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3090672"/>
            <a:ext cx="2066543" cy="2624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Washington: +$26.8k</a:t>
            </a:r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Mississippi: −$20.0k</a:t>
            </a:r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A positive difference favors Data Scientists. A negative difference favors Systems Analysts.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" y="356616"/>
            <a:ext cx="100584" cy="356616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8A94"/>
                </a:solidFill>
                <a:latin typeface="Aptos"/>
              </a:defRPr>
            </a:pPr>
            <a:r>
              <a:rPr sz="1600" dirty="0"/>
              <a:t>FINDING 05 · DISPERSION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5253B"/>
                </a:solidFill>
                <a:latin typeface="Aptos"/>
              </a:defRPr>
            </a:pPr>
            <a:r>
              <a:t>A role can have a wide wage range across states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1083564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Endpoints show lowest and highest selected-state mean; orange dot = median state wage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28816"/>
            <a:ext cx="10808208" cy="10058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17188"/>
                </a:solidFill>
                <a:latin typeface="Aptos"/>
              </a:defRPr>
            </a:pPr>
            <a:r>
              <a:t>DATA 608  •  STORY 4     |     OEWS MAY 2025 • SELECTED-STATE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17188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10" name="Picture 9" descr="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5376"/>
            <a:ext cx="8467344" cy="4526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88552" y="2075688"/>
            <a:ext cx="2468880" cy="3877056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71432" y="2313432"/>
            <a:ext cx="82296" cy="329184"/>
          </a:xfrm>
          <a:prstGeom prst="rect">
            <a:avLst/>
          </a:prstGeom>
          <a:solidFill>
            <a:srgbClr val="1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45168" y="2286000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5253B"/>
                </a:solidFill>
                <a:latin typeface="Aptos"/>
              </a:defRPr>
            </a:pPr>
            <a:r>
              <a:t>Spread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063240"/>
            <a:ext cx="2011680" cy="2642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The role ranking hides geographic variation.</a:t>
            </a:r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A range plot reveals how far apart state mean wages can be within each occupation.</a:t>
            </a:r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15253B"/>
                </a:solidFill>
                <a:latin typeface="Aptos"/>
              </a:defRPr>
            </a:pPr>
            <a:r>
              <a:t>This uses the same selected 16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" y="356616"/>
            <a:ext cx="100584" cy="356616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8A94"/>
                </a:solidFill>
                <a:latin typeface="Aptos"/>
              </a:defRPr>
            </a:pPr>
            <a:r>
              <a:rPr sz="1600" dirty="0"/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5253B"/>
                </a:solidFill>
                <a:latin typeface="Aptos"/>
              </a:defRPr>
            </a:pPr>
            <a:r>
              <a:rPr dirty="0"/>
              <a:t>What these comparisons can</a:t>
            </a:r>
            <a:r>
              <a:rPr lang="en-US" dirty="0"/>
              <a:t> - </a:t>
            </a:r>
            <a:r>
              <a:rPr dirty="0"/>
              <a:t>and cannot</a:t>
            </a:r>
            <a:r>
              <a:rPr lang="en-US" dirty="0"/>
              <a:t> - </a:t>
            </a:r>
            <a:r>
              <a:rPr dirty="0"/>
              <a:t>tell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1083564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Read every salary figure in the context of its definition and coverage.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28816"/>
            <a:ext cx="10808208" cy="10058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17188"/>
                </a:solidFill>
                <a:latin typeface="Aptos"/>
              </a:defRPr>
            </a:pPr>
            <a:r>
              <a:t>DATA 608  •  STORY 4     |     OEWS MAY 2025 • SELECTED-STATE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1718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1965960"/>
            <a:ext cx="5349240" cy="1545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23544" y="2185415"/>
            <a:ext cx="86868" cy="320040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167128"/>
            <a:ext cx="45628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5253B"/>
                </a:solidFill>
                <a:latin typeface="Aptos"/>
              </a:defRPr>
            </a:pPr>
            <a:r>
              <a:t>WAGE 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642615"/>
            <a:ext cx="459943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Annual mean employee wage, not median, bonuses, benefits, or total pay.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8" y="1965960"/>
            <a:ext cx="5349240" cy="1545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29400" y="2185415"/>
            <a:ext cx="86868" cy="320040"/>
          </a:xfrm>
          <a:prstGeom prst="rect">
            <a:avLst/>
          </a:prstGeom>
          <a:solidFill>
            <a:srgbClr val="1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0568" y="2167128"/>
            <a:ext cx="45628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5253B"/>
                </a:solidFill>
                <a:latin typeface="Aptos"/>
              </a:defRPr>
            </a:pPr>
            <a:r>
              <a:t>OCCUPATION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642615"/>
            <a:ext cx="459943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Data Engineer / Data Analyst / Business Analyst are not one-to-one SOC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3794760"/>
            <a:ext cx="5349240" cy="1545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" y="4014216"/>
            <a:ext cx="86868" cy="320040"/>
          </a:xfrm>
          <a:prstGeom prst="rect">
            <a:avLst/>
          </a:prstGeom>
          <a:solidFill>
            <a:srgbClr val="1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4712" y="3995928"/>
            <a:ext cx="45628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5253B"/>
                </a:solidFill>
                <a:latin typeface="Aptos"/>
              </a:defRPr>
            </a:pPr>
            <a:r>
              <a:t>GEOGRAPHIC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4471416"/>
            <a:ext cx="459943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Six-role matrix covers 16 selected states; 49 entries for Data Scientists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4808" y="3794760"/>
            <a:ext cx="5349240" cy="15453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29400" y="4014216"/>
            <a:ext cx="86868" cy="320040"/>
          </a:xfrm>
          <a:prstGeom prst="rect">
            <a:avLst/>
          </a:prstGeom>
          <a:solidFill>
            <a:srgbClr val="148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30568" y="3995928"/>
            <a:ext cx="456285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5253B"/>
                </a:solidFill>
                <a:latin typeface="Aptos"/>
              </a:defRPr>
            </a:pPr>
            <a:r>
              <a:t>CAUSALITY &amp;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4471416"/>
            <a:ext cx="459943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These patterns do not explain why wages differ or compare purchasing power.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" y="356616"/>
            <a:ext cx="100584" cy="356616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8A94"/>
                </a:solidFill>
                <a:latin typeface="Aptos"/>
              </a:defRPr>
            </a:pPr>
            <a:r>
              <a:rPr lang="en-US" sz="1600" dirty="0"/>
              <a:t>CONCLUSION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5253B"/>
                </a:solidFill>
                <a:latin typeface="Aptos"/>
              </a:defRPr>
            </a:pPr>
            <a:r>
              <a:t>How much do we get paid? It depends on both role and 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108356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rPr lang="en-US" sz="1400" dirty="0">
                <a:solidFill>
                  <a:srgbClr val="617188"/>
                </a:solidFill>
                <a:latin typeface="Aptos"/>
              </a:rPr>
              <a:t>Three key findings reveal how occupation and geography influence annual mean wages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94944" y="6528816"/>
            <a:ext cx="10808208" cy="10058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17188"/>
                </a:solidFill>
                <a:latin typeface="Aptos"/>
              </a:defRPr>
            </a:pPr>
            <a:r>
              <a:t>DATA 608  •  STORY 4     |     OEWS MAY 2025 • SELECTED-STATE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1718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112264"/>
            <a:ext cx="3493008" cy="3319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914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E9694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145536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48A94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685032"/>
            <a:ext cx="2935224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5253B"/>
                </a:solidFill>
                <a:latin typeface="Aptos"/>
              </a:defRPr>
            </a:pPr>
            <a:r>
              <a:t>Database Architects top the selected-state role ranking at about $142.5k.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2112264"/>
            <a:ext cx="3493008" cy="3319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37176" y="2423160"/>
            <a:ext cx="914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E969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45536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48A94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685032"/>
            <a:ext cx="2935224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5253B"/>
                </a:solidFill>
                <a:latin typeface="Aptos"/>
              </a:defRPr>
            </a:pPr>
            <a:r>
              <a:t>Data Scientist mean wage spans $79.3k to $158.0k across published jurisdictions.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21624" y="2112264"/>
            <a:ext cx="3493008" cy="33192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68512" y="2423160"/>
            <a:ext cx="914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E9694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6" y="3145536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48A94"/>
                </a:solidFill>
                <a:latin typeface="Aptos"/>
              </a:defRPr>
            </a:pPr>
            <a:r>
              <a:t>COMBINATION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6" y="3685032"/>
            <a:ext cx="2935224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5253B"/>
                </a:solidFill>
                <a:latin typeface="Aptos"/>
              </a:defRPr>
            </a:pPr>
            <a:r>
              <a:t>The Data Scientist vs. Systems Analyst pay gap switches sign in three of 16 states.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33872"/>
            <a:ext cx="1088136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5253B"/>
                </a:solidFill>
                <a:latin typeface="Aptos"/>
              </a:defRPr>
            </a:pPr>
            <a:r>
              <a:t>Bottom line: a single headline salary masks meaningful differences in both occupations and geography.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93776" y="356616"/>
            <a:ext cx="100584" cy="356616"/>
          </a:xfrm>
          <a:prstGeom prst="rect">
            <a:avLst/>
          </a:prstGeom>
          <a:solidFill>
            <a:srgbClr val="E96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47472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48A94"/>
                </a:solidFill>
                <a:latin typeface="Aptos"/>
              </a:defRPr>
            </a:pPr>
            <a:r>
              <a:rPr sz="1600" dirty="0"/>
              <a:t>SOURCES &amp;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5253B"/>
                </a:solidFill>
                <a:latin typeface="Aptos"/>
              </a:defRPr>
            </a:pPr>
            <a:r>
              <a:t>Transparent data provenance and reproducible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453896"/>
            <a:ext cx="10835640" cy="4663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617188"/>
                </a:solidFill>
                <a:latin typeface="Aptos"/>
              </a:defRPr>
            </a:pPr>
            <a:r>
              <a:t>Salary values: third-party BLS-attributed tables, not direct official BLS bulk downloads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6528816"/>
            <a:ext cx="10808208" cy="10058"/>
          </a:xfrm>
          <a:prstGeom prst="rect">
            <a:avLst/>
          </a:prstGeom>
          <a:solidFill>
            <a:srgbClr val="CE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6583680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617188"/>
                </a:solidFill>
                <a:latin typeface="Aptos"/>
              </a:defRPr>
            </a:pPr>
            <a:r>
              <a:t>DATA 608  •  STORY 4     |     OEWS MAY 2025 • SELECTED-STATE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47104"/>
            <a:ext cx="502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1718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002536"/>
            <a:ext cx="514807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48A94"/>
                </a:solidFill>
                <a:latin typeface="Aptos"/>
              </a:defRPr>
            </a:pPr>
            <a:r>
              <a:t>DATA &amp; OCCUPATIONAL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569464"/>
            <a:ext cx="50749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r>
              <a:t>BLS Occupational Employment and Wage Statistics (OEWS), May 2025.</a:t>
            </a:r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r>
              <a:t>Six detailed SOC occupations: 15-2051, 15-1243, 15-1242, 15-1211, 15-2031, and 15-2041.</a:t>
            </a:r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r>
              <a:t>Wage entries transcribed from SignalBleed BLS-attributed occupation tables.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02536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48A94"/>
                </a:solidFill>
                <a:latin typeface="Aptos"/>
              </a:defRPr>
            </a:pPr>
            <a:r>
              <a:t>ANALYSIS &amp;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69464"/>
            <a:ext cx="4946904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r>
              <a:t>Python notebook and local CSVs support all calculations.</a:t>
            </a:r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r>
              <a:t>Equal-state averaging; missing wages retained as missing.</a:t>
            </a:r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r>
              <a:t>16 states for joint role/state analysis, 49 jurisdictions for Data Scientists.</a:t>
            </a:r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15253B"/>
                </a:solidFill>
                <a:latin typeface="Aptos"/>
              </a:defRPr>
            </a:pPr>
            <a:r>
              <a:t>No geographic price adjustment or causal inference.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" y="5559552"/>
            <a:ext cx="10533888" cy="466344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5641848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617188"/>
                </a:solidFill>
                <a:latin typeface="Aptos"/>
              </a:defRPr>
            </a:pPr>
            <a:r>
              <a:t>Official BLS tables: bls.gov/oes/tables.htm   •   Source mirror: signalbleed.com/jobs/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845</Words>
  <Application>Microsoft Office PowerPoint</Application>
  <PresentationFormat>Widescreen</PresentationFormat>
  <Paragraphs>117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Khan</cp:lastModifiedBy>
  <cp:revision>8</cp:revision>
  <dcterms:created xsi:type="dcterms:W3CDTF">2013-01-27T09:14:16Z</dcterms:created>
  <dcterms:modified xsi:type="dcterms:W3CDTF">2026-10-25T17:31:52Z</dcterms:modified>
  <cp:category/>
</cp:coreProperties>
</file>