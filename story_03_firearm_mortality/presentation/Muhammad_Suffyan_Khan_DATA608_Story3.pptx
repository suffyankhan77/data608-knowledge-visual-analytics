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Story 3, DATA 608. The audience is students and policy readers comparing state firearm mortality. The aim is to report the state-level pattern while keeping causal claims within the limits of the data. The analysis uses 50 states, 2024 law grades and 2024 annual age-adjusted firearm mortality retrieved with a CDC API.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CDC API request filters dataset 489q-934x for year_and_quarter=2024 Q4, time_period=12 months ending with quarter, cause_of_death=Firearm-related injury and rate_type=Age-adjusted. It returned one record with each state rate. The all-intents measure includes suicide, homicide and other firearm deaths. The dataset is designated provisional. All 50 states were joined by exact state names. The source GIFFORDS grades are an advocacy-group law index, not a survey. Collapsing plus/minus variants gives five ordered categories with uneven group sizes. The grade source concerns laws adopted during 2024, so no temporal causal sequence is established. Sources: https://data.cdc.gov/resource/489q-934x.json ; https://giffords.org/resources/scorecard2024/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five-grade map recodes F to 1, D to 2, C to 3, B to 4, and A to 5, dropping plus/minus signs only for the five-level category. Each state has a labeled equal-size tile so small states remain visible. This is a schematic tile heat map, not a physical-area choropleth. Colors use an ordered Viridis palette, and text provides a second way to identify states and their law levels. On-chart annotations print the extreme group counts and shares of the 50-state sample. Law category counts are 22, 3, 5, 7, 13. Sources: https://giffords.org/resources/scorecard2024/ ; scripts/create_heatmaps.R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CDC annual age-adjusted firearm rates range from 3.7 per 100,000 in Hawaii to 28.0 in Mississippi. The map prints every state value and uses a fixed 0 to 30 scale. The identical tile positions let readers compare law strength and mortality without hiding small states. The numbered outlined tiles directly connect Hawaii, Mississippi and the New Mexico exception to the chart annotations. The rate refers to all firearm-related injury deaths. API data are provisional and subject to revision; checks of New York, Mississippi, California and Massachusetts match the current CDC final-data map at the published precision. Sources: https://www.cdc.gov/nchs/state-stats/deaths/firearms.html ; saved CDC API JSON in data/raw.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count heat map groups states by their five-level law category and rate intervals of 0 to less than 8, 8 to less than 12, 12 to less than 16, 16 to less than 20 and 20 to less than 30. Cells print counts and within-row percentages. Color encodes percentages from 0 to 100, so unequal group sizes do not distort the comparison. Black outlines and adjacent labels emphasize the F high-rate bands and A lowest-rate band. Among F-grade states, 15 of 22 fall in the 16 or higher bands. Seven of 13 A-grade states are below 8. No A-grade state is in the 16 or higher bands. Counts and percentages are descriptive. Rounded labels may not sum to exactly 100 percent. Row totals remain explicit. This heat map complements the two state maps and does not imply a causal pathway.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summaries are unweighted means and medians of state-level age-adjusted rates. They are not national rates or estimates of the effect of a law. The F-grade group mean is 18.595 and median 18.8; the A-grade group mean is 8.431 and median 7.0. Spearman correlation between law level and state mortality is -0.717. The B-grade mean 14.4 exceeds the C-grade mean 12.78, partly because New Mexico has 26.6; medians differ less (11.9 versus 12.1). Use the group table together with individual-state maps. Sources and calculations: data/processed/state_analysis_2024.csv and five_level_summary.csv.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the assignment directly: States with stronger 2024 law grades tended to have lower age-adjusted firearm mortality in 2024. This is consistent with a beneficial relationship, but a cross-sectional ecological comparison cannot establish that laws caused the mortality difference. The law index is one advocacy group’s classification. Gun ownership, economic conditions, geography, demographic factors, access to care, enforcement and neighboring laws were not controlled. The rate includes suicides as well as homicide, and these could respond differently to policies. Policies and deaths occur within the same year, so temporal ordering and delayed effects remain unresolved. A causal study would require repeated years, implementation dates and suitable comparison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 source details are in sources/SOURCES.md. The exact CDC API request, successful JSON response and schema are in data/raw. The law source HTML is archived; each state grade and five-level bin is in data/processed/law_scale_50_states.csv. R 4.3.3 actually generated all three heat maps from the joined CSV using base graphics. Python retrieves and prepares the data. R/RStudio is the new analysis and chart application; PowerPoint is the presentation delivery format. The schematic heat maps make all states visible, use readable labels and accessible palettes, and preserve separate legends for different scales. AI assistance included source checks, code drafting, analysis, presentation preparation and editorial review. The student must independently review the outputs and truthfully verify the disclosure before submission.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1C27B768-9EDF-41D9-B55E-E710544A4BF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03C7B413-9D9E-4B60-9113-CFC5CFA1BBFC}"/>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17E4A39C-04EF-4EB4-A8C1-B6F9A696E9C0}"/>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D36D3B88-D211-451C-9AA4-A9EB90A2137E}"/>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DDB15164-FEBE-4B85-8BB3-BFC6900FA8D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53CEDE5B-4801-4463-86C1-28B465AC7043}"/>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CF244BD8-BF8F-4B9D-94A7-B924193E44B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97EABF85-C0C8-4A62-A1E2-BFFE4296A54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22021F99-F6ED-42E8-95A7-F4F82CD42135}"/>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56A8270-6152-468D-AF64-96F7D61E3FE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0FE6DF8D-2803-48ED-897E-A0020C209B0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3C4F6E72-3FC4-4656-BDAB-D2F404366CD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E854DC7E-EAC7-4D42-8322-8AB0A89CE2CF}"/>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1A11312B-7006-4861-B9AC-EC649030B3F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3B7EC2C1-9B85-46B5-BA41-4E7541E431C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A91AD94-456B-443B-8C81-C7967272B319}"/>
              </a:ext>
            </a:extLst>
          </p:cNvPr>
          <p:cNvSpPr>
            <a:spLocks noGrp="1"/>
          </p:cNvSpPr>
          <p:nvPr/>
        </p:nvSpPr>
        <p:spPr>
          <a:xfrm>
            <a:off x="571500" y="333375"/>
            <a:ext cx="11049000" cy="742950"/>
          </a:xfrm>
          <a:prstGeom prst="rect">
            <a:avLst/>
          </a:prstGeom>
          <a:noFill/>
          <a:ln w="0">
            <a:noFill/>
          </a:ln>
        </p:spPr>
        <p:txBody>
          <a:bodyPr>
            <a:noAutofit/>
          </a:bodyPr>
          <a:lstStyle/>
          <a:p>
            <a:pPr>
              <a:defRPr sz="2700" b="1">
                <a:solidFill>
                  <a:srgbClr val="102238"/>
                </a:solidFill>
                <a:latin typeface="DejaVu Sans"/>
                <a:ea typeface="DejaVu Sans"/>
                <a:cs typeface="DejaVu Sans"/>
              </a:defRPr>
            </a:pPr>
            <a:r>
              <a:rPr sz="2700" b="1">
                <a:solidFill>
                  <a:srgbClr val="102238"/>
                </a:solidFill>
                <a:latin typeface="DejaVu Sans"/>
                <a:ea typeface="DejaVu Sans"/>
                <a:cs typeface="DejaVu Sans"/>
              </a:rPr>
              <a:t>Do stricter gun laws reduce</a:t>
            </a:r>
          </a:p>
          <a:p>
            <a:pPr>
              <a:defRPr sz="2700" b="1">
                <a:solidFill>
                  <a:srgbClr val="102238"/>
                </a:solidFill>
                <a:latin typeface="DejaVu Sans"/>
                <a:ea typeface="DejaVu Sans"/>
                <a:cs typeface="DejaVu Sans"/>
              </a:defRPr>
            </a:pPr>
            <a:r>
              <a:rPr sz="2700" b="1">
                <a:solidFill>
                  <a:srgbClr val="102238"/>
                </a:solidFill>
                <a:latin typeface="DejaVu Sans"/>
                <a:ea typeface="DejaVu Sans"/>
                <a:cs typeface="DejaVu Sans"/>
              </a:rPr>
              <a:t>firearm deaths?</a:t>
            </a:r>
          </a:p>
        </p:txBody>
      </p:sp>
      <p:sp>
        <p:nvSpPr>
          <p:cNvPr id="2" name="Rectangle 1">
            <a:extLst>
              <a:ext uri="{FF2B5EF4-FFF2-40B4-BE49-F238E27FC236}">
                <a16:creationId xmlns:a16="http://schemas.microsoft.com/office/drawing/2014/main" id="{AF195F6C-1B61-4FC9-8D60-8486C760E6AC}"/>
              </a:ext>
            </a:extLst>
          </p:cNvPr>
          <p:cNvSpPr>
            <a:spLocks noGrp="1"/>
          </p:cNvSpPr>
          <p:nvPr/>
        </p:nvSpPr>
        <p:spPr>
          <a:xfrm>
            <a:off x="11239500" y="6305550"/>
            <a:ext cx="571500" cy="228600"/>
          </a:xfrm>
          <a:prstGeom prst="rect">
            <a:avLst/>
          </a:prstGeom>
          <a:noFill/>
          <a:ln w="0">
            <a:noFill/>
          </a:ln>
        </p:spPr>
        <p:txBody>
          <a:bodyPr>
            <a:noAutofit/>
          </a:bodyPr>
          <a:lstStyle/>
          <a:p>
            <a:pPr>
              <a:defRPr sz="1200" b="0">
                <a:solidFill>
                  <a:srgbClr val="42556A"/>
                </a:solidFill>
                <a:latin typeface="DejaVu Sans"/>
                <a:ea typeface="DejaVu Sans"/>
                <a:cs typeface="DejaVu Sans"/>
              </a:defRPr>
            </a:pPr>
            <a:r>
              <a:rPr sz="1200" b="0">
                <a:solidFill>
                  <a:srgbClr val="42556A"/>
                </a:solidFill>
                <a:latin typeface="DejaVu Sans"/>
                <a:ea typeface="DejaVu Sans"/>
                <a:cs typeface="DejaVu Sans"/>
              </a:rPr>
              <a:t>1</a:t>
            </a:r>
          </a:p>
        </p:txBody>
      </p:sp>
      <p:sp>
        <p:nvSpPr>
          <p:cNvPr id="3" name="Rectangle 2">
            <a:extLst>
              <a:ext uri="{FF2B5EF4-FFF2-40B4-BE49-F238E27FC236}">
                <a16:creationId xmlns:a16="http://schemas.microsoft.com/office/drawing/2014/main" id="{A10E9C23-E2A1-4854-A2F5-6D8DEBC2419D}"/>
              </a:ext>
            </a:extLst>
          </p:cNvPr>
          <p:cNvSpPr>
            <a:spLocks noGrp="1"/>
          </p:cNvSpPr>
          <p:nvPr/>
        </p:nvSpPr>
        <p:spPr>
          <a:xfrm>
            <a:off x="571500" y="2238375"/>
            <a:ext cx="10477500" cy="619125"/>
          </a:xfrm>
          <a:prstGeom prst="rect">
            <a:avLst/>
          </a:prstGeom>
          <a:noFill/>
          <a:ln w="0">
            <a:noFill/>
          </a:ln>
        </p:spPr>
        <p:txBody>
          <a:bodyPr>
            <a:noAutofit/>
          </a:bodyPr>
          <a:lstStyle/>
          <a:p>
            <a:pPr>
              <a:defRPr sz="2175" b="0">
                <a:solidFill>
                  <a:srgbClr val="42556A"/>
                </a:solidFill>
                <a:latin typeface="DejaVu Sans"/>
                <a:ea typeface="DejaVu Sans"/>
                <a:cs typeface="DejaVu Sans"/>
              </a:defRPr>
            </a:pPr>
            <a:r>
              <a:rPr sz="2175" b="0">
                <a:solidFill>
                  <a:srgbClr val="42556A"/>
                </a:solidFill>
                <a:latin typeface="DejaVu Sans"/>
                <a:ea typeface="DejaVu Sans"/>
                <a:cs typeface="DejaVu Sans"/>
              </a:rPr>
              <a:t>A 50-state comparison of 2024 law grades and mortality</a:t>
            </a:r>
          </a:p>
        </p:txBody>
      </p:sp>
      <p:sp>
        <p:nvSpPr>
          <p:cNvPr id="4" name="Rectangle 3">
            <a:extLst>
              <a:ext uri="{FF2B5EF4-FFF2-40B4-BE49-F238E27FC236}">
                <a16:creationId xmlns:a16="http://schemas.microsoft.com/office/drawing/2014/main" id="{9974AA1D-9D9D-4CF1-B9E7-E3760D73B7F5}"/>
              </a:ext>
            </a:extLst>
          </p:cNvPr>
          <p:cNvSpPr>
            <a:spLocks noGrp="1"/>
          </p:cNvSpPr>
          <p:nvPr/>
        </p:nvSpPr>
        <p:spPr>
          <a:xfrm>
            <a:off x="571500" y="4143375"/>
            <a:ext cx="10287000" cy="1285875"/>
          </a:xfrm>
          <a:prstGeom prst="rect">
            <a:avLst/>
          </a:prstGeom>
          <a:noFill/>
          <a:ln w="0">
            <a:noFill/>
          </a:ln>
        </p:spPr>
        <p:txBody>
          <a:bodyPr>
            <a:noAutofit/>
          </a:bodyPr>
          <a:lstStyle/>
          <a:p>
            <a:pPr>
              <a:defRPr sz="1875" b="0">
                <a:solidFill>
                  <a:srgbClr val="102238"/>
                </a:solidFill>
                <a:latin typeface="DejaVu Sans"/>
                <a:ea typeface="DejaVu Sans"/>
                <a:cs typeface="DejaVu Sans"/>
              </a:defRPr>
            </a:pPr>
            <a:r>
              <a:rPr sz="1875" b="0">
                <a:solidFill>
                  <a:srgbClr val="102238"/>
                </a:solidFill>
                <a:latin typeface="DejaVu Sans"/>
                <a:ea typeface="DejaVu Sans"/>
                <a:cs typeface="DejaVu Sans"/>
              </a:rPr>
              <a:t>Muhammad Suffyan Khan</a:t>
            </a:r>
          </a:p>
          <a:p>
            <a:pPr>
              <a:defRPr sz="1875" b="0">
                <a:solidFill>
                  <a:srgbClr val="102238"/>
                </a:solidFill>
                <a:latin typeface="DejaVu Sans"/>
                <a:ea typeface="DejaVu Sans"/>
                <a:cs typeface="DejaVu Sans"/>
              </a:defRPr>
            </a:pPr>
            <a:r>
              <a:rPr sz="1875" b="0">
                <a:solidFill>
                  <a:srgbClr val="102238"/>
                </a:solidFill>
                <a:latin typeface="DejaVu Sans"/>
                <a:ea typeface="DejaVu Sans"/>
                <a:cs typeface="DejaVu Sans"/>
              </a:rPr>
              <a:t>DATA 608 · Knowledge and Visual Analytics</a:t>
            </a:r>
          </a:p>
          <a:p>
            <a:pPr>
              <a:defRPr sz="1875" b="0">
                <a:solidFill>
                  <a:srgbClr val="102238"/>
                </a:solidFill>
                <a:latin typeface="DejaVu Sans"/>
                <a:ea typeface="DejaVu Sans"/>
                <a:cs typeface="DejaVu Sans"/>
              </a:defRPr>
            </a:pPr>
            <a:r>
              <a:rPr sz="1875" b="0">
                <a:solidFill>
                  <a:srgbClr val="102238"/>
                </a:solidFill>
                <a:latin typeface="DejaVu Sans"/>
                <a:ea typeface="DejaVu Sans"/>
                <a:cs typeface="DejaVu Sans"/>
              </a:rPr>
              <a:t>CUNY School of Professional Studies · Fall 2026</a:t>
            </a:r>
          </a:p>
        </p:txBody>
      </p:sp>
      <p:sp>
        <p:nvSpPr>
          <p:cNvPr id="5" name="Rectangle 4">
            <a:extLst>
              <a:ext uri="{FF2B5EF4-FFF2-40B4-BE49-F238E27FC236}">
                <a16:creationId xmlns:a16="http://schemas.microsoft.com/office/drawing/2014/main" id="{7D5048AD-41E0-4739-AEFA-ADAB2B261B83}"/>
              </a:ext>
            </a:extLst>
          </p:cNvPr>
          <p:cNvSpPr>
            <a:spLocks noGrp="1"/>
          </p:cNvSpPr>
          <p:nvPr/>
        </p:nvSpPr>
        <p:spPr>
          <a:xfrm>
            <a:off x="571500" y="5667375"/>
            <a:ext cx="10382250" cy="619125"/>
          </a:xfrm>
          <a:prstGeom prst="rect">
            <a:avLst/>
          </a:prstGeom>
          <a:noFill/>
          <a:ln w="0">
            <a:noFill/>
          </a:ln>
        </p:spPr>
        <p:txBody>
          <a:bodyPr>
            <a:noAutofit/>
          </a:bodyPr>
          <a:lstStyle/>
          <a:p>
            <a:pPr>
              <a:defRPr sz="1725" b="1">
                <a:solidFill>
                  <a:srgbClr val="102238"/>
                </a:solidFill>
                <a:latin typeface="DejaVu Sans"/>
                <a:ea typeface="DejaVu Sans"/>
                <a:cs typeface="DejaVu Sans"/>
              </a:defRPr>
            </a:pPr>
            <a:r>
              <a:rPr sz="1725" b="1">
                <a:solidFill>
                  <a:srgbClr val="102238"/>
                </a:solidFill>
                <a:latin typeface="DejaVu Sans"/>
                <a:ea typeface="DejaVu Sans"/>
                <a:cs typeface="DejaVu Sans"/>
              </a:rPr>
              <a:t>Stronger law grades coincide with lower mortality.</a:t>
            </a:r>
          </a:p>
          <a:p>
            <a:pPr>
              <a:defRPr sz="1725" b="1">
                <a:solidFill>
                  <a:srgbClr val="102238"/>
                </a:solidFill>
                <a:latin typeface="DejaVu Sans"/>
                <a:ea typeface="DejaVu Sans"/>
                <a:cs typeface="DejaVu Sans"/>
              </a:defRPr>
            </a:pPr>
            <a:r>
              <a:rPr sz="1725" b="1">
                <a:solidFill>
                  <a:srgbClr val="102238"/>
                </a:solidFill>
                <a:latin typeface="DejaVu Sans"/>
                <a:ea typeface="DejaVu Sans"/>
                <a:cs typeface="DejaVu Sans"/>
              </a:rPr>
              <a:t>This comparison cannot establish a causal effect.</a:t>
            </a:r>
          </a:p>
        </p:txBody>
      </p:sp>
    </p:spTree>
    <p:extLst>
      <p:ext uri="{BB962C8B-B14F-4D97-AF65-F5344CB8AC3E}">
        <p14:creationId xmlns:p14="http://schemas.microsoft.com/office/powerpoint/2010/main" val="1737639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4C15945-178C-4046-B66A-395BB2B761E8}"/>
              </a:ext>
            </a:extLst>
          </p:cNvPr>
          <p:cNvSpPr>
            <a:spLocks noGrp="1"/>
          </p:cNvSpPr>
          <p:nvPr/>
        </p:nvSpPr>
        <p:spPr>
          <a:xfrm>
            <a:off x="571500" y="333375"/>
            <a:ext cx="11049000" cy="742950"/>
          </a:xfrm>
          <a:prstGeom prst="rect">
            <a:avLst/>
          </a:prstGeom>
          <a:noFill/>
          <a:ln w="0">
            <a:noFill/>
          </a:ln>
        </p:spPr>
        <p:txBody>
          <a:bodyPr>
            <a:noAutofit/>
          </a:bodyPr>
          <a:lstStyle/>
          <a:p>
            <a:pPr>
              <a:defRPr sz="2700" b="1">
                <a:solidFill>
                  <a:srgbClr val="102238"/>
                </a:solidFill>
                <a:latin typeface="DejaVu Sans"/>
                <a:ea typeface="DejaVu Sans"/>
                <a:cs typeface="DejaVu Sans"/>
              </a:defRPr>
            </a:pPr>
            <a:r>
              <a:rPr sz="2700" b="1">
                <a:solidFill>
                  <a:srgbClr val="102238"/>
                </a:solidFill>
                <a:latin typeface="DejaVu Sans"/>
                <a:ea typeface="DejaVu Sans"/>
                <a:cs typeface="DejaVu Sans"/>
              </a:rPr>
              <a:t>The measures and five-level law scale</a:t>
            </a:r>
          </a:p>
        </p:txBody>
      </p:sp>
      <p:sp>
        <p:nvSpPr>
          <p:cNvPr id="2" name="Rectangle 1">
            <a:extLst>
              <a:ext uri="{FF2B5EF4-FFF2-40B4-BE49-F238E27FC236}">
                <a16:creationId xmlns:a16="http://schemas.microsoft.com/office/drawing/2014/main" id="{DD2B3FC2-A390-4624-9E27-4C597E947DB0}"/>
              </a:ext>
            </a:extLst>
          </p:cNvPr>
          <p:cNvSpPr>
            <a:spLocks noGrp="1"/>
          </p:cNvSpPr>
          <p:nvPr/>
        </p:nvSpPr>
        <p:spPr>
          <a:xfrm>
            <a:off x="11239500" y="6305550"/>
            <a:ext cx="571500" cy="228600"/>
          </a:xfrm>
          <a:prstGeom prst="rect">
            <a:avLst/>
          </a:prstGeom>
          <a:noFill/>
          <a:ln w="0">
            <a:noFill/>
          </a:ln>
        </p:spPr>
        <p:txBody>
          <a:bodyPr>
            <a:noAutofit/>
          </a:bodyPr>
          <a:lstStyle/>
          <a:p>
            <a:pPr>
              <a:defRPr sz="1200" b="0">
                <a:solidFill>
                  <a:srgbClr val="42556A"/>
                </a:solidFill>
                <a:latin typeface="DejaVu Sans"/>
                <a:ea typeface="DejaVu Sans"/>
                <a:cs typeface="DejaVu Sans"/>
              </a:defRPr>
            </a:pPr>
            <a:r>
              <a:rPr sz="1200" b="0">
                <a:solidFill>
                  <a:srgbClr val="42556A"/>
                </a:solidFill>
                <a:latin typeface="DejaVu Sans"/>
                <a:ea typeface="DejaVu Sans"/>
                <a:cs typeface="DejaVu Sans"/>
              </a:rPr>
              <a:t>2</a:t>
            </a:r>
          </a:p>
        </p:txBody>
      </p:sp>
      <p:sp>
        <p:nvSpPr>
          <p:cNvPr id="3" name="Rectangle 2">
            <a:extLst>
              <a:ext uri="{FF2B5EF4-FFF2-40B4-BE49-F238E27FC236}">
                <a16:creationId xmlns:a16="http://schemas.microsoft.com/office/drawing/2014/main" id="{6E873A0C-1DC5-4CE6-8D5B-578DFA7B3473}"/>
              </a:ext>
            </a:extLst>
          </p:cNvPr>
          <p:cNvSpPr>
            <a:spLocks noGrp="1"/>
          </p:cNvSpPr>
          <p:nvPr/>
        </p:nvSpPr>
        <p:spPr>
          <a:xfrm>
            <a:off x="571500" y="1285875"/>
            <a:ext cx="5095875" cy="428625"/>
          </a:xfrm>
          <a:prstGeom prst="rect">
            <a:avLst/>
          </a:prstGeom>
          <a:noFill/>
          <a:ln w="0">
            <a:noFill/>
          </a:ln>
        </p:spPr>
        <p:txBody>
          <a:bodyPr>
            <a:noAutofit/>
          </a:bodyPr>
          <a:lstStyle/>
          <a:p>
            <a:pPr>
              <a:defRPr sz="2025" b="1">
                <a:solidFill>
                  <a:srgbClr val="102238"/>
                </a:solidFill>
                <a:latin typeface="DejaVu Sans"/>
                <a:ea typeface="DejaVu Sans"/>
                <a:cs typeface="DejaVu Sans"/>
              </a:defRPr>
            </a:pPr>
            <a:r>
              <a:rPr sz="2025" b="1">
                <a:solidFill>
                  <a:srgbClr val="102238"/>
                </a:solidFill>
                <a:latin typeface="DejaVu Sans"/>
                <a:ea typeface="DejaVu Sans"/>
                <a:cs typeface="DejaVu Sans"/>
              </a:rPr>
              <a:t>Mortality</a:t>
            </a:r>
          </a:p>
        </p:txBody>
      </p:sp>
      <p:sp>
        <p:nvSpPr>
          <p:cNvPr id="4" name="Rectangle 3">
            <a:extLst>
              <a:ext uri="{FF2B5EF4-FFF2-40B4-BE49-F238E27FC236}">
                <a16:creationId xmlns:a16="http://schemas.microsoft.com/office/drawing/2014/main" id="{E65ABB74-B592-457F-8E59-8CCB6B2FB08F}"/>
              </a:ext>
            </a:extLst>
          </p:cNvPr>
          <p:cNvSpPr>
            <a:spLocks noGrp="1"/>
          </p:cNvSpPr>
          <p:nvPr/>
        </p:nvSpPr>
        <p:spPr>
          <a:xfrm>
            <a:off x="571500" y="1809750"/>
            <a:ext cx="5286375" cy="1619250"/>
          </a:xfrm>
          <a:prstGeom prst="rect">
            <a:avLst/>
          </a:prstGeom>
          <a:noFill/>
          <a:ln w="0">
            <a:noFill/>
          </a:ln>
        </p:spPr>
        <p:txBody>
          <a:bodyPr>
            <a:noAutofit/>
          </a:bodyPr>
          <a:lstStyle/>
          <a:p>
            <a:pPr>
              <a:defRPr sz="1800" b="0">
                <a:solidFill>
                  <a:srgbClr val="102238"/>
                </a:solidFill>
                <a:latin typeface="DejaVu Sans"/>
                <a:ea typeface="DejaVu Sans"/>
                <a:cs typeface="DejaVu Sans"/>
              </a:defRPr>
            </a:pPr>
            <a:r>
              <a:rPr sz="1800" b="0">
                <a:solidFill>
                  <a:srgbClr val="102238"/>
                </a:solidFill>
                <a:latin typeface="DejaVu Sans"/>
                <a:ea typeface="DejaVu Sans"/>
                <a:cs typeface="DejaVu Sans"/>
              </a:rPr>
              <a:t>CDC age-adjusted firearm deaths per 100,000</a:t>
            </a:r>
          </a:p>
          <a:p>
            <a:pPr>
              <a:defRPr sz="1800" b="0">
                <a:solidFill>
                  <a:srgbClr val="102238"/>
                </a:solidFill>
                <a:latin typeface="DejaVu Sans"/>
                <a:ea typeface="DejaVu Sans"/>
                <a:cs typeface="DejaVu Sans"/>
              </a:defRPr>
            </a:pPr>
            <a:r>
              <a:rPr sz="1800" b="0">
                <a:solidFill>
                  <a:srgbClr val="102238"/>
                </a:solidFill>
                <a:latin typeface="DejaVu Sans"/>
                <a:ea typeface="DejaVu Sans"/>
                <a:cs typeface="DejaVu Sans"/>
              </a:rPr>
              <a:t>12 months ending 2024 Q4</a:t>
            </a:r>
          </a:p>
          <a:p>
            <a:pPr>
              <a:defRPr sz="1800" b="0">
                <a:solidFill>
                  <a:srgbClr val="102238"/>
                </a:solidFill>
                <a:latin typeface="DejaVu Sans"/>
                <a:ea typeface="DejaVu Sans"/>
                <a:cs typeface="DejaVu Sans"/>
              </a:defRPr>
            </a:pPr>
            <a:r>
              <a:rPr sz="1800" b="0">
                <a:solidFill>
                  <a:srgbClr val="102238"/>
                </a:solidFill>
                <a:latin typeface="DejaVu Sans"/>
                <a:ea typeface="DejaVu Sans"/>
                <a:cs typeface="DejaVu Sans"/>
              </a:rPr>
              <a:t>All firearm deaths, including suicides</a:t>
            </a:r>
          </a:p>
        </p:txBody>
      </p:sp>
      <p:sp>
        <p:nvSpPr>
          <p:cNvPr id="5" name="Rectangle 4">
            <a:extLst>
              <a:ext uri="{FF2B5EF4-FFF2-40B4-BE49-F238E27FC236}">
                <a16:creationId xmlns:a16="http://schemas.microsoft.com/office/drawing/2014/main" id="{F6E5BD55-31FD-41C1-878A-EC50E3E0FD61}"/>
              </a:ext>
            </a:extLst>
          </p:cNvPr>
          <p:cNvSpPr>
            <a:spLocks noGrp="1"/>
          </p:cNvSpPr>
          <p:nvPr/>
        </p:nvSpPr>
        <p:spPr>
          <a:xfrm>
            <a:off x="6429375" y="1285875"/>
            <a:ext cx="5095875" cy="428625"/>
          </a:xfrm>
          <a:prstGeom prst="rect">
            <a:avLst/>
          </a:prstGeom>
          <a:noFill/>
          <a:ln w="0">
            <a:noFill/>
          </a:ln>
        </p:spPr>
        <p:txBody>
          <a:bodyPr>
            <a:noAutofit/>
          </a:bodyPr>
          <a:lstStyle/>
          <a:p>
            <a:pPr>
              <a:defRPr sz="2025" b="1">
                <a:solidFill>
                  <a:srgbClr val="102238"/>
                </a:solidFill>
                <a:latin typeface="DejaVu Sans"/>
                <a:ea typeface="DejaVu Sans"/>
                <a:cs typeface="DejaVu Sans"/>
              </a:defRPr>
            </a:pPr>
            <a:r>
              <a:rPr sz="2025" b="1">
                <a:solidFill>
                  <a:srgbClr val="102238"/>
                </a:solidFill>
                <a:latin typeface="DejaVu Sans"/>
                <a:ea typeface="DejaVu Sans"/>
                <a:cs typeface="DejaVu Sans"/>
              </a:rPr>
              <a:t>Law strictness</a:t>
            </a:r>
          </a:p>
        </p:txBody>
      </p:sp>
      <p:sp>
        <p:nvSpPr>
          <p:cNvPr id="6" name="Rectangle 5">
            <a:extLst>
              <a:ext uri="{FF2B5EF4-FFF2-40B4-BE49-F238E27FC236}">
                <a16:creationId xmlns:a16="http://schemas.microsoft.com/office/drawing/2014/main" id="{72B1BD06-4F96-4561-9CDC-2C5714CF2F8F}"/>
              </a:ext>
            </a:extLst>
          </p:cNvPr>
          <p:cNvSpPr>
            <a:spLocks noGrp="1"/>
          </p:cNvSpPr>
          <p:nvPr/>
        </p:nvSpPr>
        <p:spPr>
          <a:xfrm>
            <a:off x="6429375" y="1809750"/>
            <a:ext cx="5191125" cy="1905000"/>
          </a:xfrm>
          <a:prstGeom prst="rect">
            <a:avLst/>
          </a:prstGeom>
          <a:noFill/>
          <a:ln w="0">
            <a:noFill/>
          </a:ln>
        </p:spPr>
        <p:txBody>
          <a:bodyPr>
            <a:noAutofit/>
          </a:bodyPr>
          <a:lstStyle/>
          <a:p>
            <a:pPr>
              <a:defRPr sz="1725" b="0">
                <a:solidFill>
                  <a:srgbClr val="102238"/>
                </a:solidFill>
                <a:latin typeface="DejaVu Sans"/>
                <a:ea typeface="DejaVu Sans"/>
                <a:cs typeface="DejaVu Sans"/>
              </a:defRPr>
            </a:pPr>
            <a:r>
              <a:rPr sz="1725" b="0">
                <a:solidFill>
                  <a:srgbClr val="102238"/>
                </a:solidFill>
                <a:latin typeface="DejaVu Sans"/>
                <a:ea typeface="DejaVu Sans"/>
                <a:cs typeface="DejaVu Sans"/>
              </a:rPr>
              <a:t>GIFFORDS 2024 letter grades</a:t>
            </a:r>
          </a:p>
          <a:p>
            <a:pPr>
              <a:defRPr sz="1725" b="0">
                <a:solidFill>
                  <a:srgbClr val="102238"/>
                </a:solidFill>
                <a:latin typeface="DejaVu Sans"/>
                <a:ea typeface="DejaVu Sans"/>
                <a:cs typeface="DejaVu Sans"/>
              </a:defRPr>
            </a:pPr>
            <a:r>
              <a:rPr sz="1725" b="0">
                <a:solidFill>
                  <a:srgbClr val="102238"/>
                </a:solidFill>
                <a:latin typeface="DejaVu Sans"/>
                <a:ea typeface="DejaVu Sans"/>
                <a:cs typeface="DejaVu Sans"/>
              </a:rPr>
              <a:t>1 F = most lax · 2 D = lax · 3 C = middle</a:t>
            </a:r>
          </a:p>
          <a:p>
            <a:pPr>
              <a:defRPr sz="1725" b="0">
                <a:solidFill>
                  <a:srgbClr val="102238"/>
                </a:solidFill>
                <a:latin typeface="DejaVu Sans"/>
                <a:ea typeface="DejaVu Sans"/>
                <a:cs typeface="DejaVu Sans"/>
              </a:defRPr>
            </a:pPr>
            <a:r>
              <a:rPr sz="1725" b="0">
                <a:solidFill>
                  <a:srgbClr val="102238"/>
                </a:solidFill>
                <a:latin typeface="DejaVu Sans"/>
                <a:ea typeface="DejaVu Sans"/>
                <a:cs typeface="DejaVu Sans"/>
              </a:rPr>
              <a:t>4 B = strict · 5 A = strictest</a:t>
            </a:r>
          </a:p>
          <a:p>
            <a:pPr>
              <a:defRPr sz="1725" b="0">
                <a:solidFill>
                  <a:srgbClr val="102238"/>
                </a:solidFill>
                <a:latin typeface="DejaVu Sans"/>
                <a:ea typeface="DejaVu Sans"/>
                <a:cs typeface="DejaVu Sans"/>
              </a:defRPr>
            </a:pPr>
            <a:r>
              <a:rPr sz="1725" b="0">
                <a:solidFill>
                  <a:srgbClr val="102238"/>
                </a:solidFill>
                <a:latin typeface="DejaVu Sans"/>
                <a:ea typeface="DejaVu Sans"/>
                <a:cs typeface="DejaVu Sans"/>
              </a:rPr>
              <a:t>+ and − variants stay in the source table</a:t>
            </a:r>
          </a:p>
        </p:txBody>
      </p:sp>
      <p:sp>
        <p:nvSpPr>
          <p:cNvPr id="7" name="Rectangle 6">
            <a:extLst>
              <a:ext uri="{FF2B5EF4-FFF2-40B4-BE49-F238E27FC236}">
                <a16:creationId xmlns:a16="http://schemas.microsoft.com/office/drawing/2014/main" id="{07A23150-FD26-4150-A990-6225FEB5B516}"/>
              </a:ext>
            </a:extLst>
          </p:cNvPr>
          <p:cNvSpPr>
            <a:spLocks noGrp="1"/>
          </p:cNvSpPr>
          <p:nvPr/>
        </p:nvSpPr>
        <p:spPr>
          <a:xfrm>
            <a:off x="571500" y="4095750"/>
            <a:ext cx="5095875" cy="476250"/>
          </a:xfrm>
          <a:prstGeom prst="rect">
            <a:avLst/>
          </a:prstGeom>
          <a:noFill/>
          <a:ln w="0">
            <a:noFill/>
          </a:ln>
        </p:spPr>
        <p:txBody>
          <a:bodyPr>
            <a:noAutofit/>
          </a:bodyPr>
          <a:lstStyle/>
          <a:p>
            <a:pPr>
              <a:defRPr sz="2550" b="1">
                <a:solidFill>
                  <a:srgbClr val="102238"/>
                </a:solidFill>
                <a:latin typeface="DejaVu Sans"/>
                <a:ea typeface="DejaVu Sans"/>
                <a:cs typeface="DejaVu Sans"/>
              </a:defRPr>
            </a:pPr>
            <a:r>
              <a:rPr sz="2550" b="1">
                <a:solidFill>
                  <a:srgbClr val="102238"/>
                </a:solidFill>
                <a:latin typeface="DejaVu Sans"/>
                <a:ea typeface="DejaVu Sans"/>
                <a:cs typeface="DejaVu Sans"/>
              </a:rPr>
              <a:t>50 states</a:t>
            </a:r>
          </a:p>
        </p:txBody>
      </p:sp>
      <p:sp>
        <p:nvSpPr>
          <p:cNvPr id="8" name="Rectangle 7">
            <a:extLst>
              <a:ext uri="{FF2B5EF4-FFF2-40B4-BE49-F238E27FC236}">
                <a16:creationId xmlns:a16="http://schemas.microsoft.com/office/drawing/2014/main" id="{A91A3D00-9100-43BE-9D68-08A706925FA5}"/>
              </a:ext>
            </a:extLst>
          </p:cNvPr>
          <p:cNvSpPr>
            <a:spLocks noGrp="1"/>
          </p:cNvSpPr>
          <p:nvPr/>
        </p:nvSpPr>
        <p:spPr>
          <a:xfrm>
            <a:off x="571500" y="4667250"/>
            <a:ext cx="5286375" cy="952500"/>
          </a:xfrm>
          <a:prstGeom prst="rect">
            <a:avLst/>
          </a:prstGeom>
          <a:noFill/>
          <a:ln w="0">
            <a:noFill/>
          </a:ln>
        </p:spPr>
        <p:txBody>
          <a:bodyPr>
            <a:noAutofit/>
          </a:bodyPr>
          <a:lstStyle/>
          <a:p>
            <a:pPr>
              <a:defRPr sz="1725" b="0">
                <a:solidFill>
                  <a:srgbClr val="102238"/>
                </a:solidFill>
                <a:latin typeface="DejaVu Sans"/>
                <a:ea typeface="DejaVu Sans"/>
                <a:cs typeface="DejaVu Sans"/>
              </a:defRPr>
            </a:pPr>
            <a:r>
              <a:rPr sz="1725" b="0">
                <a:solidFill>
                  <a:srgbClr val="102238"/>
                </a:solidFill>
                <a:latin typeface="DejaVu Sans"/>
                <a:ea typeface="DejaVu Sans"/>
                <a:cs typeface="DejaVu Sans"/>
              </a:rPr>
              <a:t>50 explicit law assignments and API rates</a:t>
            </a:r>
          </a:p>
          <a:p>
            <a:pPr>
              <a:defRPr sz="1725" b="0">
                <a:solidFill>
                  <a:srgbClr val="102238"/>
                </a:solidFill>
                <a:latin typeface="DejaVu Sans"/>
                <a:ea typeface="DejaVu Sans"/>
                <a:cs typeface="DejaVu Sans"/>
              </a:defRPr>
            </a:pPr>
            <a:r>
              <a:rPr sz="1725" b="0">
                <a:solidFill>
                  <a:srgbClr val="102238"/>
                </a:solidFill>
                <a:latin typeface="DejaVu Sans"/>
                <a:ea typeface="DejaVu Sans"/>
                <a:cs typeface="DejaVu Sans"/>
              </a:rPr>
              <a:t>Group sizes: 22, 3, 5, 7, and 13 states</a:t>
            </a:r>
          </a:p>
        </p:txBody>
      </p:sp>
      <p:sp>
        <p:nvSpPr>
          <p:cNvPr id="9" name="Rectangle 8">
            <a:extLst>
              <a:ext uri="{FF2B5EF4-FFF2-40B4-BE49-F238E27FC236}">
                <a16:creationId xmlns:a16="http://schemas.microsoft.com/office/drawing/2014/main" id="{E23CA566-09A2-42D5-A6B9-136C69694155}"/>
              </a:ext>
            </a:extLst>
          </p:cNvPr>
          <p:cNvSpPr>
            <a:spLocks noGrp="1"/>
          </p:cNvSpPr>
          <p:nvPr/>
        </p:nvSpPr>
        <p:spPr>
          <a:xfrm>
            <a:off x="6429375" y="4095750"/>
            <a:ext cx="5095875" cy="476250"/>
          </a:xfrm>
          <a:prstGeom prst="rect">
            <a:avLst/>
          </a:prstGeom>
          <a:noFill/>
          <a:ln w="0">
            <a:noFill/>
          </a:ln>
        </p:spPr>
        <p:txBody>
          <a:bodyPr>
            <a:noAutofit/>
          </a:bodyPr>
          <a:lstStyle/>
          <a:p>
            <a:pPr>
              <a:defRPr sz="2100" b="1">
                <a:solidFill>
                  <a:srgbClr val="102238"/>
                </a:solidFill>
                <a:latin typeface="DejaVu Sans"/>
                <a:ea typeface="DejaVu Sans"/>
                <a:cs typeface="DejaVu Sans"/>
              </a:defRPr>
            </a:pPr>
            <a:r>
              <a:rPr sz="2100" b="1">
                <a:solidFill>
                  <a:srgbClr val="102238"/>
                </a:solidFill>
                <a:latin typeface="DejaVu Sans"/>
                <a:ea typeface="DejaVu Sans"/>
                <a:cs typeface="DejaVu Sans"/>
              </a:rPr>
              <a:t>Why these choices</a:t>
            </a:r>
          </a:p>
        </p:txBody>
      </p:sp>
      <p:sp>
        <p:nvSpPr>
          <p:cNvPr id="10" name="Rectangle 9">
            <a:extLst>
              <a:ext uri="{FF2B5EF4-FFF2-40B4-BE49-F238E27FC236}">
                <a16:creationId xmlns:a16="http://schemas.microsoft.com/office/drawing/2014/main" id="{CFD6D35E-41C1-4E10-BD2D-3306008013ED}"/>
              </a:ext>
            </a:extLst>
          </p:cNvPr>
          <p:cNvSpPr>
            <a:spLocks noGrp="1"/>
          </p:cNvSpPr>
          <p:nvPr/>
        </p:nvSpPr>
        <p:spPr>
          <a:xfrm>
            <a:off x="6429375" y="4667250"/>
            <a:ext cx="5191125" cy="1047750"/>
          </a:xfrm>
          <a:prstGeom prst="rect">
            <a:avLst/>
          </a:prstGeom>
          <a:noFill/>
          <a:ln w="0">
            <a:noFill/>
          </a:ln>
        </p:spPr>
        <p:txBody>
          <a:bodyPr>
            <a:noAutofit/>
          </a:bodyPr>
          <a:lstStyle/>
          <a:p>
            <a:pPr>
              <a:defRPr sz="1725" b="0">
                <a:solidFill>
                  <a:srgbClr val="102238"/>
                </a:solidFill>
                <a:latin typeface="DejaVu Sans"/>
                <a:ea typeface="DejaVu Sans"/>
                <a:cs typeface="DejaVu Sans"/>
              </a:defRPr>
            </a:pPr>
            <a:r>
              <a:rPr sz="1725" b="0">
                <a:solidFill>
                  <a:srgbClr val="102238"/>
                </a:solidFill>
                <a:latin typeface="DejaVu Sans"/>
                <a:ea typeface="DejaVu Sans"/>
                <a:cs typeface="DejaVu Sans"/>
              </a:rPr>
              <a:t>A common year and age-adjusted rates improve</a:t>
            </a:r>
          </a:p>
          <a:p>
            <a:pPr>
              <a:defRPr sz="1725" b="0">
                <a:solidFill>
                  <a:srgbClr val="102238"/>
                </a:solidFill>
                <a:latin typeface="DejaVu Sans"/>
                <a:ea typeface="DejaVu Sans"/>
                <a:cs typeface="DejaVu Sans"/>
              </a:defRPr>
            </a:pPr>
            <a:r>
              <a:rPr sz="1725" b="0">
                <a:solidFill>
                  <a:srgbClr val="102238"/>
                </a:solidFill>
                <a:latin typeface="DejaVu Sans"/>
                <a:ea typeface="DejaVu Sans"/>
                <a:cs typeface="DejaVu Sans"/>
              </a:rPr>
              <a:t>comparability. The five bins preserve the</a:t>
            </a:r>
          </a:p>
          <a:p>
            <a:pPr>
              <a:defRPr sz="1725" b="0">
                <a:solidFill>
                  <a:srgbClr val="102238"/>
                </a:solidFill>
                <a:latin typeface="DejaVu Sans"/>
                <a:ea typeface="DejaVu Sans"/>
                <a:cs typeface="DejaVu Sans"/>
              </a:defRPr>
            </a:pPr>
            <a:r>
              <a:rPr sz="1725" b="0">
                <a:solidFill>
                  <a:srgbClr val="102238"/>
                </a:solidFill>
                <a:latin typeface="DejaVu Sans"/>
                <a:ea typeface="DejaVu Sans"/>
                <a:cs typeface="DejaVu Sans"/>
              </a:rPr>
              <a:t>source ordering without inventing state grades.</a:t>
            </a:r>
          </a:p>
        </p:txBody>
      </p:sp>
      <p:sp>
        <p:nvSpPr>
          <p:cNvPr id="11" name="Rectangle 10">
            <a:extLst>
              <a:ext uri="{FF2B5EF4-FFF2-40B4-BE49-F238E27FC236}">
                <a16:creationId xmlns:a16="http://schemas.microsoft.com/office/drawing/2014/main" id="{269FF31D-686A-4975-9A57-798955DE599E}"/>
              </a:ext>
            </a:extLst>
          </p:cNvPr>
          <p:cNvSpPr>
            <a:spLocks noGrp="1"/>
          </p:cNvSpPr>
          <p:nvPr/>
        </p:nvSpPr>
        <p:spPr>
          <a:xfrm>
            <a:off x="571500" y="6096000"/>
            <a:ext cx="10668000" cy="333375"/>
          </a:xfrm>
          <a:prstGeom prst="rect">
            <a:avLst/>
          </a:prstGeom>
          <a:noFill/>
          <a:ln w="0">
            <a:noFill/>
          </a:ln>
        </p:spPr>
        <p:txBody>
          <a:bodyPr>
            <a:noAutofit/>
          </a:bodyPr>
          <a:lstStyle/>
          <a:p>
            <a:pPr>
              <a:defRPr sz="1125" b="0">
                <a:solidFill>
                  <a:srgbClr val="42556A"/>
                </a:solidFill>
                <a:latin typeface="DejaVu Sans"/>
                <a:ea typeface="DejaVu Sans"/>
                <a:cs typeface="DejaVu Sans"/>
              </a:defRPr>
            </a:pPr>
            <a:r>
              <a:rPr sz="1125" b="0">
                <a:solidFill>
                  <a:srgbClr val="42556A"/>
                </a:solidFill>
                <a:latin typeface="DejaVu Sans"/>
                <a:ea typeface="DejaVu Sans"/>
                <a:cs typeface="DejaVu Sans"/>
              </a:rPr>
              <a:t>Sources: CDC NCHS open-data API (2024 Q4 annual age-adjusted rates); GIFFORDS 2024 scorecard.</a:t>
            </a:r>
          </a:p>
        </p:txBody>
      </p:sp>
    </p:spTree>
    <p:extLst>
      <p:ext uri="{BB962C8B-B14F-4D97-AF65-F5344CB8AC3E}">
        <p14:creationId xmlns:p14="http://schemas.microsoft.com/office/powerpoint/2010/main" val="42779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4592EE9-7B2B-46A8-8646-01934E3EFFFA}"/>
              </a:ext>
            </a:extLst>
          </p:cNvPr>
          <p:cNvSpPr>
            <a:spLocks noGrp="1"/>
          </p:cNvSpPr>
          <p:nvPr/>
        </p:nvSpPr>
        <p:spPr>
          <a:xfrm>
            <a:off x="571500" y="333375"/>
            <a:ext cx="11049000" cy="742950"/>
          </a:xfrm>
          <a:prstGeom prst="rect">
            <a:avLst/>
          </a:prstGeom>
          <a:noFill/>
          <a:ln w="0">
            <a:noFill/>
          </a:ln>
        </p:spPr>
        <p:txBody>
          <a:bodyPr>
            <a:noAutofit/>
          </a:bodyPr>
          <a:lstStyle/>
          <a:p>
            <a:pPr>
              <a:defRPr sz="2700" b="1">
                <a:solidFill>
                  <a:srgbClr val="102238"/>
                </a:solidFill>
                <a:latin typeface="DejaVu Sans"/>
                <a:ea typeface="DejaVu Sans"/>
                <a:cs typeface="DejaVu Sans"/>
              </a:defRPr>
            </a:pPr>
            <a:r>
              <a:rPr sz="2700" b="1">
                <a:solidFill>
                  <a:srgbClr val="102238"/>
                </a:solidFill>
                <a:latin typeface="DejaVu Sans"/>
                <a:ea typeface="DejaVu Sans"/>
                <a:cs typeface="DejaVu Sans"/>
              </a:rPr>
              <a:t>22 states are most lax; 13 are strictest</a:t>
            </a:r>
          </a:p>
        </p:txBody>
      </p:sp>
      <p:sp>
        <p:nvSpPr>
          <p:cNvPr id="2" name="Rectangle 1">
            <a:extLst>
              <a:ext uri="{FF2B5EF4-FFF2-40B4-BE49-F238E27FC236}">
                <a16:creationId xmlns:a16="http://schemas.microsoft.com/office/drawing/2014/main" id="{04326BFC-E4B3-4DAA-9D47-95292B3A741A}"/>
              </a:ext>
            </a:extLst>
          </p:cNvPr>
          <p:cNvSpPr>
            <a:spLocks noGrp="1"/>
          </p:cNvSpPr>
          <p:nvPr/>
        </p:nvSpPr>
        <p:spPr>
          <a:xfrm>
            <a:off x="11239500" y="6305550"/>
            <a:ext cx="571500" cy="228600"/>
          </a:xfrm>
          <a:prstGeom prst="rect">
            <a:avLst/>
          </a:prstGeom>
          <a:noFill/>
          <a:ln w="0">
            <a:noFill/>
          </a:ln>
        </p:spPr>
        <p:txBody>
          <a:bodyPr>
            <a:noAutofit/>
          </a:bodyPr>
          <a:lstStyle/>
          <a:p>
            <a:pPr>
              <a:defRPr sz="1200" b="0">
                <a:solidFill>
                  <a:srgbClr val="42556A"/>
                </a:solidFill>
                <a:latin typeface="DejaVu Sans"/>
                <a:ea typeface="DejaVu Sans"/>
                <a:cs typeface="DejaVu Sans"/>
              </a:defRPr>
            </a:pPr>
            <a:r>
              <a:rPr sz="1200" b="0">
                <a:solidFill>
                  <a:srgbClr val="42556A"/>
                </a:solidFill>
                <a:latin typeface="DejaVu Sans"/>
                <a:ea typeface="DejaVu Sans"/>
                <a:cs typeface="DejaVu Sans"/>
              </a:rPr>
              <a:t>3</a:t>
            </a:r>
          </a:p>
        </p:txBody>
      </p:sp>
      <p:pic>
        <p:nvPicPr>
          <p:cNvPr id="7" name="Picture 6"/>
          <p:cNvPicPr>
            <a:picLocks noChangeAspect="1"/>
          </p:cNvPicPr>
          <p:nvPr/>
        </p:nvPicPr>
        <p:blipFill>
          <a:blip r:embed="rId3"/>
          <a:stretch/>
        </p:blipFill>
        <p:spPr>
          <a:xfrm>
            <a:off x="1698078" y="1143000"/>
            <a:ext cx="8795845" cy="4905375"/>
          </a:xfrm>
          <a:prstGeom prst="rect">
            <a:avLst/>
          </a:prstGeom>
        </p:spPr>
      </p:pic>
      <p:sp>
        <p:nvSpPr>
          <p:cNvPr id="4" name="Rectangle 3">
            <a:extLst>
              <a:ext uri="{FF2B5EF4-FFF2-40B4-BE49-F238E27FC236}">
                <a16:creationId xmlns:a16="http://schemas.microsoft.com/office/drawing/2014/main" id="{ECB55C74-24FE-45A0-AE88-87123C9D2DA1}"/>
              </a:ext>
            </a:extLst>
          </p:cNvPr>
          <p:cNvSpPr>
            <a:spLocks noGrp="1"/>
          </p:cNvSpPr>
          <p:nvPr/>
        </p:nvSpPr>
        <p:spPr>
          <a:xfrm>
            <a:off x="571500" y="6124575"/>
            <a:ext cx="10763250" cy="333375"/>
          </a:xfrm>
          <a:prstGeom prst="rect">
            <a:avLst/>
          </a:prstGeom>
          <a:noFill/>
          <a:ln w="0">
            <a:noFill/>
          </a:ln>
        </p:spPr>
        <p:txBody>
          <a:bodyPr>
            <a:noAutofit/>
          </a:bodyPr>
          <a:lstStyle/>
          <a:p>
            <a:pPr>
              <a:defRPr sz="1275" b="0">
                <a:solidFill>
                  <a:srgbClr val="42556A"/>
                </a:solidFill>
                <a:latin typeface="DejaVu Sans"/>
                <a:ea typeface="DejaVu Sans"/>
                <a:cs typeface="DejaVu Sans"/>
              </a:defRPr>
            </a:pPr>
            <a:r>
              <a:rPr sz="1275" b="0">
                <a:solidFill>
                  <a:srgbClr val="42556A"/>
                </a:solidFill>
                <a:latin typeface="DejaVu Sans"/>
                <a:ea typeface="DejaVu Sans"/>
                <a:cs typeface="DejaVu Sans"/>
              </a:rPr>
              <a:t>Equal tiles keep every state visible. Printed levels support the color legend.</a:t>
            </a:r>
          </a:p>
        </p:txBody>
      </p:sp>
    </p:spTree>
    <p:extLst>
      <p:ext uri="{BB962C8B-B14F-4D97-AF65-F5344CB8AC3E}">
        <p14:creationId xmlns:p14="http://schemas.microsoft.com/office/powerpoint/2010/main" val="1079254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C8BCFB7-49BE-4294-88FB-70F458AB37DB}"/>
              </a:ext>
            </a:extLst>
          </p:cNvPr>
          <p:cNvSpPr>
            <a:spLocks noGrp="1"/>
          </p:cNvSpPr>
          <p:nvPr/>
        </p:nvSpPr>
        <p:spPr>
          <a:xfrm>
            <a:off x="571500" y="333375"/>
            <a:ext cx="11049000" cy="742950"/>
          </a:xfrm>
          <a:prstGeom prst="rect">
            <a:avLst/>
          </a:prstGeom>
          <a:noFill/>
          <a:ln w="0">
            <a:noFill/>
          </a:ln>
        </p:spPr>
        <p:txBody>
          <a:bodyPr>
            <a:noAutofit/>
          </a:bodyPr>
          <a:lstStyle/>
          <a:p>
            <a:pPr>
              <a:defRPr sz="2700" b="1">
                <a:solidFill>
                  <a:srgbClr val="102238"/>
                </a:solidFill>
                <a:latin typeface="DejaVu Sans"/>
                <a:ea typeface="DejaVu Sans"/>
                <a:cs typeface="DejaVu Sans"/>
              </a:defRPr>
            </a:pPr>
            <a:r>
              <a:rPr sz="2700" b="1">
                <a:solidFill>
                  <a:srgbClr val="102238"/>
                </a:solidFill>
                <a:latin typeface="DejaVu Sans"/>
                <a:ea typeface="DejaVu Sans"/>
                <a:cs typeface="DejaVu Sans"/>
              </a:rPr>
              <a:t>Mortality extremes fit the pattern, with exceptions</a:t>
            </a:r>
          </a:p>
        </p:txBody>
      </p:sp>
      <p:sp>
        <p:nvSpPr>
          <p:cNvPr id="2" name="Rectangle 1">
            <a:extLst>
              <a:ext uri="{FF2B5EF4-FFF2-40B4-BE49-F238E27FC236}">
                <a16:creationId xmlns:a16="http://schemas.microsoft.com/office/drawing/2014/main" id="{E766D45E-70B3-4314-A0EF-C8C0A62E10C4}"/>
              </a:ext>
            </a:extLst>
          </p:cNvPr>
          <p:cNvSpPr>
            <a:spLocks noGrp="1"/>
          </p:cNvSpPr>
          <p:nvPr/>
        </p:nvSpPr>
        <p:spPr>
          <a:xfrm>
            <a:off x="11239500" y="6305550"/>
            <a:ext cx="571500" cy="228600"/>
          </a:xfrm>
          <a:prstGeom prst="rect">
            <a:avLst/>
          </a:prstGeom>
          <a:noFill/>
          <a:ln w="0">
            <a:noFill/>
          </a:ln>
        </p:spPr>
        <p:txBody>
          <a:bodyPr>
            <a:noAutofit/>
          </a:bodyPr>
          <a:lstStyle/>
          <a:p>
            <a:pPr>
              <a:defRPr sz="1200" b="0">
                <a:solidFill>
                  <a:srgbClr val="42556A"/>
                </a:solidFill>
                <a:latin typeface="DejaVu Sans"/>
                <a:ea typeface="DejaVu Sans"/>
                <a:cs typeface="DejaVu Sans"/>
              </a:defRPr>
            </a:pPr>
            <a:r>
              <a:rPr sz="1200" b="0">
                <a:solidFill>
                  <a:srgbClr val="42556A"/>
                </a:solidFill>
                <a:latin typeface="DejaVu Sans"/>
                <a:ea typeface="DejaVu Sans"/>
                <a:cs typeface="DejaVu Sans"/>
              </a:rPr>
              <a:t>4</a:t>
            </a:r>
          </a:p>
        </p:txBody>
      </p:sp>
      <p:pic>
        <p:nvPicPr>
          <p:cNvPr id="7" name="Picture 6"/>
          <p:cNvPicPr>
            <a:picLocks noChangeAspect="1"/>
          </p:cNvPicPr>
          <p:nvPr/>
        </p:nvPicPr>
        <p:blipFill>
          <a:blip r:embed="rId3"/>
          <a:stretch/>
        </p:blipFill>
        <p:spPr>
          <a:xfrm>
            <a:off x="1698078" y="1143000"/>
            <a:ext cx="8795845" cy="4905375"/>
          </a:xfrm>
          <a:prstGeom prst="rect">
            <a:avLst/>
          </a:prstGeom>
        </p:spPr>
      </p:pic>
      <p:sp>
        <p:nvSpPr>
          <p:cNvPr id="4" name="Rectangle 3">
            <a:extLst>
              <a:ext uri="{FF2B5EF4-FFF2-40B4-BE49-F238E27FC236}">
                <a16:creationId xmlns:a16="http://schemas.microsoft.com/office/drawing/2014/main" id="{BCDA8821-320A-4063-93F2-5C38D16DBFCE}"/>
              </a:ext>
            </a:extLst>
          </p:cNvPr>
          <p:cNvSpPr>
            <a:spLocks noGrp="1"/>
          </p:cNvSpPr>
          <p:nvPr/>
        </p:nvSpPr>
        <p:spPr>
          <a:xfrm>
            <a:off x="571500" y="6124575"/>
            <a:ext cx="10763250" cy="333375"/>
          </a:xfrm>
          <a:prstGeom prst="rect">
            <a:avLst/>
          </a:prstGeom>
          <a:noFill/>
          <a:ln w="0">
            <a:noFill/>
          </a:ln>
        </p:spPr>
        <p:txBody>
          <a:bodyPr>
            <a:noAutofit/>
          </a:bodyPr>
          <a:lstStyle/>
          <a:p>
            <a:pPr>
              <a:defRPr sz="1275" b="0">
                <a:solidFill>
                  <a:srgbClr val="42556A"/>
                </a:solidFill>
                <a:latin typeface="DejaVu Sans"/>
                <a:ea typeface="DejaVu Sans"/>
                <a:cs typeface="DejaVu Sans"/>
              </a:defRPr>
            </a:pPr>
            <a:r>
              <a:rPr sz="1275" b="0">
                <a:solidFill>
                  <a:srgbClr val="42556A"/>
                </a:solidFill>
                <a:latin typeface="DejaVu Sans"/>
                <a:ea typeface="DejaVu Sans"/>
                <a:cs typeface="DejaVu Sans"/>
              </a:rPr>
              <a:t>Numbered outlines connect the extremes and exception directly to their state tiles.</a:t>
            </a:r>
          </a:p>
        </p:txBody>
      </p:sp>
    </p:spTree>
    <p:extLst>
      <p:ext uri="{BB962C8B-B14F-4D97-AF65-F5344CB8AC3E}">
        <p14:creationId xmlns:p14="http://schemas.microsoft.com/office/powerpoint/2010/main" val="2050293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8EA41F0-2A8C-489C-9D26-3C9C5141826E}"/>
              </a:ext>
            </a:extLst>
          </p:cNvPr>
          <p:cNvSpPr>
            <a:spLocks noGrp="1"/>
          </p:cNvSpPr>
          <p:nvPr/>
        </p:nvSpPr>
        <p:spPr>
          <a:xfrm>
            <a:off x="571500" y="333375"/>
            <a:ext cx="11049000" cy="742950"/>
          </a:xfrm>
          <a:prstGeom prst="rect">
            <a:avLst/>
          </a:prstGeom>
          <a:noFill/>
          <a:ln w="0">
            <a:noFill/>
          </a:ln>
        </p:spPr>
        <p:txBody>
          <a:bodyPr>
            <a:noAutofit/>
          </a:bodyPr>
          <a:lstStyle/>
          <a:p>
            <a:pPr>
              <a:defRPr sz="2700" b="1">
                <a:solidFill>
                  <a:srgbClr val="102238"/>
                </a:solidFill>
                <a:latin typeface="DejaVu Sans"/>
                <a:ea typeface="DejaVu Sans"/>
                <a:cs typeface="DejaVu Sans"/>
              </a:defRPr>
            </a:pPr>
            <a:r>
              <a:rPr sz="2700" b="1">
                <a:solidFill>
                  <a:srgbClr val="102238"/>
                </a:solidFill>
                <a:latin typeface="DejaVu Sans"/>
                <a:ea typeface="DejaVu Sans"/>
                <a:cs typeface="DejaVu Sans"/>
              </a:rPr>
              <a:t>Most lax states cluster in higher mortality bands</a:t>
            </a:r>
          </a:p>
        </p:txBody>
      </p:sp>
      <p:sp>
        <p:nvSpPr>
          <p:cNvPr id="2" name="Rectangle 1">
            <a:extLst>
              <a:ext uri="{FF2B5EF4-FFF2-40B4-BE49-F238E27FC236}">
                <a16:creationId xmlns:a16="http://schemas.microsoft.com/office/drawing/2014/main" id="{C19C2BDB-9D19-49DC-A490-0C3931F4A8D3}"/>
              </a:ext>
            </a:extLst>
          </p:cNvPr>
          <p:cNvSpPr>
            <a:spLocks noGrp="1"/>
          </p:cNvSpPr>
          <p:nvPr/>
        </p:nvSpPr>
        <p:spPr>
          <a:xfrm>
            <a:off x="11239500" y="6305550"/>
            <a:ext cx="571500" cy="228600"/>
          </a:xfrm>
          <a:prstGeom prst="rect">
            <a:avLst/>
          </a:prstGeom>
          <a:noFill/>
          <a:ln w="0">
            <a:noFill/>
          </a:ln>
        </p:spPr>
        <p:txBody>
          <a:bodyPr>
            <a:noAutofit/>
          </a:bodyPr>
          <a:lstStyle/>
          <a:p>
            <a:pPr>
              <a:defRPr sz="1200" b="0">
                <a:solidFill>
                  <a:srgbClr val="42556A"/>
                </a:solidFill>
                <a:latin typeface="DejaVu Sans"/>
                <a:ea typeface="DejaVu Sans"/>
                <a:cs typeface="DejaVu Sans"/>
              </a:defRPr>
            </a:pPr>
            <a:r>
              <a:rPr sz="1200" b="0">
                <a:solidFill>
                  <a:srgbClr val="42556A"/>
                </a:solidFill>
                <a:latin typeface="DejaVu Sans"/>
                <a:ea typeface="DejaVu Sans"/>
                <a:cs typeface="DejaVu Sans"/>
              </a:rPr>
              <a:t>5</a:t>
            </a:r>
          </a:p>
        </p:txBody>
      </p:sp>
      <p:pic>
        <p:nvPicPr>
          <p:cNvPr id="7" name="Picture 6"/>
          <p:cNvPicPr>
            <a:picLocks noChangeAspect="1"/>
          </p:cNvPicPr>
          <p:nvPr/>
        </p:nvPicPr>
        <p:blipFill>
          <a:blip r:embed="rId3"/>
          <a:stretch/>
        </p:blipFill>
        <p:spPr>
          <a:xfrm>
            <a:off x="1698078" y="1143000"/>
            <a:ext cx="8795845" cy="4905375"/>
          </a:xfrm>
          <a:prstGeom prst="rect">
            <a:avLst/>
          </a:prstGeom>
        </p:spPr>
      </p:pic>
      <p:sp>
        <p:nvSpPr>
          <p:cNvPr id="4" name="Rectangle 3">
            <a:extLst>
              <a:ext uri="{FF2B5EF4-FFF2-40B4-BE49-F238E27FC236}">
                <a16:creationId xmlns:a16="http://schemas.microsoft.com/office/drawing/2014/main" id="{3FAE6140-5978-4B7B-A0F7-FA4AE0ABFE7E}"/>
              </a:ext>
            </a:extLst>
          </p:cNvPr>
          <p:cNvSpPr>
            <a:spLocks noGrp="1"/>
          </p:cNvSpPr>
          <p:nvPr/>
        </p:nvSpPr>
        <p:spPr>
          <a:xfrm>
            <a:off x="571500" y="6124575"/>
            <a:ext cx="10763250" cy="333375"/>
          </a:xfrm>
          <a:prstGeom prst="rect">
            <a:avLst/>
          </a:prstGeom>
          <a:noFill/>
          <a:ln w="0">
            <a:noFill/>
          </a:ln>
        </p:spPr>
        <p:txBody>
          <a:bodyPr>
            <a:noAutofit/>
          </a:bodyPr>
          <a:lstStyle/>
          <a:p>
            <a:pPr>
              <a:defRPr sz="1275" b="0">
                <a:solidFill>
                  <a:srgbClr val="42556A"/>
                </a:solidFill>
                <a:latin typeface="DejaVu Sans"/>
                <a:ea typeface="DejaVu Sans"/>
                <a:cs typeface="DejaVu Sans"/>
              </a:defRPr>
            </a:pPr>
            <a:r>
              <a:rPr sz="1275" b="0">
                <a:solidFill>
                  <a:srgbClr val="42556A"/>
                </a:solidFill>
                <a:latin typeface="DejaVu Sans"/>
                <a:ea typeface="DejaVu Sans"/>
                <a:cs typeface="DejaVu Sans"/>
              </a:rPr>
              <a:t>Within-group percentages allow comparison despite unequal group sizes. Counts retain the evidence.</a:t>
            </a:r>
          </a:p>
        </p:txBody>
      </p:sp>
    </p:spTree>
    <p:extLst>
      <p:ext uri="{BB962C8B-B14F-4D97-AF65-F5344CB8AC3E}">
        <p14:creationId xmlns:p14="http://schemas.microsoft.com/office/powerpoint/2010/main" val="1521905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DF962AF8-1CB7-4782-9320-1BB30D664A3D}"/>
              </a:ext>
            </a:extLst>
          </p:cNvPr>
          <p:cNvSpPr>
            <a:spLocks noGrp="1"/>
          </p:cNvSpPr>
          <p:nvPr/>
        </p:nvSpPr>
        <p:spPr>
          <a:xfrm>
            <a:off x="571500" y="333375"/>
            <a:ext cx="11049000" cy="742950"/>
          </a:xfrm>
          <a:prstGeom prst="rect">
            <a:avLst/>
          </a:prstGeom>
          <a:noFill/>
          <a:ln w="0">
            <a:noFill/>
          </a:ln>
        </p:spPr>
        <p:txBody>
          <a:bodyPr>
            <a:noAutofit/>
          </a:bodyPr>
          <a:lstStyle/>
          <a:p>
            <a:pPr>
              <a:defRPr sz="2700" b="1">
                <a:solidFill>
                  <a:srgbClr val="102238"/>
                </a:solidFill>
                <a:latin typeface="DejaVu Sans"/>
                <a:ea typeface="DejaVu Sans"/>
                <a:cs typeface="DejaVu Sans"/>
              </a:defRPr>
            </a:pPr>
            <a:r>
              <a:rPr sz="2700" b="1">
                <a:solidFill>
                  <a:srgbClr val="102238"/>
                </a:solidFill>
                <a:latin typeface="DejaVu Sans"/>
                <a:ea typeface="DejaVu Sans"/>
                <a:cs typeface="DejaVu Sans"/>
              </a:rPr>
              <a:t>The strictest group averages 8.4 deaths versus 18.6</a:t>
            </a:r>
          </a:p>
        </p:txBody>
      </p:sp>
      <p:sp>
        <p:nvSpPr>
          <p:cNvPr id="2" name="Rectangle 1">
            <a:extLst>
              <a:ext uri="{FF2B5EF4-FFF2-40B4-BE49-F238E27FC236}">
                <a16:creationId xmlns:a16="http://schemas.microsoft.com/office/drawing/2014/main" id="{B18487C9-406D-4053-B697-429D2F3E4028}"/>
              </a:ext>
            </a:extLst>
          </p:cNvPr>
          <p:cNvSpPr>
            <a:spLocks noGrp="1"/>
          </p:cNvSpPr>
          <p:nvPr/>
        </p:nvSpPr>
        <p:spPr>
          <a:xfrm>
            <a:off x="11239500" y="6305550"/>
            <a:ext cx="571500" cy="228600"/>
          </a:xfrm>
          <a:prstGeom prst="rect">
            <a:avLst/>
          </a:prstGeom>
          <a:noFill/>
          <a:ln w="0">
            <a:noFill/>
          </a:ln>
        </p:spPr>
        <p:txBody>
          <a:bodyPr>
            <a:noAutofit/>
          </a:bodyPr>
          <a:lstStyle/>
          <a:p>
            <a:pPr>
              <a:defRPr sz="1200" b="0">
                <a:solidFill>
                  <a:srgbClr val="42556A"/>
                </a:solidFill>
                <a:latin typeface="DejaVu Sans"/>
                <a:ea typeface="DejaVu Sans"/>
                <a:cs typeface="DejaVu Sans"/>
              </a:defRPr>
            </a:pPr>
            <a:r>
              <a:rPr sz="1200" b="0">
                <a:solidFill>
                  <a:srgbClr val="42556A"/>
                </a:solidFill>
                <a:latin typeface="DejaVu Sans"/>
                <a:ea typeface="DejaVu Sans"/>
                <a:cs typeface="DejaVu Sans"/>
              </a:rPr>
              <a:t>6</a:t>
            </a:r>
          </a:p>
        </p:txBody>
      </p:sp>
      <p:sp>
        <p:nvSpPr>
          <p:cNvPr id="3" name="Rectangle 2">
            <a:extLst>
              <a:ext uri="{FF2B5EF4-FFF2-40B4-BE49-F238E27FC236}">
                <a16:creationId xmlns:a16="http://schemas.microsoft.com/office/drawing/2014/main" id="{5B2DEA69-D973-4C1B-B2D9-7D6586EABE19}"/>
              </a:ext>
            </a:extLst>
          </p:cNvPr>
          <p:cNvSpPr>
            <a:spLocks noGrp="1"/>
          </p:cNvSpPr>
          <p:nvPr/>
        </p:nvSpPr>
        <p:spPr>
          <a:xfrm>
            <a:off x="666750" y="1381125"/>
            <a:ext cx="4381500" cy="476250"/>
          </a:xfrm>
          <a:prstGeom prst="rect">
            <a:avLst/>
          </a:prstGeom>
          <a:noFill/>
          <a:ln w="0">
            <a:noFill/>
          </a:ln>
        </p:spPr>
        <p:txBody>
          <a:bodyPr>
            <a:noAutofit/>
          </a:bodyPr>
          <a:lstStyle/>
          <a:p>
            <a:pPr>
              <a:defRPr sz="1800" b="1">
                <a:solidFill>
                  <a:srgbClr val="102238"/>
                </a:solidFill>
                <a:latin typeface="DejaVu Sans"/>
                <a:ea typeface="DejaVu Sans"/>
                <a:cs typeface="DejaVu Sans"/>
              </a:defRPr>
            </a:pPr>
            <a:r>
              <a:rPr sz="1800" b="1">
                <a:solidFill>
                  <a:srgbClr val="102238"/>
                </a:solidFill>
                <a:latin typeface="DejaVu Sans"/>
                <a:ea typeface="DejaVu Sans"/>
                <a:cs typeface="DejaVu Sans"/>
              </a:rPr>
              <a:t>Law level</a:t>
            </a:r>
          </a:p>
        </p:txBody>
      </p:sp>
      <p:sp>
        <p:nvSpPr>
          <p:cNvPr id="4" name="Rectangle 3">
            <a:extLst>
              <a:ext uri="{FF2B5EF4-FFF2-40B4-BE49-F238E27FC236}">
                <a16:creationId xmlns:a16="http://schemas.microsoft.com/office/drawing/2014/main" id="{B451E13A-38A7-4A99-A5BF-D0C373CC11D7}"/>
              </a:ext>
            </a:extLst>
          </p:cNvPr>
          <p:cNvSpPr>
            <a:spLocks noGrp="1"/>
          </p:cNvSpPr>
          <p:nvPr/>
        </p:nvSpPr>
        <p:spPr>
          <a:xfrm>
            <a:off x="5429250" y="1381125"/>
            <a:ext cx="1524000" cy="476250"/>
          </a:xfrm>
          <a:prstGeom prst="rect">
            <a:avLst/>
          </a:prstGeom>
          <a:noFill/>
          <a:ln w="0">
            <a:noFill/>
          </a:ln>
        </p:spPr>
        <p:txBody>
          <a:bodyPr>
            <a:noAutofit/>
          </a:bodyPr>
          <a:lstStyle/>
          <a:p>
            <a:pPr>
              <a:defRPr sz="1800" b="1">
                <a:solidFill>
                  <a:srgbClr val="102238"/>
                </a:solidFill>
                <a:latin typeface="DejaVu Sans"/>
                <a:ea typeface="DejaVu Sans"/>
                <a:cs typeface="DejaVu Sans"/>
              </a:defRPr>
            </a:pPr>
            <a:r>
              <a:rPr sz="1800" b="1">
                <a:solidFill>
                  <a:srgbClr val="102238"/>
                </a:solidFill>
                <a:latin typeface="DejaVu Sans"/>
                <a:ea typeface="DejaVu Sans"/>
                <a:cs typeface="DejaVu Sans"/>
              </a:rPr>
              <a:t>States</a:t>
            </a:r>
          </a:p>
        </p:txBody>
      </p:sp>
      <p:sp>
        <p:nvSpPr>
          <p:cNvPr id="5" name="Rectangle 4">
            <a:extLst>
              <a:ext uri="{FF2B5EF4-FFF2-40B4-BE49-F238E27FC236}">
                <a16:creationId xmlns:a16="http://schemas.microsoft.com/office/drawing/2014/main" id="{A0D992A3-0A51-43BE-95FA-96E8741201A5}"/>
              </a:ext>
            </a:extLst>
          </p:cNvPr>
          <p:cNvSpPr>
            <a:spLocks noGrp="1"/>
          </p:cNvSpPr>
          <p:nvPr/>
        </p:nvSpPr>
        <p:spPr>
          <a:xfrm>
            <a:off x="7239000" y="1381125"/>
            <a:ext cx="1905000" cy="476250"/>
          </a:xfrm>
          <a:prstGeom prst="rect">
            <a:avLst/>
          </a:prstGeom>
          <a:noFill/>
          <a:ln w="0">
            <a:noFill/>
          </a:ln>
        </p:spPr>
        <p:txBody>
          <a:bodyPr>
            <a:noAutofit/>
          </a:bodyPr>
          <a:lstStyle/>
          <a:p>
            <a:pPr>
              <a:defRPr sz="1800" b="1">
                <a:solidFill>
                  <a:srgbClr val="102238"/>
                </a:solidFill>
                <a:latin typeface="DejaVu Sans"/>
                <a:ea typeface="DejaVu Sans"/>
                <a:cs typeface="DejaVu Sans"/>
              </a:defRPr>
            </a:pPr>
            <a:r>
              <a:rPr sz="1800" b="1">
                <a:solidFill>
                  <a:srgbClr val="102238"/>
                </a:solidFill>
                <a:latin typeface="DejaVu Sans"/>
                <a:ea typeface="DejaVu Sans"/>
                <a:cs typeface="DejaVu Sans"/>
              </a:rPr>
              <a:t>Mean rate</a:t>
            </a:r>
          </a:p>
        </p:txBody>
      </p:sp>
      <p:sp>
        <p:nvSpPr>
          <p:cNvPr id="6" name="Rectangle 5">
            <a:extLst>
              <a:ext uri="{FF2B5EF4-FFF2-40B4-BE49-F238E27FC236}">
                <a16:creationId xmlns:a16="http://schemas.microsoft.com/office/drawing/2014/main" id="{9EBC9287-AB94-4ABF-A054-94D69A06CA94}"/>
              </a:ext>
            </a:extLst>
          </p:cNvPr>
          <p:cNvSpPr>
            <a:spLocks noGrp="1"/>
          </p:cNvSpPr>
          <p:nvPr/>
        </p:nvSpPr>
        <p:spPr>
          <a:xfrm>
            <a:off x="9334500" y="1381125"/>
            <a:ext cx="1905000" cy="476250"/>
          </a:xfrm>
          <a:prstGeom prst="rect">
            <a:avLst/>
          </a:prstGeom>
          <a:noFill/>
          <a:ln w="0">
            <a:noFill/>
          </a:ln>
        </p:spPr>
        <p:txBody>
          <a:bodyPr>
            <a:noAutofit/>
          </a:bodyPr>
          <a:lstStyle/>
          <a:p>
            <a:pPr>
              <a:defRPr sz="1800" b="1">
                <a:solidFill>
                  <a:srgbClr val="102238"/>
                </a:solidFill>
                <a:latin typeface="DejaVu Sans"/>
                <a:ea typeface="DejaVu Sans"/>
                <a:cs typeface="DejaVu Sans"/>
              </a:defRPr>
            </a:pPr>
            <a:r>
              <a:rPr sz="1800" b="1">
                <a:solidFill>
                  <a:srgbClr val="102238"/>
                </a:solidFill>
                <a:latin typeface="DejaVu Sans"/>
                <a:ea typeface="DejaVu Sans"/>
                <a:cs typeface="DejaVu Sans"/>
              </a:rPr>
              <a:t>Median rate</a:t>
            </a:r>
          </a:p>
        </p:txBody>
      </p:sp>
      <p:sp>
        <p:nvSpPr>
          <p:cNvPr id="7" name="Rectangle 6">
            <a:extLst>
              <a:ext uri="{FF2B5EF4-FFF2-40B4-BE49-F238E27FC236}">
                <a16:creationId xmlns:a16="http://schemas.microsoft.com/office/drawing/2014/main" id="{6C6FD37E-9182-4823-9F72-97678A729D5E}"/>
              </a:ext>
            </a:extLst>
          </p:cNvPr>
          <p:cNvSpPr>
            <a:spLocks noGrp="1"/>
          </p:cNvSpPr>
          <p:nvPr/>
        </p:nvSpPr>
        <p:spPr>
          <a:xfrm>
            <a:off x="666750" y="2000250"/>
            <a:ext cx="4381500" cy="476250"/>
          </a:xfrm>
          <a:prstGeom prst="rect">
            <a:avLst/>
          </a:prstGeom>
          <a:noFill/>
          <a:ln w="0">
            <a:noFill/>
          </a:ln>
        </p:spPr>
        <p:txBody>
          <a:bodyPr>
            <a:noAutofit/>
          </a:bodyPr>
          <a:lstStyle/>
          <a:p>
            <a:pPr>
              <a:defRPr sz="2025" b="1">
                <a:solidFill>
                  <a:srgbClr val="075C9C"/>
                </a:solidFill>
                <a:latin typeface="DejaVu Sans"/>
                <a:ea typeface="DejaVu Sans"/>
                <a:cs typeface="DejaVu Sans"/>
              </a:defRPr>
            </a:pPr>
            <a:r>
              <a:rPr sz="2025" b="1">
                <a:solidFill>
                  <a:srgbClr val="075C9C"/>
                </a:solidFill>
                <a:latin typeface="DejaVu Sans"/>
                <a:ea typeface="DejaVu Sans"/>
                <a:cs typeface="DejaVu Sans"/>
              </a:rPr>
              <a:t>1 · Most lax (F)</a:t>
            </a:r>
          </a:p>
        </p:txBody>
      </p:sp>
      <p:sp>
        <p:nvSpPr>
          <p:cNvPr id="8" name="Rectangle 7">
            <a:extLst>
              <a:ext uri="{FF2B5EF4-FFF2-40B4-BE49-F238E27FC236}">
                <a16:creationId xmlns:a16="http://schemas.microsoft.com/office/drawing/2014/main" id="{5A7E40B0-029D-4A08-8FF1-29986B58378E}"/>
              </a:ext>
            </a:extLst>
          </p:cNvPr>
          <p:cNvSpPr>
            <a:spLocks noGrp="1"/>
          </p:cNvSpPr>
          <p:nvPr/>
        </p:nvSpPr>
        <p:spPr>
          <a:xfrm>
            <a:off x="5429250" y="2000250"/>
            <a:ext cx="1524000" cy="476250"/>
          </a:xfrm>
          <a:prstGeom prst="rect">
            <a:avLst/>
          </a:prstGeom>
          <a:noFill/>
          <a:ln w="0">
            <a:noFill/>
          </a:ln>
        </p:spPr>
        <p:txBody>
          <a:bodyPr>
            <a:noAutofit/>
          </a:bodyPr>
          <a:lstStyle/>
          <a:p>
            <a:pPr>
              <a:defRPr sz="2025" b="1">
                <a:solidFill>
                  <a:srgbClr val="075C9C"/>
                </a:solidFill>
                <a:latin typeface="DejaVu Sans"/>
                <a:ea typeface="DejaVu Sans"/>
                <a:cs typeface="DejaVu Sans"/>
              </a:defRPr>
            </a:pPr>
            <a:r>
              <a:rPr sz="2025" b="1">
                <a:solidFill>
                  <a:srgbClr val="075C9C"/>
                </a:solidFill>
                <a:latin typeface="DejaVu Sans"/>
                <a:ea typeface="DejaVu Sans"/>
                <a:cs typeface="DejaVu Sans"/>
              </a:rPr>
              <a:t>22</a:t>
            </a:r>
          </a:p>
        </p:txBody>
      </p:sp>
      <p:sp>
        <p:nvSpPr>
          <p:cNvPr id="9" name="Rectangle 8">
            <a:extLst>
              <a:ext uri="{FF2B5EF4-FFF2-40B4-BE49-F238E27FC236}">
                <a16:creationId xmlns:a16="http://schemas.microsoft.com/office/drawing/2014/main" id="{F1818CC2-15B0-48DC-B7F4-433E2DF61F9D}"/>
              </a:ext>
            </a:extLst>
          </p:cNvPr>
          <p:cNvSpPr>
            <a:spLocks noGrp="1"/>
          </p:cNvSpPr>
          <p:nvPr/>
        </p:nvSpPr>
        <p:spPr>
          <a:xfrm>
            <a:off x="7239000" y="2000250"/>
            <a:ext cx="1905000" cy="476250"/>
          </a:xfrm>
          <a:prstGeom prst="rect">
            <a:avLst/>
          </a:prstGeom>
          <a:noFill/>
          <a:ln w="0">
            <a:noFill/>
          </a:ln>
        </p:spPr>
        <p:txBody>
          <a:bodyPr>
            <a:noAutofit/>
          </a:bodyPr>
          <a:lstStyle/>
          <a:p>
            <a:pPr>
              <a:defRPr sz="2025" b="1">
                <a:solidFill>
                  <a:srgbClr val="075C9C"/>
                </a:solidFill>
                <a:latin typeface="DejaVu Sans"/>
                <a:ea typeface="DejaVu Sans"/>
                <a:cs typeface="DejaVu Sans"/>
              </a:defRPr>
            </a:pPr>
            <a:r>
              <a:rPr sz="2025" b="1">
                <a:solidFill>
                  <a:srgbClr val="075C9C"/>
                </a:solidFill>
                <a:latin typeface="DejaVu Sans"/>
                <a:ea typeface="DejaVu Sans"/>
                <a:cs typeface="DejaVu Sans"/>
              </a:rPr>
              <a:t>18.6</a:t>
            </a:r>
          </a:p>
        </p:txBody>
      </p:sp>
      <p:sp>
        <p:nvSpPr>
          <p:cNvPr id="10" name="Rectangle 9">
            <a:extLst>
              <a:ext uri="{FF2B5EF4-FFF2-40B4-BE49-F238E27FC236}">
                <a16:creationId xmlns:a16="http://schemas.microsoft.com/office/drawing/2014/main" id="{30873BD4-0DCF-4044-97E9-11E48C16BF15}"/>
              </a:ext>
            </a:extLst>
          </p:cNvPr>
          <p:cNvSpPr>
            <a:spLocks noGrp="1"/>
          </p:cNvSpPr>
          <p:nvPr/>
        </p:nvSpPr>
        <p:spPr>
          <a:xfrm>
            <a:off x="9334500" y="2000250"/>
            <a:ext cx="1905000" cy="476250"/>
          </a:xfrm>
          <a:prstGeom prst="rect">
            <a:avLst/>
          </a:prstGeom>
          <a:noFill/>
          <a:ln w="0">
            <a:noFill/>
          </a:ln>
        </p:spPr>
        <p:txBody>
          <a:bodyPr>
            <a:noAutofit/>
          </a:bodyPr>
          <a:lstStyle/>
          <a:p>
            <a:pPr>
              <a:defRPr sz="2025" b="1">
                <a:solidFill>
                  <a:srgbClr val="075C9C"/>
                </a:solidFill>
                <a:latin typeface="DejaVu Sans"/>
                <a:ea typeface="DejaVu Sans"/>
                <a:cs typeface="DejaVu Sans"/>
              </a:defRPr>
            </a:pPr>
            <a:r>
              <a:rPr sz="2025" b="1">
                <a:solidFill>
                  <a:srgbClr val="075C9C"/>
                </a:solidFill>
                <a:latin typeface="DejaVu Sans"/>
                <a:ea typeface="DejaVu Sans"/>
                <a:cs typeface="DejaVu Sans"/>
              </a:rPr>
              <a:t>18.8</a:t>
            </a:r>
          </a:p>
        </p:txBody>
      </p:sp>
      <p:sp>
        <p:nvSpPr>
          <p:cNvPr id="11" name="Rectangle 10">
            <a:extLst>
              <a:ext uri="{FF2B5EF4-FFF2-40B4-BE49-F238E27FC236}">
                <a16:creationId xmlns:a16="http://schemas.microsoft.com/office/drawing/2014/main" id="{400D4F82-CD03-45A2-9D7A-8A1AC905815C}"/>
              </a:ext>
            </a:extLst>
          </p:cNvPr>
          <p:cNvSpPr>
            <a:spLocks noGrp="1"/>
          </p:cNvSpPr>
          <p:nvPr/>
        </p:nvSpPr>
        <p:spPr>
          <a:xfrm>
            <a:off x="666750" y="2619375"/>
            <a:ext cx="4381500" cy="476250"/>
          </a:xfrm>
          <a:prstGeom prst="rect">
            <a:avLst/>
          </a:prstGeom>
          <a:noFill/>
          <a:ln w="0">
            <a:noFill/>
          </a:ln>
        </p:spPr>
        <p:txBody>
          <a:bodyPr>
            <a:noAutofit/>
          </a:bodyPr>
          <a:lstStyle/>
          <a:p>
            <a:pPr>
              <a:defRPr sz="2025" b="0">
                <a:solidFill>
                  <a:srgbClr val="102238"/>
                </a:solidFill>
                <a:latin typeface="DejaVu Sans"/>
                <a:ea typeface="DejaVu Sans"/>
                <a:cs typeface="DejaVu Sans"/>
              </a:defRPr>
            </a:pPr>
            <a:r>
              <a:rPr sz="2025" b="0">
                <a:solidFill>
                  <a:srgbClr val="102238"/>
                </a:solidFill>
                <a:latin typeface="DejaVu Sans"/>
                <a:ea typeface="DejaVu Sans"/>
                <a:cs typeface="DejaVu Sans"/>
              </a:rPr>
              <a:t>2 · Lax (D)</a:t>
            </a:r>
          </a:p>
        </p:txBody>
      </p:sp>
      <p:sp>
        <p:nvSpPr>
          <p:cNvPr id="12" name="Rectangle 11">
            <a:extLst>
              <a:ext uri="{FF2B5EF4-FFF2-40B4-BE49-F238E27FC236}">
                <a16:creationId xmlns:a16="http://schemas.microsoft.com/office/drawing/2014/main" id="{048C7574-A806-44C0-A7D1-A28C8E423E8D}"/>
              </a:ext>
            </a:extLst>
          </p:cNvPr>
          <p:cNvSpPr>
            <a:spLocks noGrp="1"/>
          </p:cNvSpPr>
          <p:nvPr/>
        </p:nvSpPr>
        <p:spPr>
          <a:xfrm>
            <a:off x="5429250" y="2619375"/>
            <a:ext cx="1524000" cy="476250"/>
          </a:xfrm>
          <a:prstGeom prst="rect">
            <a:avLst/>
          </a:prstGeom>
          <a:noFill/>
          <a:ln w="0">
            <a:noFill/>
          </a:ln>
        </p:spPr>
        <p:txBody>
          <a:bodyPr>
            <a:noAutofit/>
          </a:bodyPr>
          <a:lstStyle/>
          <a:p>
            <a:pPr>
              <a:defRPr sz="2025" b="0">
                <a:solidFill>
                  <a:srgbClr val="102238"/>
                </a:solidFill>
                <a:latin typeface="DejaVu Sans"/>
                <a:ea typeface="DejaVu Sans"/>
                <a:cs typeface="DejaVu Sans"/>
              </a:defRPr>
            </a:pPr>
            <a:r>
              <a:rPr sz="2025" b="0">
                <a:solidFill>
                  <a:srgbClr val="102238"/>
                </a:solidFill>
                <a:latin typeface="DejaVu Sans"/>
                <a:ea typeface="DejaVu Sans"/>
                <a:cs typeface="DejaVu Sans"/>
              </a:rPr>
              <a:t>3</a:t>
            </a:r>
          </a:p>
        </p:txBody>
      </p:sp>
      <p:sp>
        <p:nvSpPr>
          <p:cNvPr id="13" name="Rectangle 12">
            <a:extLst>
              <a:ext uri="{FF2B5EF4-FFF2-40B4-BE49-F238E27FC236}">
                <a16:creationId xmlns:a16="http://schemas.microsoft.com/office/drawing/2014/main" id="{95F43375-042A-4224-956E-FEC2F3862373}"/>
              </a:ext>
            </a:extLst>
          </p:cNvPr>
          <p:cNvSpPr>
            <a:spLocks noGrp="1"/>
          </p:cNvSpPr>
          <p:nvPr/>
        </p:nvSpPr>
        <p:spPr>
          <a:xfrm>
            <a:off x="7239000" y="2619375"/>
            <a:ext cx="1905000" cy="476250"/>
          </a:xfrm>
          <a:prstGeom prst="rect">
            <a:avLst/>
          </a:prstGeom>
          <a:noFill/>
          <a:ln w="0">
            <a:noFill/>
          </a:ln>
        </p:spPr>
        <p:txBody>
          <a:bodyPr>
            <a:noAutofit/>
          </a:bodyPr>
          <a:lstStyle/>
          <a:p>
            <a:pPr>
              <a:defRPr sz="2025" b="0">
                <a:solidFill>
                  <a:srgbClr val="102238"/>
                </a:solidFill>
                <a:latin typeface="DejaVu Sans"/>
                <a:ea typeface="DejaVu Sans"/>
                <a:cs typeface="DejaVu Sans"/>
              </a:defRPr>
            </a:pPr>
            <a:r>
              <a:rPr sz="2025" b="0">
                <a:solidFill>
                  <a:srgbClr val="102238"/>
                </a:solidFill>
                <a:latin typeface="DejaVu Sans"/>
                <a:ea typeface="DejaVu Sans"/>
                <a:cs typeface="DejaVu Sans"/>
              </a:rPr>
              <a:t>14.0</a:t>
            </a:r>
          </a:p>
        </p:txBody>
      </p:sp>
      <p:sp>
        <p:nvSpPr>
          <p:cNvPr id="14" name="Rectangle 13">
            <a:extLst>
              <a:ext uri="{FF2B5EF4-FFF2-40B4-BE49-F238E27FC236}">
                <a16:creationId xmlns:a16="http://schemas.microsoft.com/office/drawing/2014/main" id="{6A9A1A76-0849-4157-9F5B-88371331EE98}"/>
              </a:ext>
            </a:extLst>
          </p:cNvPr>
          <p:cNvSpPr>
            <a:spLocks noGrp="1"/>
          </p:cNvSpPr>
          <p:nvPr/>
        </p:nvSpPr>
        <p:spPr>
          <a:xfrm>
            <a:off x="9334500" y="2619375"/>
            <a:ext cx="1905000" cy="476250"/>
          </a:xfrm>
          <a:prstGeom prst="rect">
            <a:avLst/>
          </a:prstGeom>
          <a:noFill/>
          <a:ln w="0">
            <a:noFill/>
          </a:ln>
        </p:spPr>
        <p:txBody>
          <a:bodyPr>
            <a:noAutofit/>
          </a:bodyPr>
          <a:lstStyle/>
          <a:p>
            <a:pPr>
              <a:defRPr sz="2025" b="0">
                <a:solidFill>
                  <a:srgbClr val="102238"/>
                </a:solidFill>
                <a:latin typeface="DejaVu Sans"/>
                <a:ea typeface="DejaVu Sans"/>
                <a:cs typeface="DejaVu Sans"/>
              </a:defRPr>
            </a:pPr>
            <a:r>
              <a:rPr sz="2025" b="0">
                <a:solidFill>
                  <a:srgbClr val="102238"/>
                </a:solidFill>
                <a:latin typeface="DejaVu Sans"/>
                <a:ea typeface="DejaVu Sans"/>
                <a:cs typeface="DejaVu Sans"/>
              </a:rPr>
              <a:t>14.6</a:t>
            </a:r>
          </a:p>
        </p:txBody>
      </p:sp>
      <p:sp>
        <p:nvSpPr>
          <p:cNvPr id="15" name="Rectangle 14">
            <a:extLst>
              <a:ext uri="{FF2B5EF4-FFF2-40B4-BE49-F238E27FC236}">
                <a16:creationId xmlns:a16="http://schemas.microsoft.com/office/drawing/2014/main" id="{87C21787-C590-4A46-8C44-0C62A744FFA1}"/>
              </a:ext>
            </a:extLst>
          </p:cNvPr>
          <p:cNvSpPr>
            <a:spLocks noGrp="1"/>
          </p:cNvSpPr>
          <p:nvPr/>
        </p:nvSpPr>
        <p:spPr>
          <a:xfrm>
            <a:off x="666750" y="3238500"/>
            <a:ext cx="4381500" cy="476250"/>
          </a:xfrm>
          <a:prstGeom prst="rect">
            <a:avLst/>
          </a:prstGeom>
          <a:noFill/>
          <a:ln w="0">
            <a:noFill/>
          </a:ln>
        </p:spPr>
        <p:txBody>
          <a:bodyPr>
            <a:noAutofit/>
          </a:bodyPr>
          <a:lstStyle/>
          <a:p>
            <a:pPr>
              <a:defRPr sz="2025" b="0">
                <a:solidFill>
                  <a:srgbClr val="102238"/>
                </a:solidFill>
                <a:latin typeface="DejaVu Sans"/>
                <a:ea typeface="DejaVu Sans"/>
                <a:cs typeface="DejaVu Sans"/>
              </a:defRPr>
            </a:pPr>
            <a:r>
              <a:rPr sz="2025" b="0">
                <a:solidFill>
                  <a:srgbClr val="102238"/>
                </a:solidFill>
                <a:latin typeface="DejaVu Sans"/>
                <a:ea typeface="DejaVu Sans"/>
                <a:cs typeface="DejaVu Sans"/>
              </a:rPr>
              <a:t>3 · Middle (C)</a:t>
            </a:r>
          </a:p>
        </p:txBody>
      </p:sp>
      <p:sp>
        <p:nvSpPr>
          <p:cNvPr id="16" name="Rectangle 15">
            <a:extLst>
              <a:ext uri="{FF2B5EF4-FFF2-40B4-BE49-F238E27FC236}">
                <a16:creationId xmlns:a16="http://schemas.microsoft.com/office/drawing/2014/main" id="{3C3B968A-1B9D-4A57-AE53-F99CF3CF9AB4}"/>
              </a:ext>
            </a:extLst>
          </p:cNvPr>
          <p:cNvSpPr>
            <a:spLocks noGrp="1"/>
          </p:cNvSpPr>
          <p:nvPr/>
        </p:nvSpPr>
        <p:spPr>
          <a:xfrm>
            <a:off x="5429250" y="3238500"/>
            <a:ext cx="1524000" cy="476250"/>
          </a:xfrm>
          <a:prstGeom prst="rect">
            <a:avLst/>
          </a:prstGeom>
          <a:noFill/>
          <a:ln w="0">
            <a:noFill/>
          </a:ln>
        </p:spPr>
        <p:txBody>
          <a:bodyPr>
            <a:noAutofit/>
          </a:bodyPr>
          <a:lstStyle/>
          <a:p>
            <a:pPr>
              <a:defRPr sz="2025" b="0">
                <a:solidFill>
                  <a:srgbClr val="102238"/>
                </a:solidFill>
                <a:latin typeface="DejaVu Sans"/>
                <a:ea typeface="DejaVu Sans"/>
                <a:cs typeface="DejaVu Sans"/>
              </a:defRPr>
            </a:pPr>
            <a:r>
              <a:rPr sz="2025" b="0">
                <a:solidFill>
                  <a:srgbClr val="102238"/>
                </a:solidFill>
                <a:latin typeface="DejaVu Sans"/>
                <a:ea typeface="DejaVu Sans"/>
                <a:cs typeface="DejaVu Sans"/>
              </a:rPr>
              <a:t>5</a:t>
            </a:r>
          </a:p>
        </p:txBody>
      </p:sp>
      <p:sp>
        <p:nvSpPr>
          <p:cNvPr id="17" name="Rectangle 16">
            <a:extLst>
              <a:ext uri="{FF2B5EF4-FFF2-40B4-BE49-F238E27FC236}">
                <a16:creationId xmlns:a16="http://schemas.microsoft.com/office/drawing/2014/main" id="{68230745-1FDA-4A70-9157-63AF039CF9F3}"/>
              </a:ext>
            </a:extLst>
          </p:cNvPr>
          <p:cNvSpPr>
            <a:spLocks noGrp="1"/>
          </p:cNvSpPr>
          <p:nvPr/>
        </p:nvSpPr>
        <p:spPr>
          <a:xfrm>
            <a:off x="7239000" y="3238500"/>
            <a:ext cx="1905000" cy="476250"/>
          </a:xfrm>
          <a:prstGeom prst="rect">
            <a:avLst/>
          </a:prstGeom>
          <a:noFill/>
          <a:ln w="0">
            <a:noFill/>
          </a:ln>
        </p:spPr>
        <p:txBody>
          <a:bodyPr>
            <a:noAutofit/>
          </a:bodyPr>
          <a:lstStyle/>
          <a:p>
            <a:pPr>
              <a:defRPr sz="2025" b="0">
                <a:solidFill>
                  <a:srgbClr val="102238"/>
                </a:solidFill>
                <a:latin typeface="DejaVu Sans"/>
                <a:ea typeface="DejaVu Sans"/>
                <a:cs typeface="DejaVu Sans"/>
              </a:defRPr>
            </a:pPr>
            <a:r>
              <a:rPr sz="2025" b="0">
                <a:solidFill>
                  <a:srgbClr val="102238"/>
                </a:solidFill>
                <a:latin typeface="DejaVu Sans"/>
                <a:ea typeface="DejaVu Sans"/>
                <a:cs typeface="DejaVu Sans"/>
              </a:rPr>
              <a:t>12.8</a:t>
            </a:r>
          </a:p>
        </p:txBody>
      </p:sp>
      <p:sp>
        <p:nvSpPr>
          <p:cNvPr id="18" name="Rectangle 17">
            <a:extLst>
              <a:ext uri="{FF2B5EF4-FFF2-40B4-BE49-F238E27FC236}">
                <a16:creationId xmlns:a16="http://schemas.microsoft.com/office/drawing/2014/main" id="{B59FA20E-8659-40AA-BCB2-4AEEE30307EE}"/>
              </a:ext>
            </a:extLst>
          </p:cNvPr>
          <p:cNvSpPr>
            <a:spLocks noGrp="1"/>
          </p:cNvSpPr>
          <p:nvPr/>
        </p:nvSpPr>
        <p:spPr>
          <a:xfrm>
            <a:off x="9334500" y="3238500"/>
            <a:ext cx="1905000" cy="476250"/>
          </a:xfrm>
          <a:prstGeom prst="rect">
            <a:avLst/>
          </a:prstGeom>
          <a:noFill/>
          <a:ln w="0">
            <a:noFill/>
          </a:ln>
        </p:spPr>
        <p:txBody>
          <a:bodyPr>
            <a:noAutofit/>
          </a:bodyPr>
          <a:lstStyle/>
          <a:p>
            <a:pPr>
              <a:defRPr sz="2025" b="0">
                <a:solidFill>
                  <a:srgbClr val="102238"/>
                </a:solidFill>
                <a:latin typeface="DejaVu Sans"/>
                <a:ea typeface="DejaVu Sans"/>
                <a:cs typeface="DejaVu Sans"/>
              </a:defRPr>
            </a:pPr>
            <a:r>
              <a:rPr sz="2025" b="0">
                <a:solidFill>
                  <a:srgbClr val="102238"/>
                </a:solidFill>
                <a:latin typeface="DejaVu Sans"/>
                <a:ea typeface="DejaVu Sans"/>
                <a:cs typeface="DejaVu Sans"/>
              </a:rPr>
              <a:t>12.1</a:t>
            </a:r>
          </a:p>
        </p:txBody>
      </p:sp>
      <p:sp>
        <p:nvSpPr>
          <p:cNvPr id="19" name="Rectangle 18">
            <a:extLst>
              <a:ext uri="{FF2B5EF4-FFF2-40B4-BE49-F238E27FC236}">
                <a16:creationId xmlns:a16="http://schemas.microsoft.com/office/drawing/2014/main" id="{101FCF72-FE98-49DF-98B8-AC85303A874E}"/>
              </a:ext>
            </a:extLst>
          </p:cNvPr>
          <p:cNvSpPr>
            <a:spLocks noGrp="1"/>
          </p:cNvSpPr>
          <p:nvPr/>
        </p:nvSpPr>
        <p:spPr>
          <a:xfrm>
            <a:off x="666750" y="3857625"/>
            <a:ext cx="4381500" cy="476250"/>
          </a:xfrm>
          <a:prstGeom prst="rect">
            <a:avLst/>
          </a:prstGeom>
          <a:noFill/>
          <a:ln w="0">
            <a:noFill/>
          </a:ln>
        </p:spPr>
        <p:txBody>
          <a:bodyPr>
            <a:noAutofit/>
          </a:bodyPr>
          <a:lstStyle/>
          <a:p>
            <a:pPr>
              <a:defRPr sz="2025" b="0">
                <a:solidFill>
                  <a:srgbClr val="102238"/>
                </a:solidFill>
                <a:latin typeface="DejaVu Sans"/>
                <a:ea typeface="DejaVu Sans"/>
                <a:cs typeface="DejaVu Sans"/>
              </a:defRPr>
            </a:pPr>
            <a:r>
              <a:rPr sz="2025" b="0">
                <a:solidFill>
                  <a:srgbClr val="102238"/>
                </a:solidFill>
                <a:latin typeface="DejaVu Sans"/>
                <a:ea typeface="DejaVu Sans"/>
                <a:cs typeface="DejaVu Sans"/>
              </a:rPr>
              <a:t>4 · Strict (B)</a:t>
            </a:r>
          </a:p>
        </p:txBody>
      </p:sp>
      <p:sp>
        <p:nvSpPr>
          <p:cNvPr id="20" name="Rectangle 19">
            <a:extLst>
              <a:ext uri="{FF2B5EF4-FFF2-40B4-BE49-F238E27FC236}">
                <a16:creationId xmlns:a16="http://schemas.microsoft.com/office/drawing/2014/main" id="{0089A00C-761B-4E69-BC7D-969160523A54}"/>
              </a:ext>
            </a:extLst>
          </p:cNvPr>
          <p:cNvSpPr>
            <a:spLocks noGrp="1"/>
          </p:cNvSpPr>
          <p:nvPr/>
        </p:nvSpPr>
        <p:spPr>
          <a:xfrm>
            <a:off x="5429250" y="3857625"/>
            <a:ext cx="1524000" cy="476250"/>
          </a:xfrm>
          <a:prstGeom prst="rect">
            <a:avLst/>
          </a:prstGeom>
          <a:noFill/>
          <a:ln w="0">
            <a:noFill/>
          </a:ln>
        </p:spPr>
        <p:txBody>
          <a:bodyPr>
            <a:noAutofit/>
          </a:bodyPr>
          <a:lstStyle/>
          <a:p>
            <a:pPr>
              <a:defRPr sz="2025" b="0">
                <a:solidFill>
                  <a:srgbClr val="102238"/>
                </a:solidFill>
                <a:latin typeface="DejaVu Sans"/>
                <a:ea typeface="DejaVu Sans"/>
                <a:cs typeface="DejaVu Sans"/>
              </a:defRPr>
            </a:pPr>
            <a:r>
              <a:rPr sz="2025" b="0">
                <a:solidFill>
                  <a:srgbClr val="102238"/>
                </a:solidFill>
                <a:latin typeface="DejaVu Sans"/>
                <a:ea typeface="DejaVu Sans"/>
                <a:cs typeface="DejaVu Sans"/>
              </a:rPr>
              <a:t>7</a:t>
            </a:r>
          </a:p>
        </p:txBody>
      </p:sp>
      <p:sp>
        <p:nvSpPr>
          <p:cNvPr id="21" name="Rectangle 20">
            <a:extLst>
              <a:ext uri="{FF2B5EF4-FFF2-40B4-BE49-F238E27FC236}">
                <a16:creationId xmlns:a16="http://schemas.microsoft.com/office/drawing/2014/main" id="{0461CB2C-791F-4073-843E-577A3B656589}"/>
              </a:ext>
            </a:extLst>
          </p:cNvPr>
          <p:cNvSpPr>
            <a:spLocks noGrp="1"/>
          </p:cNvSpPr>
          <p:nvPr/>
        </p:nvSpPr>
        <p:spPr>
          <a:xfrm>
            <a:off x="7239000" y="3857625"/>
            <a:ext cx="1905000" cy="476250"/>
          </a:xfrm>
          <a:prstGeom prst="rect">
            <a:avLst/>
          </a:prstGeom>
          <a:noFill/>
          <a:ln w="0">
            <a:noFill/>
          </a:ln>
        </p:spPr>
        <p:txBody>
          <a:bodyPr>
            <a:noAutofit/>
          </a:bodyPr>
          <a:lstStyle/>
          <a:p>
            <a:pPr>
              <a:defRPr sz="2025" b="0">
                <a:solidFill>
                  <a:srgbClr val="102238"/>
                </a:solidFill>
                <a:latin typeface="DejaVu Sans"/>
                <a:ea typeface="DejaVu Sans"/>
                <a:cs typeface="DejaVu Sans"/>
              </a:defRPr>
            </a:pPr>
            <a:r>
              <a:rPr sz="2025" b="0">
                <a:solidFill>
                  <a:srgbClr val="102238"/>
                </a:solidFill>
                <a:latin typeface="DejaVu Sans"/>
                <a:ea typeface="DejaVu Sans"/>
                <a:cs typeface="DejaVu Sans"/>
              </a:rPr>
              <a:t>14.4</a:t>
            </a:r>
          </a:p>
        </p:txBody>
      </p:sp>
      <p:sp>
        <p:nvSpPr>
          <p:cNvPr id="22" name="Rectangle 21">
            <a:extLst>
              <a:ext uri="{FF2B5EF4-FFF2-40B4-BE49-F238E27FC236}">
                <a16:creationId xmlns:a16="http://schemas.microsoft.com/office/drawing/2014/main" id="{178B5184-CEDF-4E46-8F63-85DFB3BB9BC2}"/>
              </a:ext>
            </a:extLst>
          </p:cNvPr>
          <p:cNvSpPr>
            <a:spLocks noGrp="1"/>
          </p:cNvSpPr>
          <p:nvPr/>
        </p:nvSpPr>
        <p:spPr>
          <a:xfrm>
            <a:off x="9334500" y="3857625"/>
            <a:ext cx="1905000" cy="476250"/>
          </a:xfrm>
          <a:prstGeom prst="rect">
            <a:avLst/>
          </a:prstGeom>
          <a:noFill/>
          <a:ln w="0">
            <a:noFill/>
          </a:ln>
        </p:spPr>
        <p:txBody>
          <a:bodyPr>
            <a:noAutofit/>
          </a:bodyPr>
          <a:lstStyle/>
          <a:p>
            <a:pPr>
              <a:defRPr sz="2025" b="0">
                <a:solidFill>
                  <a:srgbClr val="102238"/>
                </a:solidFill>
                <a:latin typeface="DejaVu Sans"/>
                <a:ea typeface="DejaVu Sans"/>
                <a:cs typeface="DejaVu Sans"/>
              </a:defRPr>
            </a:pPr>
            <a:r>
              <a:rPr sz="2025" b="0">
                <a:solidFill>
                  <a:srgbClr val="102238"/>
                </a:solidFill>
                <a:latin typeface="DejaVu Sans"/>
                <a:ea typeface="DejaVu Sans"/>
                <a:cs typeface="DejaVu Sans"/>
              </a:rPr>
              <a:t>11.9</a:t>
            </a:r>
          </a:p>
        </p:txBody>
      </p:sp>
      <p:sp>
        <p:nvSpPr>
          <p:cNvPr id="23" name="Rectangle 22">
            <a:extLst>
              <a:ext uri="{FF2B5EF4-FFF2-40B4-BE49-F238E27FC236}">
                <a16:creationId xmlns:a16="http://schemas.microsoft.com/office/drawing/2014/main" id="{BB90EF26-A087-4150-8377-E5015547682D}"/>
              </a:ext>
            </a:extLst>
          </p:cNvPr>
          <p:cNvSpPr>
            <a:spLocks noGrp="1"/>
          </p:cNvSpPr>
          <p:nvPr/>
        </p:nvSpPr>
        <p:spPr>
          <a:xfrm>
            <a:off x="666750" y="4476750"/>
            <a:ext cx="4381500" cy="476250"/>
          </a:xfrm>
          <a:prstGeom prst="rect">
            <a:avLst/>
          </a:prstGeom>
          <a:noFill/>
          <a:ln w="0">
            <a:noFill/>
          </a:ln>
        </p:spPr>
        <p:txBody>
          <a:bodyPr>
            <a:noAutofit/>
          </a:bodyPr>
          <a:lstStyle/>
          <a:p>
            <a:pPr>
              <a:defRPr sz="2025" b="1">
                <a:solidFill>
                  <a:srgbClr val="075C9C"/>
                </a:solidFill>
                <a:latin typeface="DejaVu Sans"/>
                <a:ea typeface="DejaVu Sans"/>
                <a:cs typeface="DejaVu Sans"/>
              </a:defRPr>
            </a:pPr>
            <a:r>
              <a:rPr sz="2025" b="1">
                <a:solidFill>
                  <a:srgbClr val="075C9C"/>
                </a:solidFill>
                <a:latin typeface="DejaVu Sans"/>
                <a:ea typeface="DejaVu Sans"/>
                <a:cs typeface="DejaVu Sans"/>
              </a:rPr>
              <a:t>5 · Strictest (A)</a:t>
            </a:r>
          </a:p>
        </p:txBody>
      </p:sp>
      <p:sp>
        <p:nvSpPr>
          <p:cNvPr id="24" name="Rectangle 23">
            <a:extLst>
              <a:ext uri="{FF2B5EF4-FFF2-40B4-BE49-F238E27FC236}">
                <a16:creationId xmlns:a16="http://schemas.microsoft.com/office/drawing/2014/main" id="{5F371B47-5361-43A3-98B9-62E79855D7FC}"/>
              </a:ext>
            </a:extLst>
          </p:cNvPr>
          <p:cNvSpPr>
            <a:spLocks noGrp="1"/>
          </p:cNvSpPr>
          <p:nvPr/>
        </p:nvSpPr>
        <p:spPr>
          <a:xfrm>
            <a:off x="5429250" y="4476750"/>
            <a:ext cx="1524000" cy="476250"/>
          </a:xfrm>
          <a:prstGeom prst="rect">
            <a:avLst/>
          </a:prstGeom>
          <a:noFill/>
          <a:ln w="0">
            <a:noFill/>
          </a:ln>
        </p:spPr>
        <p:txBody>
          <a:bodyPr>
            <a:noAutofit/>
          </a:bodyPr>
          <a:lstStyle/>
          <a:p>
            <a:pPr>
              <a:defRPr sz="2025" b="1">
                <a:solidFill>
                  <a:srgbClr val="075C9C"/>
                </a:solidFill>
                <a:latin typeface="DejaVu Sans"/>
                <a:ea typeface="DejaVu Sans"/>
                <a:cs typeface="DejaVu Sans"/>
              </a:defRPr>
            </a:pPr>
            <a:r>
              <a:rPr sz="2025" b="1">
                <a:solidFill>
                  <a:srgbClr val="075C9C"/>
                </a:solidFill>
                <a:latin typeface="DejaVu Sans"/>
                <a:ea typeface="DejaVu Sans"/>
                <a:cs typeface="DejaVu Sans"/>
              </a:rPr>
              <a:t>13</a:t>
            </a:r>
          </a:p>
        </p:txBody>
      </p:sp>
      <p:sp>
        <p:nvSpPr>
          <p:cNvPr id="25" name="Rectangle 24">
            <a:extLst>
              <a:ext uri="{FF2B5EF4-FFF2-40B4-BE49-F238E27FC236}">
                <a16:creationId xmlns:a16="http://schemas.microsoft.com/office/drawing/2014/main" id="{43AA40B8-3D16-4AEA-AA6C-EBF5F613B5F2}"/>
              </a:ext>
            </a:extLst>
          </p:cNvPr>
          <p:cNvSpPr>
            <a:spLocks noGrp="1"/>
          </p:cNvSpPr>
          <p:nvPr/>
        </p:nvSpPr>
        <p:spPr>
          <a:xfrm>
            <a:off x="7239000" y="4476750"/>
            <a:ext cx="1905000" cy="476250"/>
          </a:xfrm>
          <a:prstGeom prst="rect">
            <a:avLst/>
          </a:prstGeom>
          <a:noFill/>
          <a:ln w="0">
            <a:noFill/>
          </a:ln>
        </p:spPr>
        <p:txBody>
          <a:bodyPr>
            <a:noAutofit/>
          </a:bodyPr>
          <a:lstStyle/>
          <a:p>
            <a:pPr>
              <a:defRPr sz="2025" b="1">
                <a:solidFill>
                  <a:srgbClr val="075C9C"/>
                </a:solidFill>
                <a:latin typeface="DejaVu Sans"/>
                <a:ea typeface="DejaVu Sans"/>
                <a:cs typeface="DejaVu Sans"/>
              </a:defRPr>
            </a:pPr>
            <a:r>
              <a:rPr sz="2025" b="1">
                <a:solidFill>
                  <a:srgbClr val="075C9C"/>
                </a:solidFill>
                <a:latin typeface="DejaVu Sans"/>
                <a:ea typeface="DejaVu Sans"/>
                <a:cs typeface="DejaVu Sans"/>
              </a:rPr>
              <a:t>8.4</a:t>
            </a:r>
          </a:p>
        </p:txBody>
      </p:sp>
      <p:sp>
        <p:nvSpPr>
          <p:cNvPr id="26" name="Rectangle 25">
            <a:extLst>
              <a:ext uri="{FF2B5EF4-FFF2-40B4-BE49-F238E27FC236}">
                <a16:creationId xmlns:a16="http://schemas.microsoft.com/office/drawing/2014/main" id="{D0FC23DA-2433-4227-9A9A-2CFB6D28BBFF}"/>
              </a:ext>
            </a:extLst>
          </p:cNvPr>
          <p:cNvSpPr>
            <a:spLocks noGrp="1"/>
          </p:cNvSpPr>
          <p:nvPr/>
        </p:nvSpPr>
        <p:spPr>
          <a:xfrm>
            <a:off x="9334500" y="4476750"/>
            <a:ext cx="1905000" cy="476250"/>
          </a:xfrm>
          <a:prstGeom prst="rect">
            <a:avLst/>
          </a:prstGeom>
          <a:noFill/>
          <a:ln w="0">
            <a:noFill/>
          </a:ln>
        </p:spPr>
        <p:txBody>
          <a:bodyPr>
            <a:noAutofit/>
          </a:bodyPr>
          <a:lstStyle/>
          <a:p>
            <a:pPr>
              <a:defRPr sz="2025" b="1">
                <a:solidFill>
                  <a:srgbClr val="075C9C"/>
                </a:solidFill>
                <a:latin typeface="DejaVu Sans"/>
                <a:ea typeface="DejaVu Sans"/>
                <a:cs typeface="DejaVu Sans"/>
              </a:defRPr>
            </a:pPr>
            <a:r>
              <a:rPr sz="2025" b="1">
                <a:solidFill>
                  <a:srgbClr val="075C9C"/>
                </a:solidFill>
                <a:latin typeface="DejaVu Sans"/>
                <a:ea typeface="DejaVu Sans"/>
                <a:cs typeface="DejaVu Sans"/>
              </a:rPr>
              <a:t>7.0</a:t>
            </a:r>
          </a:p>
        </p:txBody>
      </p:sp>
      <p:sp>
        <p:nvSpPr>
          <p:cNvPr id="27" name="Rectangle 26">
            <a:extLst>
              <a:ext uri="{FF2B5EF4-FFF2-40B4-BE49-F238E27FC236}">
                <a16:creationId xmlns:a16="http://schemas.microsoft.com/office/drawing/2014/main" id="{E6B65C54-ABDF-402C-A67B-AAD3495857DA}"/>
              </a:ext>
            </a:extLst>
          </p:cNvPr>
          <p:cNvSpPr>
            <a:spLocks noGrp="1"/>
          </p:cNvSpPr>
          <p:nvPr/>
        </p:nvSpPr>
        <p:spPr>
          <a:xfrm>
            <a:off x="666750" y="5429250"/>
            <a:ext cx="5715000" cy="428625"/>
          </a:xfrm>
          <a:prstGeom prst="rect">
            <a:avLst/>
          </a:prstGeom>
          <a:noFill/>
          <a:ln w="0">
            <a:noFill/>
          </a:ln>
        </p:spPr>
        <p:txBody>
          <a:bodyPr>
            <a:noAutofit/>
          </a:bodyPr>
          <a:lstStyle/>
          <a:p>
            <a:pPr>
              <a:defRPr sz="2025" b="1">
                <a:solidFill>
                  <a:srgbClr val="102238"/>
                </a:solidFill>
                <a:latin typeface="DejaVu Sans"/>
                <a:ea typeface="DejaVu Sans"/>
                <a:cs typeface="DejaVu Sans"/>
              </a:defRPr>
            </a:pPr>
            <a:r>
              <a:rPr sz="2025" b="1">
                <a:solidFill>
                  <a:srgbClr val="102238"/>
                </a:solidFill>
                <a:latin typeface="DejaVu Sans"/>
                <a:ea typeface="DejaVu Sans"/>
                <a:cs typeface="DejaVu Sans"/>
              </a:rPr>
              <a:t>Spearman correlation: −0.717</a:t>
            </a:r>
          </a:p>
        </p:txBody>
      </p:sp>
      <p:sp>
        <p:nvSpPr>
          <p:cNvPr id="28" name="Rectangle 27">
            <a:extLst>
              <a:ext uri="{FF2B5EF4-FFF2-40B4-BE49-F238E27FC236}">
                <a16:creationId xmlns:a16="http://schemas.microsoft.com/office/drawing/2014/main" id="{85C4D235-674A-466B-A318-AFBAC954802B}"/>
              </a:ext>
            </a:extLst>
          </p:cNvPr>
          <p:cNvSpPr>
            <a:spLocks noGrp="1"/>
          </p:cNvSpPr>
          <p:nvPr/>
        </p:nvSpPr>
        <p:spPr>
          <a:xfrm>
            <a:off x="666750" y="5905500"/>
            <a:ext cx="10287000" cy="590550"/>
          </a:xfrm>
          <a:prstGeom prst="rect">
            <a:avLst/>
          </a:prstGeom>
          <a:noFill/>
          <a:ln w="0">
            <a:noFill/>
          </a:ln>
        </p:spPr>
        <p:txBody>
          <a:bodyPr>
            <a:noAutofit/>
          </a:bodyPr>
          <a:lstStyle/>
          <a:p>
            <a:pPr>
              <a:defRPr sz="1500" b="0">
                <a:solidFill>
                  <a:srgbClr val="42556A"/>
                </a:solidFill>
                <a:latin typeface="DejaVu Sans"/>
                <a:ea typeface="DejaVu Sans"/>
                <a:cs typeface="DejaVu Sans"/>
              </a:defRPr>
            </a:pPr>
            <a:r>
              <a:rPr sz="1500" b="0">
                <a:solidFill>
                  <a:srgbClr val="42556A"/>
                </a:solidFill>
                <a:latin typeface="DejaVu Sans"/>
                <a:ea typeface="DejaVu Sans"/>
                <a:cs typeface="DejaVu Sans"/>
              </a:rPr>
              <a:t>Rates: 2024 age-adjusted deaths per 100,000. Each state has equal weight.</a:t>
            </a:r>
          </a:p>
          <a:p>
            <a:pPr>
              <a:defRPr sz="1500" b="0">
                <a:solidFill>
                  <a:srgbClr val="42556A"/>
                </a:solidFill>
                <a:latin typeface="DejaVu Sans"/>
                <a:ea typeface="DejaVu Sans"/>
                <a:cs typeface="DejaVu Sans"/>
              </a:defRPr>
            </a:pPr>
            <a:r>
              <a:rPr sz="1500" b="0">
                <a:solidFill>
                  <a:srgbClr val="42556A"/>
                </a:solidFill>
                <a:latin typeface="DejaVu Sans"/>
                <a:ea typeface="DejaVu Sans"/>
                <a:cs typeface="DejaVu Sans"/>
              </a:rPr>
              <a:t>New Mexico raises the B-group mean.</a:t>
            </a:r>
          </a:p>
        </p:txBody>
      </p:sp>
    </p:spTree>
    <p:extLst>
      <p:ext uri="{BB962C8B-B14F-4D97-AF65-F5344CB8AC3E}">
        <p14:creationId xmlns:p14="http://schemas.microsoft.com/office/powerpoint/2010/main" val="1607116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3E56A8-7149-4B27-9B0E-731B1162478A}"/>
              </a:ext>
            </a:extLst>
          </p:cNvPr>
          <p:cNvSpPr>
            <a:spLocks noGrp="1"/>
          </p:cNvSpPr>
          <p:nvPr/>
        </p:nvSpPr>
        <p:spPr>
          <a:xfrm>
            <a:off x="571500" y="333375"/>
            <a:ext cx="11049000" cy="742950"/>
          </a:xfrm>
          <a:prstGeom prst="rect">
            <a:avLst/>
          </a:prstGeom>
          <a:noFill/>
          <a:ln w="0">
            <a:noFill/>
          </a:ln>
        </p:spPr>
        <p:txBody>
          <a:bodyPr>
            <a:noAutofit/>
          </a:bodyPr>
          <a:lstStyle/>
          <a:p>
            <a:pPr>
              <a:defRPr sz="2700" b="1">
                <a:solidFill>
                  <a:srgbClr val="102238"/>
                </a:solidFill>
                <a:latin typeface="DejaVu Sans"/>
                <a:ea typeface="DejaVu Sans"/>
                <a:cs typeface="DejaVu Sans"/>
              </a:defRPr>
            </a:pPr>
            <a:r>
              <a:rPr sz="2700" b="1">
                <a:solidFill>
                  <a:srgbClr val="102238"/>
                </a:solidFill>
                <a:latin typeface="DejaVu Sans"/>
                <a:ea typeface="DejaVu Sans"/>
                <a:cs typeface="DejaVu Sans"/>
              </a:rPr>
              <a:t>The evidence supports an association</a:t>
            </a:r>
          </a:p>
        </p:txBody>
      </p:sp>
      <p:sp>
        <p:nvSpPr>
          <p:cNvPr id="2" name="Rectangle 1">
            <a:extLst>
              <a:ext uri="{FF2B5EF4-FFF2-40B4-BE49-F238E27FC236}">
                <a16:creationId xmlns:a16="http://schemas.microsoft.com/office/drawing/2014/main" id="{121A1F79-D45B-4115-AB4C-B4453E72A814}"/>
              </a:ext>
            </a:extLst>
          </p:cNvPr>
          <p:cNvSpPr>
            <a:spLocks noGrp="1"/>
          </p:cNvSpPr>
          <p:nvPr/>
        </p:nvSpPr>
        <p:spPr>
          <a:xfrm>
            <a:off x="11239500" y="6305550"/>
            <a:ext cx="571500" cy="228600"/>
          </a:xfrm>
          <a:prstGeom prst="rect">
            <a:avLst/>
          </a:prstGeom>
          <a:noFill/>
          <a:ln w="0">
            <a:noFill/>
          </a:ln>
        </p:spPr>
        <p:txBody>
          <a:bodyPr>
            <a:noAutofit/>
          </a:bodyPr>
          <a:lstStyle/>
          <a:p>
            <a:pPr>
              <a:defRPr sz="1200" b="0">
                <a:solidFill>
                  <a:srgbClr val="42556A"/>
                </a:solidFill>
                <a:latin typeface="DejaVu Sans"/>
                <a:ea typeface="DejaVu Sans"/>
                <a:cs typeface="DejaVu Sans"/>
              </a:defRPr>
            </a:pPr>
            <a:r>
              <a:rPr sz="1200" b="0">
                <a:solidFill>
                  <a:srgbClr val="42556A"/>
                </a:solidFill>
                <a:latin typeface="DejaVu Sans"/>
                <a:ea typeface="DejaVu Sans"/>
                <a:cs typeface="DejaVu Sans"/>
              </a:rPr>
              <a:t>7</a:t>
            </a:r>
          </a:p>
        </p:txBody>
      </p:sp>
      <p:sp>
        <p:nvSpPr>
          <p:cNvPr id="3" name="Rectangle 2">
            <a:extLst>
              <a:ext uri="{FF2B5EF4-FFF2-40B4-BE49-F238E27FC236}">
                <a16:creationId xmlns:a16="http://schemas.microsoft.com/office/drawing/2014/main" id="{0DB9B1A7-34F4-4E3E-A9EA-DC1C68CAECBE}"/>
              </a:ext>
            </a:extLst>
          </p:cNvPr>
          <p:cNvSpPr>
            <a:spLocks noGrp="1"/>
          </p:cNvSpPr>
          <p:nvPr/>
        </p:nvSpPr>
        <p:spPr>
          <a:xfrm>
            <a:off x="571500" y="1428750"/>
            <a:ext cx="10477500" cy="428625"/>
          </a:xfrm>
          <a:prstGeom prst="rect">
            <a:avLst/>
          </a:prstGeom>
          <a:noFill/>
          <a:ln w="0">
            <a:noFill/>
          </a:ln>
        </p:spPr>
        <p:txBody>
          <a:bodyPr>
            <a:noAutofit/>
          </a:bodyPr>
          <a:lstStyle/>
          <a:p>
            <a:pPr>
              <a:defRPr sz="2100" b="1">
                <a:solidFill>
                  <a:srgbClr val="102238"/>
                </a:solidFill>
                <a:latin typeface="DejaVu Sans"/>
                <a:ea typeface="DejaVu Sans"/>
                <a:cs typeface="DejaVu Sans"/>
              </a:defRPr>
            </a:pPr>
            <a:r>
              <a:rPr sz="2100" b="1">
                <a:solidFill>
                  <a:srgbClr val="102238"/>
                </a:solidFill>
                <a:latin typeface="DejaVu Sans"/>
                <a:ea typeface="DejaVu Sans"/>
                <a:cs typeface="DejaVu Sans"/>
              </a:rPr>
              <a:t>Observed answer</a:t>
            </a:r>
          </a:p>
        </p:txBody>
      </p:sp>
      <p:sp>
        <p:nvSpPr>
          <p:cNvPr id="4" name="Rectangle 3">
            <a:extLst>
              <a:ext uri="{FF2B5EF4-FFF2-40B4-BE49-F238E27FC236}">
                <a16:creationId xmlns:a16="http://schemas.microsoft.com/office/drawing/2014/main" id="{5EC67A28-0601-40D6-BB9E-37182683D8DC}"/>
              </a:ext>
            </a:extLst>
          </p:cNvPr>
          <p:cNvSpPr>
            <a:spLocks noGrp="1"/>
          </p:cNvSpPr>
          <p:nvPr/>
        </p:nvSpPr>
        <p:spPr>
          <a:xfrm>
            <a:off x="571500" y="2047875"/>
            <a:ext cx="10477500" cy="952500"/>
          </a:xfrm>
          <a:prstGeom prst="rect">
            <a:avLst/>
          </a:prstGeom>
          <a:noFill/>
          <a:ln w="0">
            <a:noFill/>
          </a:ln>
        </p:spPr>
        <p:txBody>
          <a:bodyPr>
            <a:noAutofit/>
          </a:bodyPr>
          <a:lstStyle/>
          <a:p>
            <a:pPr>
              <a:defRPr sz="2325" b="0">
                <a:solidFill>
                  <a:srgbClr val="102238"/>
                </a:solidFill>
                <a:latin typeface="DejaVu Sans"/>
                <a:ea typeface="DejaVu Sans"/>
                <a:cs typeface="DejaVu Sans"/>
              </a:defRPr>
            </a:pPr>
            <a:r>
              <a:rPr sz="2325" b="0">
                <a:solidFill>
                  <a:srgbClr val="102238"/>
                </a:solidFill>
                <a:latin typeface="DejaVu Sans"/>
                <a:ea typeface="DejaVu Sans"/>
                <a:cs typeface="DejaVu Sans"/>
              </a:rPr>
              <a:t>Stronger 2024 law grades tend to accompany</a:t>
            </a:r>
          </a:p>
          <a:p>
            <a:pPr>
              <a:defRPr sz="2325" b="0">
                <a:solidFill>
                  <a:srgbClr val="102238"/>
                </a:solidFill>
                <a:latin typeface="DejaVu Sans"/>
                <a:ea typeface="DejaVu Sans"/>
                <a:cs typeface="DejaVu Sans"/>
              </a:defRPr>
            </a:pPr>
            <a:r>
              <a:rPr sz="2325" b="0">
                <a:solidFill>
                  <a:srgbClr val="102238"/>
                </a:solidFill>
                <a:latin typeface="DejaVu Sans"/>
                <a:ea typeface="DejaVu Sans"/>
                <a:cs typeface="DejaVu Sans"/>
              </a:rPr>
              <a:t>lower 2024 age-adjusted firearm mortality.</a:t>
            </a:r>
          </a:p>
        </p:txBody>
      </p:sp>
      <p:sp>
        <p:nvSpPr>
          <p:cNvPr id="5" name="Rectangle 4">
            <a:extLst>
              <a:ext uri="{FF2B5EF4-FFF2-40B4-BE49-F238E27FC236}">
                <a16:creationId xmlns:a16="http://schemas.microsoft.com/office/drawing/2014/main" id="{94956871-193D-4044-A132-CFA37E0099AB}"/>
              </a:ext>
            </a:extLst>
          </p:cNvPr>
          <p:cNvSpPr>
            <a:spLocks noGrp="1"/>
          </p:cNvSpPr>
          <p:nvPr/>
        </p:nvSpPr>
        <p:spPr>
          <a:xfrm>
            <a:off x="571500" y="3429000"/>
            <a:ext cx="10477500" cy="428625"/>
          </a:xfrm>
          <a:prstGeom prst="rect">
            <a:avLst/>
          </a:prstGeom>
          <a:noFill/>
          <a:ln w="0">
            <a:noFill/>
          </a:ln>
        </p:spPr>
        <p:txBody>
          <a:bodyPr>
            <a:noAutofit/>
          </a:bodyPr>
          <a:lstStyle/>
          <a:p>
            <a:pPr>
              <a:defRPr sz="2100" b="1">
                <a:solidFill>
                  <a:srgbClr val="102238"/>
                </a:solidFill>
                <a:latin typeface="DejaVu Sans"/>
                <a:ea typeface="DejaVu Sans"/>
                <a:cs typeface="DejaVu Sans"/>
              </a:defRPr>
            </a:pPr>
            <a:r>
              <a:rPr sz="2100" b="1">
                <a:solidFill>
                  <a:srgbClr val="102238"/>
                </a:solidFill>
                <a:latin typeface="DejaVu Sans"/>
                <a:ea typeface="DejaVu Sans"/>
                <a:cs typeface="DejaVu Sans"/>
              </a:rPr>
              <a:t>Limits that affect the conclusion</a:t>
            </a:r>
          </a:p>
        </p:txBody>
      </p:sp>
      <p:sp>
        <p:nvSpPr>
          <p:cNvPr id="6" name="Rectangle 5">
            <a:extLst>
              <a:ext uri="{FF2B5EF4-FFF2-40B4-BE49-F238E27FC236}">
                <a16:creationId xmlns:a16="http://schemas.microsoft.com/office/drawing/2014/main" id="{983054B0-254E-4379-9084-A7ABC1F2012A}"/>
              </a:ext>
            </a:extLst>
          </p:cNvPr>
          <p:cNvSpPr>
            <a:spLocks noGrp="1"/>
          </p:cNvSpPr>
          <p:nvPr/>
        </p:nvSpPr>
        <p:spPr>
          <a:xfrm>
            <a:off x="571500" y="4000500"/>
            <a:ext cx="10668000" cy="1476375"/>
          </a:xfrm>
          <a:prstGeom prst="rect">
            <a:avLst/>
          </a:prstGeom>
          <a:noFill/>
          <a:ln w="0">
            <a:noFill/>
          </a:ln>
        </p:spPr>
        <p:txBody>
          <a:bodyPr>
            <a:noAutofit/>
          </a:bodyPr>
          <a:lstStyle/>
          <a:p>
            <a:pPr>
              <a:defRPr sz="1800" b="0">
                <a:solidFill>
                  <a:srgbClr val="102238"/>
                </a:solidFill>
                <a:latin typeface="DejaVu Sans"/>
                <a:ea typeface="DejaVu Sans"/>
                <a:cs typeface="DejaVu Sans"/>
              </a:defRPr>
            </a:pPr>
            <a:r>
              <a:rPr sz="1800" b="0">
                <a:solidFill>
                  <a:srgbClr val="102238"/>
                </a:solidFill>
                <a:latin typeface="DejaVu Sans"/>
                <a:ea typeface="DejaVu Sans"/>
                <a:cs typeface="DejaVu Sans"/>
              </a:rPr>
              <a:t>Other state characteristics and policy timing remain uncontrolled.</a:t>
            </a:r>
          </a:p>
          <a:p>
            <a:pPr>
              <a:defRPr sz="1800" b="0">
                <a:solidFill>
                  <a:srgbClr val="102238"/>
                </a:solidFill>
                <a:latin typeface="DejaVu Sans"/>
                <a:ea typeface="DejaVu Sans"/>
                <a:cs typeface="DejaVu Sans"/>
              </a:defRPr>
            </a:pPr>
            <a:r>
              <a:rPr sz="1800" b="0">
                <a:solidFill>
                  <a:srgbClr val="102238"/>
                </a:solidFill>
                <a:latin typeface="DejaVu Sans"/>
                <a:ea typeface="DejaVu Sans"/>
                <a:cs typeface="DejaVu Sans"/>
              </a:rPr>
              <a:t>The law grades come from one advocacy organization.</a:t>
            </a:r>
          </a:p>
          <a:p>
            <a:pPr>
              <a:defRPr sz="1800" b="0">
                <a:solidFill>
                  <a:srgbClr val="102238"/>
                </a:solidFill>
                <a:latin typeface="DejaVu Sans"/>
                <a:ea typeface="DejaVu Sans"/>
                <a:cs typeface="DejaVu Sans"/>
              </a:defRPr>
            </a:pPr>
            <a:r>
              <a:rPr sz="1800" b="0">
                <a:solidFill>
                  <a:srgbClr val="102238"/>
                </a:solidFill>
                <a:latin typeface="DejaVu Sans"/>
                <a:ea typeface="DejaVu Sans"/>
                <a:cs typeface="DejaVu Sans"/>
              </a:rPr>
              <a:t>All firearm deaths combine several intents with different causes.</a:t>
            </a:r>
          </a:p>
        </p:txBody>
      </p:sp>
      <p:sp>
        <p:nvSpPr>
          <p:cNvPr id="7" name="Rectangle 6">
            <a:extLst>
              <a:ext uri="{FF2B5EF4-FFF2-40B4-BE49-F238E27FC236}">
                <a16:creationId xmlns:a16="http://schemas.microsoft.com/office/drawing/2014/main" id="{9F5BAD84-3B55-4265-A4C5-0331BCFD0524}"/>
              </a:ext>
            </a:extLst>
          </p:cNvPr>
          <p:cNvSpPr>
            <a:spLocks noGrp="1"/>
          </p:cNvSpPr>
          <p:nvPr/>
        </p:nvSpPr>
        <p:spPr>
          <a:xfrm>
            <a:off x="571500" y="5715000"/>
            <a:ext cx="10668000" cy="619125"/>
          </a:xfrm>
          <a:prstGeom prst="rect">
            <a:avLst/>
          </a:prstGeom>
          <a:noFill/>
          <a:ln w="0">
            <a:noFill/>
          </a:ln>
        </p:spPr>
        <p:txBody>
          <a:bodyPr>
            <a:noAutofit/>
          </a:bodyPr>
          <a:lstStyle/>
          <a:p>
            <a:pPr>
              <a:defRPr sz="1725" b="0">
                <a:solidFill>
                  <a:srgbClr val="42556A"/>
                </a:solidFill>
                <a:latin typeface="DejaVu Sans"/>
                <a:ea typeface="DejaVu Sans"/>
                <a:cs typeface="DejaVu Sans"/>
              </a:defRPr>
            </a:pPr>
            <a:r>
              <a:rPr sz="1725" b="0">
                <a:solidFill>
                  <a:srgbClr val="42556A"/>
                </a:solidFill>
                <a:latin typeface="DejaVu Sans"/>
                <a:ea typeface="DejaVu Sans"/>
                <a:cs typeface="DejaVu Sans"/>
              </a:rPr>
              <a:t>A stronger causal test would track law changes and mortality across years</a:t>
            </a:r>
          </a:p>
          <a:p>
            <a:pPr>
              <a:defRPr sz="1725" b="0">
                <a:solidFill>
                  <a:srgbClr val="42556A"/>
                </a:solidFill>
                <a:latin typeface="DejaVu Sans"/>
                <a:ea typeface="DejaVu Sans"/>
                <a:cs typeface="DejaVu Sans"/>
              </a:defRPr>
            </a:pPr>
            <a:r>
              <a:rPr sz="1725" b="0">
                <a:solidFill>
                  <a:srgbClr val="42556A"/>
                </a:solidFill>
                <a:latin typeface="DejaVu Sans"/>
                <a:ea typeface="DejaVu Sans"/>
                <a:cs typeface="DejaVu Sans"/>
              </a:rPr>
              <a:t>with suitable comparison states and controls.</a:t>
            </a:r>
          </a:p>
        </p:txBody>
      </p:sp>
    </p:spTree>
    <p:extLst>
      <p:ext uri="{BB962C8B-B14F-4D97-AF65-F5344CB8AC3E}">
        <p14:creationId xmlns:p14="http://schemas.microsoft.com/office/powerpoint/2010/main" val="573312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7C96B82-F8EF-4E7B-9611-66D877C9C27B}"/>
              </a:ext>
            </a:extLst>
          </p:cNvPr>
          <p:cNvSpPr>
            <a:spLocks noGrp="1"/>
          </p:cNvSpPr>
          <p:nvPr/>
        </p:nvSpPr>
        <p:spPr>
          <a:xfrm>
            <a:off x="571500" y="333375"/>
            <a:ext cx="11049000" cy="742950"/>
          </a:xfrm>
          <a:prstGeom prst="rect">
            <a:avLst/>
          </a:prstGeom>
          <a:noFill/>
          <a:ln w="0">
            <a:noFill/>
          </a:ln>
        </p:spPr>
        <p:txBody>
          <a:bodyPr>
            <a:noAutofit/>
          </a:bodyPr>
          <a:lstStyle/>
          <a:p>
            <a:pPr>
              <a:defRPr sz="2700" b="1">
                <a:solidFill>
                  <a:srgbClr val="102238"/>
                </a:solidFill>
                <a:latin typeface="DejaVu Sans"/>
                <a:ea typeface="DejaVu Sans"/>
                <a:cs typeface="DejaVu Sans"/>
              </a:defRPr>
            </a:pPr>
            <a:r>
              <a:rPr sz="2700" b="1">
                <a:solidFill>
                  <a:srgbClr val="102238"/>
                </a:solidFill>
                <a:latin typeface="DejaVu Sans"/>
                <a:ea typeface="DejaVu Sans"/>
                <a:cs typeface="DejaVu Sans"/>
              </a:rPr>
              <a:t>Sources, visual choices and reproducibility</a:t>
            </a:r>
          </a:p>
        </p:txBody>
      </p:sp>
      <p:sp>
        <p:nvSpPr>
          <p:cNvPr id="2" name="Rectangle 1">
            <a:extLst>
              <a:ext uri="{FF2B5EF4-FFF2-40B4-BE49-F238E27FC236}">
                <a16:creationId xmlns:a16="http://schemas.microsoft.com/office/drawing/2014/main" id="{314F90B1-36CD-4CD4-8A18-15FEE31FA048}"/>
              </a:ext>
            </a:extLst>
          </p:cNvPr>
          <p:cNvSpPr>
            <a:spLocks noGrp="1"/>
          </p:cNvSpPr>
          <p:nvPr/>
        </p:nvSpPr>
        <p:spPr>
          <a:xfrm>
            <a:off x="11239500" y="6305550"/>
            <a:ext cx="571500" cy="228600"/>
          </a:xfrm>
          <a:prstGeom prst="rect">
            <a:avLst/>
          </a:prstGeom>
          <a:noFill/>
          <a:ln w="0">
            <a:noFill/>
          </a:ln>
        </p:spPr>
        <p:txBody>
          <a:bodyPr>
            <a:noAutofit/>
          </a:bodyPr>
          <a:lstStyle/>
          <a:p>
            <a:pPr>
              <a:defRPr sz="1200" b="0">
                <a:solidFill>
                  <a:srgbClr val="42556A"/>
                </a:solidFill>
                <a:latin typeface="DejaVu Sans"/>
                <a:ea typeface="DejaVu Sans"/>
                <a:cs typeface="DejaVu Sans"/>
              </a:defRPr>
            </a:pPr>
            <a:r>
              <a:rPr sz="1200" b="0">
                <a:solidFill>
                  <a:srgbClr val="42556A"/>
                </a:solidFill>
                <a:latin typeface="DejaVu Sans"/>
                <a:ea typeface="DejaVu Sans"/>
                <a:cs typeface="DejaVu Sans"/>
              </a:rPr>
              <a:t>8</a:t>
            </a:r>
          </a:p>
        </p:txBody>
      </p:sp>
      <p:sp>
        <p:nvSpPr>
          <p:cNvPr id="3" name="Rectangle 2">
            <a:extLst>
              <a:ext uri="{FF2B5EF4-FFF2-40B4-BE49-F238E27FC236}">
                <a16:creationId xmlns:a16="http://schemas.microsoft.com/office/drawing/2014/main" id="{72915A55-49E1-4725-8E8C-1553D87FC08D}"/>
              </a:ext>
            </a:extLst>
          </p:cNvPr>
          <p:cNvSpPr>
            <a:spLocks noGrp="1"/>
          </p:cNvSpPr>
          <p:nvPr/>
        </p:nvSpPr>
        <p:spPr>
          <a:xfrm>
            <a:off x="571500" y="1428750"/>
            <a:ext cx="10477500" cy="333375"/>
          </a:xfrm>
          <a:prstGeom prst="rect">
            <a:avLst/>
          </a:prstGeom>
          <a:noFill/>
          <a:ln w="0">
            <a:noFill/>
          </a:ln>
        </p:spPr>
        <p:txBody>
          <a:bodyPr>
            <a:noAutofit/>
          </a:bodyPr>
          <a:lstStyle/>
          <a:p>
            <a:pPr>
              <a:defRPr sz="1875" b="1">
                <a:solidFill>
                  <a:srgbClr val="102238"/>
                </a:solidFill>
                <a:latin typeface="DejaVu Sans"/>
                <a:ea typeface="DejaVu Sans"/>
                <a:cs typeface="DejaVu Sans"/>
              </a:defRPr>
            </a:pPr>
            <a:r>
              <a:rPr sz="1875" b="1">
                <a:solidFill>
                  <a:srgbClr val="102238"/>
                </a:solidFill>
                <a:latin typeface="DejaVu Sans"/>
                <a:ea typeface="DejaVu Sans"/>
                <a:cs typeface="DejaVu Sans"/>
              </a:rPr>
              <a:t>CDC NCHS API</a:t>
            </a:r>
          </a:p>
        </p:txBody>
      </p:sp>
      <p:sp>
        <p:nvSpPr>
          <p:cNvPr id="4" name="Rectangle 3">
            <a:extLst>
              <a:ext uri="{FF2B5EF4-FFF2-40B4-BE49-F238E27FC236}">
                <a16:creationId xmlns:a16="http://schemas.microsoft.com/office/drawing/2014/main" id="{ADD9241A-B7F0-4AF3-8774-895F1EACB738}"/>
              </a:ext>
            </a:extLst>
          </p:cNvPr>
          <p:cNvSpPr>
            <a:spLocks noGrp="1"/>
          </p:cNvSpPr>
          <p:nvPr/>
        </p:nvSpPr>
        <p:spPr>
          <a:xfrm>
            <a:off x="571500" y="1857375"/>
            <a:ext cx="10477500" cy="714375"/>
          </a:xfrm>
          <a:prstGeom prst="rect">
            <a:avLst/>
          </a:prstGeom>
          <a:noFill/>
          <a:ln w="0">
            <a:noFill/>
          </a:ln>
        </p:spPr>
        <p:txBody>
          <a:bodyPr>
            <a:noAutofit/>
          </a:bodyPr>
          <a:lstStyle/>
          <a:p>
            <a:pPr>
              <a:defRPr sz="1650" b="0">
                <a:solidFill>
                  <a:srgbClr val="102238"/>
                </a:solidFill>
                <a:latin typeface="DejaVu Sans"/>
                <a:ea typeface="DejaVu Sans"/>
                <a:cs typeface="DejaVu Sans"/>
              </a:defRPr>
            </a:pPr>
            <a:r>
              <a:rPr sz="1650" b="0">
                <a:solidFill>
                  <a:srgbClr val="102238"/>
                </a:solidFill>
                <a:latin typeface="DejaVu Sans"/>
                <a:ea typeface="DejaVu Sans"/>
                <a:cs typeface="DejaVu Sans"/>
              </a:rPr>
              <a:t>data.cdc.gov/resource/489q-934x.json</a:t>
            </a:r>
          </a:p>
          <a:p>
            <a:pPr>
              <a:defRPr sz="1650" b="0">
                <a:solidFill>
                  <a:srgbClr val="102238"/>
                </a:solidFill>
                <a:latin typeface="DejaVu Sans"/>
                <a:ea typeface="DejaVu Sans"/>
                <a:cs typeface="DejaVu Sans"/>
              </a:defRPr>
            </a:pPr>
            <a:r>
              <a:rPr sz="1650" b="0">
                <a:solidFill>
                  <a:srgbClr val="102238"/>
                </a:solidFill>
                <a:latin typeface="DejaVu Sans"/>
                <a:ea typeface="DejaVu Sans"/>
                <a:cs typeface="DejaVu Sans"/>
              </a:rPr>
              <a:t>Annual 2024 age-adjusted firearm-related injury rates</a:t>
            </a:r>
          </a:p>
        </p:txBody>
      </p:sp>
      <p:sp>
        <p:nvSpPr>
          <p:cNvPr id="5" name="Rectangle 4">
            <a:extLst>
              <a:ext uri="{FF2B5EF4-FFF2-40B4-BE49-F238E27FC236}">
                <a16:creationId xmlns:a16="http://schemas.microsoft.com/office/drawing/2014/main" id="{FDCE86F3-A5FC-4F6F-B044-A59C0EC399A2}"/>
              </a:ext>
            </a:extLst>
          </p:cNvPr>
          <p:cNvSpPr>
            <a:spLocks noGrp="1"/>
          </p:cNvSpPr>
          <p:nvPr/>
        </p:nvSpPr>
        <p:spPr>
          <a:xfrm>
            <a:off x="571500" y="2809875"/>
            <a:ext cx="10477500" cy="333375"/>
          </a:xfrm>
          <a:prstGeom prst="rect">
            <a:avLst/>
          </a:prstGeom>
          <a:noFill/>
          <a:ln w="0">
            <a:noFill/>
          </a:ln>
        </p:spPr>
        <p:txBody>
          <a:bodyPr>
            <a:noAutofit/>
          </a:bodyPr>
          <a:lstStyle/>
          <a:p>
            <a:pPr>
              <a:defRPr sz="1875" b="1">
                <a:solidFill>
                  <a:srgbClr val="102238"/>
                </a:solidFill>
                <a:latin typeface="DejaVu Sans"/>
                <a:ea typeface="DejaVu Sans"/>
                <a:cs typeface="DejaVu Sans"/>
              </a:defRPr>
            </a:pPr>
            <a:r>
              <a:rPr sz="1875" b="1">
                <a:solidFill>
                  <a:srgbClr val="102238"/>
                </a:solidFill>
                <a:latin typeface="DejaVu Sans"/>
                <a:ea typeface="DejaVu Sans"/>
                <a:cs typeface="DejaVu Sans"/>
              </a:rPr>
              <a:t>GIFFORDS 2024 scorecard</a:t>
            </a:r>
          </a:p>
        </p:txBody>
      </p:sp>
      <p:sp>
        <p:nvSpPr>
          <p:cNvPr id="6" name="Rectangle 5">
            <a:extLst>
              <a:ext uri="{FF2B5EF4-FFF2-40B4-BE49-F238E27FC236}">
                <a16:creationId xmlns:a16="http://schemas.microsoft.com/office/drawing/2014/main" id="{DA2E8F71-2032-4589-A27A-4103D9F18EFB}"/>
              </a:ext>
            </a:extLst>
          </p:cNvPr>
          <p:cNvSpPr>
            <a:spLocks noGrp="1"/>
          </p:cNvSpPr>
          <p:nvPr/>
        </p:nvSpPr>
        <p:spPr>
          <a:xfrm>
            <a:off x="571500" y="3238500"/>
            <a:ext cx="10477500" cy="714375"/>
          </a:xfrm>
          <a:prstGeom prst="rect">
            <a:avLst/>
          </a:prstGeom>
          <a:noFill/>
          <a:ln w="0">
            <a:noFill/>
          </a:ln>
        </p:spPr>
        <p:txBody>
          <a:bodyPr>
            <a:noAutofit/>
          </a:bodyPr>
          <a:lstStyle/>
          <a:p>
            <a:pPr>
              <a:defRPr sz="1650" b="0">
                <a:solidFill>
                  <a:srgbClr val="102238"/>
                </a:solidFill>
                <a:latin typeface="DejaVu Sans"/>
                <a:ea typeface="DejaVu Sans"/>
                <a:cs typeface="DejaVu Sans"/>
              </a:defRPr>
            </a:pPr>
            <a:r>
              <a:rPr sz="1650" b="0">
                <a:solidFill>
                  <a:srgbClr val="102238"/>
                </a:solidFill>
                <a:latin typeface="DejaVu Sans"/>
                <a:ea typeface="DejaVu Sans"/>
                <a:cs typeface="DejaVu Sans"/>
              </a:rPr>
              <a:t>giffords.org/resources/scorecard2024/</a:t>
            </a:r>
          </a:p>
          <a:p>
            <a:pPr>
              <a:defRPr sz="1650" b="0">
                <a:solidFill>
                  <a:srgbClr val="102238"/>
                </a:solidFill>
                <a:latin typeface="DejaVu Sans"/>
                <a:ea typeface="DejaVu Sans"/>
                <a:cs typeface="DejaVu Sans"/>
              </a:defRPr>
            </a:pPr>
            <a:r>
              <a:rPr sz="1650" b="0">
                <a:solidFill>
                  <a:srgbClr val="102238"/>
                </a:solidFill>
                <a:latin typeface="DejaVu Sans"/>
                <a:ea typeface="DejaVu Sans"/>
                <a:cs typeface="DejaVu Sans"/>
              </a:rPr>
              <a:t>Law grades recoded to five ordered bins; original grades retained</a:t>
            </a:r>
          </a:p>
        </p:txBody>
      </p:sp>
      <p:sp>
        <p:nvSpPr>
          <p:cNvPr id="7" name="Rectangle 6">
            <a:extLst>
              <a:ext uri="{FF2B5EF4-FFF2-40B4-BE49-F238E27FC236}">
                <a16:creationId xmlns:a16="http://schemas.microsoft.com/office/drawing/2014/main" id="{6AFBA78F-1976-4C64-8B60-051B06998F6F}"/>
              </a:ext>
            </a:extLst>
          </p:cNvPr>
          <p:cNvSpPr>
            <a:spLocks noGrp="1"/>
          </p:cNvSpPr>
          <p:nvPr/>
        </p:nvSpPr>
        <p:spPr>
          <a:xfrm>
            <a:off x="571500" y="4191000"/>
            <a:ext cx="10477500" cy="333375"/>
          </a:xfrm>
          <a:prstGeom prst="rect">
            <a:avLst/>
          </a:prstGeom>
          <a:noFill/>
          <a:ln w="0">
            <a:noFill/>
          </a:ln>
        </p:spPr>
        <p:txBody>
          <a:bodyPr>
            <a:noAutofit/>
          </a:bodyPr>
          <a:lstStyle/>
          <a:p>
            <a:pPr>
              <a:defRPr sz="1875" b="1">
                <a:solidFill>
                  <a:srgbClr val="102238"/>
                </a:solidFill>
                <a:latin typeface="DejaVu Sans"/>
                <a:ea typeface="DejaVu Sans"/>
                <a:cs typeface="DejaVu Sans"/>
              </a:defRPr>
            </a:pPr>
            <a:r>
              <a:rPr sz="1875" b="1">
                <a:solidFill>
                  <a:srgbClr val="102238"/>
                </a:solidFill>
                <a:latin typeface="DejaVu Sans"/>
                <a:ea typeface="DejaVu Sans"/>
                <a:cs typeface="DejaVu Sans"/>
              </a:rPr>
              <a:t>R heat maps and complete supporting files</a:t>
            </a:r>
          </a:p>
        </p:txBody>
      </p:sp>
      <p:sp>
        <p:nvSpPr>
          <p:cNvPr id="8" name="Rectangle 7">
            <a:extLst>
              <a:ext uri="{FF2B5EF4-FFF2-40B4-BE49-F238E27FC236}">
                <a16:creationId xmlns:a16="http://schemas.microsoft.com/office/drawing/2014/main" id="{D3836B0B-7B08-4D09-AB1F-B09BFE88843A}"/>
              </a:ext>
            </a:extLst>
          </p:cNvPr>
          <p:cNvSpPr>
            <a:spLocks noGrp="1"/>
          </p:cNvSpPr>
          <p:nvPr/>
        </p:nvSpPr>
        <p:spPr>
          <a:xfrm>
            <a:off x="571500" y="4619625"/>
            <a:ext cx="10477500" cy="1047750"/>
          </a:xfrm>
          <a:prstGeom prst="rect">
            <a:avLst/>
          </a:prstGeom>
          <a:noFill/>
          <a:ln w="0">
            <a:noFill/>
          </a:ln>
        </p:spPr>
        <p:txBody>
          <a:bodyPr>
            <a:noAutofit/>
          </a:bodyPr>
          <a:lstStyle/>
          <a:p>
            <a:pPr>
              <a:defRPr sz="1650" b="0">
                <a:solidFill>
                  <a:srgbClr val="102238"/>
                </a:solidFill>
                <a:latin typeface="DejaVu Sans"/>
                <a:ea typeface="DejaVu Sans"/>
                <a:cs typeface="DejaVu Sans"/>
              </a:defRPr>
            </a:pPr>
            <a:r>
              <a:rPr sz="1650" b="0">
                <a:solidFill>
                  <a:srgbClr val="102238"/>
                </a:solidFill>
                <a:latin typeface="DejaVu Sans"/>
                <a:ea typeface="DejaVu Sans"/>
                <a:cs typeface="DejaVu Sans"/>
              </a:rPr>
              <a:t>Labeled equal-size tiles and accessible palettes make the states comparable.</a:t>
            </a:r>
          </a:p>
          <a:p>
            <a:pPr>
              <a:defRPr sz="1650" b="0">
                <a:solidFill>
                  <a:srgbClr val="102238"/>
                </a:solidFill>
                <a:latin typeface="DejaVu Sans"/>
                <a:ea typeface="DejaVu Sans"/>
                <a:cs typeface="DejaVu Sans"/>
              </a:defRPr>
            </a:pPr>
            <a:r>
              <a:rPr sz="1650" b="0">
                <a:solidFill>
                  <a:srgbClr val="102238"/>
                </a:solidFill>
                <a:latin typeface="DejaVu Sans"/>
                <a:ea typeface="DejaVu Sans"/>
                <a:cs typeface="DejaVu Sans"/>
              </a:rPr>
              <a:t>The package includes API evidence, source code, all 50 state assignments,</a:t>
            </a:r>
          </a:p>
          <a:p>
            <a:pPr>
              <a:defRPr sz="1650" b="0">
                <a:solidFill>
                  <a:srgbClr val="102238"/>
                </a:solidFill>
                <a:latin typeface="DejaVu Sans"/>
                <a:ea typeface="DejaVu Sans"/>
                <a:cs typeface="DejaVu Sans"/>
              </a:defRPr>
            </a:pPr>
            <a:r>
              <a:rPr sz="1650" b="0">
                <a:solidFill>
                  <a:srgbClr val="102238"/>
                </a:solidFill>
                <a:latin typeface="DejaVu Sans"/>
                <a:ea typeface="DejaVu Sans"/>
                <a:cs typeface="DejaVu Sans"/>
              </a:rPr>
              <a:t>the notebook, PNG/PDF figures and written explanations.</a:t>
            </a:r>
          </a:p>
        </p:txBody>
      </p:sp>
      <p:sp>
        <p:nvSpPr>
          <p:cNvPr id="9" name="Rectangle 8">
            <a:extLst>
              <a:ext uri="{FF2B5EF4-FFF2-40B4-BE49-F238E27FC236}">
                <a16:creationId xmlns:a16="http://schemas.microsoft.com/office/drawing/2014/main" id="{97D27368-E969-4716-96EB-AF7465CFC80F}"/>
              </a:ext>
            </a:extLst>
          </p:cNvPr>
          <p:cNvSpPr>
            <a:spLocks noGrp="1"/>
          </p:cNvSpPr>
          <p:nvPr/>
        </p:nvSpPr>
        <p:spPr>
          <a:xfrm>
            <a:off x="571500" y="5810250"/>
            <a:ext cx="10477500" cy="571500"/>
          </a:xfrm>
          <a:prstGeom prst="rect">
            <a:avLst/>
          </a:prstGeom>
          <a:noFill/>
          <a:ln w="0">
            <a:noFill/>
          </a:ln>
        </p:spPr>
        <p:txBody>
          <a:bodyPr>
            <a:noAutofit/>
          </a:bodyPr>
          <a:lstStyle/>
          <a:p>
            <a:pPr>
              <a:defRPr sz="1500" b="0">
                <a:solidFill>
                  <a:srgbClr val="42556A"/>
                </a:solidFill>
                <a:latin typeface="DejaVu Sans"/>
                <a:ea typeface="DejaVu Sans"/>
                <a:cs typeface="DejaVu Sans"/>
              </a:defRPr>
            </a:pPr>
            <a:r>
              <a:rPr sz="1500" b="0" dirty="0">
                <a:solidFill>
                  <a:srgbClr val="42556A"/>
                </a:solidFill>
                <a:latin typeface="DejaVu Sans"/>
                <a:ea typeface="DejaVu Sans"/>
                <a:cs typeface="DejaVu Sans"/>
              </a:rPr>
              <a:t>AI assisted with coding</a:t>
            </a:r>
            <a:r>
              <a:rPr lang="en-US" sz="1500" b="0" dirty="0">
                <a:solidFill>
                  <a:srgbClr val="42556A"/>
                </a:solidFill>
                <a:latin typeface="DejaVu Sans"/>
                <a:ea typeface="DejaVu Sans"/>
                <a:cs typeface="DejaVu Sans"/>
              </a:rPr>
              <a:t>,</a:t>
            </a:r>
            <a:r>
              <a:rPr sz="1500" b="0" dirty="0">
                <a:solidFill>
                  <a:srgbClr val="42556A"/>
                </a:solidFill>
                <a:latin typeface="DejaVu Sans"/>
                <a:ea typeface="DejaVu Sans"/>
                <a:cs typeface="DejaVu Sans"/>
              </a:rPr>
              <a:t> analysi</a:t>
            </a:r>
            <a:r>
              <a:rPr lang="en-US" sz="1500" b="0" dirty="0">
                <a:solidFill>
                  <a:srgbClr val="42556A"/>
                </a:solidFill>
                <a:latin typeface="DejaVu Sans"/>
                <a:ea typeface="DejaVu Sans"/>
                <a:cs typeface="DejaVu Sans"/>
              </a:rPr>
              <a:t>s</a:t>
            </a:r>
            <a:r>
              <a:rPr lang="en-US" sz="1500" dirty="0">
                <a:solidFill>
                  <a:srgbClr val="42556A"/>
                </a:solidFill>
                <a:latin typeface="DejaVu Sans"/>
                <a:ea typeface="DejaVu Sans"/>
                <a:cs typeface="DejaVu Sans"/>
              </a:rPr>
              <a:t> </a:t>
            </a:r>
            <a:r>
              <a:rPr lang="en-US" sz="1500">
                <a:solidFill>
                  <a:srgbClr val="42556A"/>
                </a:solidFill>
                <a:latin typeface="DejaVu Sans"/>
                <a:ea typeface="DejaVu Sans"/>
                <a:cs typeface="DejaVu Sans"/>
              </a:rPr>
              <a:t>and editorial review.</a:t>
            </a:r>
            <a:endParaRPr sz="1500" b="0">
              <a:solidFill>
                <a:srgbClr val="42556A"/>
              </a:solidFill>
              <a:latin typeface="DejaVu Sans"/>
              <a:ea typeface="DejaVu Sans"/>
              <a:cs typeface="DejaVu Sans"/>
            </a:endParaRPr>
          </a:p>
          <a:p>
            <a:pPr>
              <a:defRPr sz="1500" b="0">
                <a:solidFill>
                  <a:srgbClr val="42556A"/>
                </a:solidFill>
                <a:latin typeface="DejaVu Sans"/>
                <a:ea typeface="DejaVu Sans"/>
                <a:cs typeface="DejaVu Sans"/>
              </a:defRPr>
            </a:pPr>
            <a:r>
              <a:rPr sz="1500" b="0" dirty="0">
                <a:solidFill>
                  <a:srgbClr val="42556A"/>
                </a:solidFill>
                <a:latin typeface="DejaVu Sans"/>
                <a:ea typeface="DejaVu Sans"/>
                <a:cs typeface="DejaVu Sans"/>
              </a:rPr>
              <a:t>The accompanying disclosure documents this assistance.</a:t>
            </a:r>
          </a:p>
        </p:txBody>
      </p:sp>
    </p:spTree>
    <p:extLst>
      <p:ext uri="{BB962C8B-B14F-4D97-AF65-F5344CB8AC3E}">
        <p14:creationId xmlns:p14="http://schemas.microsoft.com/office/powerpoint/2010/main" val="3943756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1547</Words>
  <Application>Microsoft Office PowerPoint</Application>
  <DocSecurity>0</DocSecurity>
  <PresentationFormat>Widescreen</PresentationFormat>
  <Paragraphs>99</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Muhammad Khan</cp:lastModifiedBy>
  <cp:revision>1</cp:revision>
  <dcterms:created xsi:type="dcterms:W3CDTF">2026-10-03T19:42:03Z</dcterms:created>
  <dcterms:modified xsi:type="dcterms:W3CDTF">2026-10-11T16:53:46Z</dcterms:modified>
</cp:coreProperties>
</file>