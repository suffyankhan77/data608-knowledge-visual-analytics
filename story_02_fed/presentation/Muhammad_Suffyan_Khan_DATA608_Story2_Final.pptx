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5d66775788849ed" /><Relationship Type="http://schemas.openxmlformats.org/officeDocument/2006/relationships/extended-properties" Target="/docProps/app.xml" Id="R3ac01e47e8a2469f" /><Relationship Type="http://schemas.openxmlformats.org/officeDocument/2006/relationships/officeDocument" Target="/ppt/presentation.xml" Id="Rccb645d6e7154b97" /></Relationships>
</file>

<file path=ppt/presentation.xml><?xml version="1.0" encoding="utf-8"?>
<p:presentation xmlns:p="http://schemas.openxmlformats.org/presentationml/2006/main">
  <p:sldMasterIdLst>
    <p:sldMasterId xmlns:r="http://schemas.openxmlformats.org/officeDocument/2006/relationships" id="2147483648" r:id="R8c760defd0c943d1"/>
  </p:sldMasterIdLst>
  <p:notesMasterIdLst>
    <p:notesMasterId xmlns:r="http://schemas.openxmlformats.org/officeDocument/2006/relationships" r:id="R944be96c16de4f74"/>
  </p:notesMasterIdLst>
  <p:sldIdLst>
    <p:sldId xmlns:r="http://schemas.openxmlformats.org/officeDocument/2006/relationships" id="256" r:id="R284edecfdef9491c"/>
    <p:sldId xmlns:r="http://schemas.openxmlformats.org/officeDocument/2006/relationships" id="257" r:id="Ra11813174ce24290"/>
    <p:sldId xmlns:r="http://schemas.openxmlformats.org/officeDocument/2006/relationships" id="258" r:id="R485d8839588f4b08"/>
    <p:sldId xmlns:r="http://schemas.openxmlformats.org/officeDocument/2006/relationships" id="259" r:id="Red28bba1956e4014"/>
    <p:sldId xmlns:r="http://schemas.openxmlformats.org/officeDocument/2006/relationships" id="260" r:id="R46787d8884114cac"/>
    <p:sldId xmlns:r="http://schemas.openxmlformats.org/officeDocument/2006/relationships" id="261" r:id="R2002e8fb5e904d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c4919696234750" /><Relationship Type="http://schemas.openxmlformats.org/officeDocument/2006/relationships/slideMaster" Target="/ppt/slideMasters/slideMaster1.xml" Id="R8c760defd0c943d1" /><Relationship Type="http://schemas.openxmlformats.org/officeDocument/2006/relationships/notesMaster" Target="/ppt/notesMasters/notesMaster1.xml" Id="R944be96c16de4f74" /><Relationship Type="http://schemas.openxmlformats.org/officeDocument/2006/relationships/presProps" Target="/ppt/presProps.xml" Id="Rfac0ce66522b4c37" /><Relationship Type="http://schemas.openxmlformats.org/officeDocument/2006/relationships/tableStyles" Target="/ppt/tableStyles.xml" Id="Rb884649c71ec4136" /><Relationship Type="http://schemas.openxmlformats.org/officeDocument/2006/relationships/slide" Target="/ppt/slides/slide1.xml" Id="R284edecfdef9491c" /><Relationship Type="http://schemas.openxmlformats.org/officeDocument/2006/relationships/slide" Target="/ppt/slides/slide2.xml" Id="Ra11813174ce24290" /><Relationship Type="http://schemas.openxmlformats.org/officeDocument/2006/relationships/slide" Target="/ppt/slides/slide3.xml" Id="R485d8839588f4b08" /><Relationship Type="http://schemas.openxmlformats.org/officeDocument/2006/relationships/slide" Target="/ppt/slides/slide4.xml" Id="Red28bba1956e4014" /><Relationship Type="http://schemas.openxmlformats.org/officeDocument/2006/relationships/slide" Target="/ppt/slides/slide5.xml" Id="R46787d8884114cac" /><Relationship Type="http://schemas.openxmlformats.org/officeDocument/2006/relationships/slide" Target="/ppt/slides/slide6.xml" Id="R2002e8fb5e904d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475560a323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e275f5d86641e5" /><Relationship Type="http://schemas.openxmlformats.org/officeDocument/2006/relationships/notesMaster" Target="/ppt/notesMasters/notesMaster1.xml" Id="R03c02aabb8d741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0ef77141d14c3c" /><Relationship Type="http://schemas.openxmlformats.org/officeDocument/2006/relationships/notesMaster" Target="/ppt/notesMasters/notesMaster1.xml" Id="R3b2a973ed75147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d98369d34c4759" /><Relationship Type="http://schemas.openxmlformats.org/officeDocument/2006/relationships/notesMaster" Target="/ppt/notesMasters/notesMaster1.xml" Id="Ra6bade349e4e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0b31a8e10f4619" /><Relationship Type="http://schemas.openxmlformats.org/officeDocument/2006/relationships/notesMaster" Target="/ppt/notesMasters/notesMaster1.xml" Id="R8e2c873eb60748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c44890d0824303" /><Relationship Type="http://schemas.openxmlformats.org/officeDocument/2006/relationships/notesMaster" Target="/ppt/notesMasters/notesMaster1.xml" Id="Rbf9722d745df43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16220178494959" /><Relationship Type="http://schemas.openxmlformats.org/officeDocument/2006/relationships/notesMaster" Target="/ppt/notesMasters/notesMaster1.xml" Id="Rf6350964c16d44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BLS CPI-U CUSR0000SA0 and unemployment LNS14000000, accessed via FRED BLS mirrors for the verified run; FRED FEDFUNDS. CPI is the twelve-month percentage change in the seasonally adjusted CPI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two aligned line charts: shared year labels preserve event order while separate panels avoid equating a percentage of price change with a percentage of joblessness. Annual points are averages of available monthly values, with the missing October 2025 BLS observation omitted. Full monthly data and code are in the notebook. Sources: BLS via FRED CPIAUCSL and UNRATE.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visual: a common monthly timeline shows sequence and lag, avoiding an unsupported claim that rate changes instantly cause inflation changes. Percent units are shared; October 2025 is omitted, so the native chart line joins September and November without plotting an invented October value. The notebook interactive chart preserves a visible gap. Sources: BLS CPI-U via FRED CPIAUCSL, FRED FEDFUNDS.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separate chart: the 2020 shock dominates the scale. Isolating unemployment makes its subsequent recovery legible and prevents a cluttered three-series chart. October 2025 is omitted, so the native chart joins adjacent observed months without an invented value. The notebook chart shows a gap. Source: BLS unemployment LNS14000000 via FRED UNRATE.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Interpretation and limits: Congress mandates maximum employment and stable prices; maximum employment has no fixed unemployment threshold. The Fed’s 2% longer-run inflation objective is PCE, not CPI. Sources: Federal Reserve Statement on Longer-Run Goals and Monetary Policy Strategy; BLS and FRED series listed in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rationale for every visual is stated in the notebook and in the notes to the relevant slide. Direct BLS API code exists, but the verified run fell back to FRED mirrors after the public API daily quota was exhausted. Do not assert bonus credit without a successful BLS API run. AI assistance was used for structure, code and editorial review; the student should validate all data and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dca681eea84c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53066fb6044987" /><Relationship Type="http://schemas.openxmlformats.org/officeDocument/2006/relationships/slideLayout" Target="/ppt/slideLayouts/slideLayout1.xml" Id="R2a5d08a1d87746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5d08a1d87746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984f5569254b1e" /><Relationship Type="http://schemas.openxmlformats.org/officeDocument/2006/relationships/notesSlide" Target="/ppt/notesSlides/notesSlide1.xml" Id="Reffe2d690e5a4b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5e565d57714dc2" /><Relationship Type="http://schemas.openxmlformats.org/officeDocument/2006/relationships/chart" Target="/ppt/slides/charts/chart1.xml" Id="R09e4a1318a754d2b" /><Relationship Type="http://schemas.openxmlformats.org/officeDocument/2006/relationships/chart" Target="/ppt/slides/charts/chart2.xml" Id="Re3e6f67c15954264" /><Relationship Type="http://schemas.openxmlformats.org/officeDocument/2006/relationships/notesSlide" Target="/ppt/notesSlides/notesSlide2.xml" Id="R2130df6406fb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7258c2cbd84dfa" /><Relationship Type="http://schemas.openxmlformats.org/officeDocument/2006/relationships/chart" Target="/ppt/slides/charts/chart3.xml" Id="R33d8b35f108548c7" /><Relationship Type="http://schemas.openxmlformats.org/officeDocument/2006/relationships/notesSlide" Target="/ppt/notesSlides/notesSlide3.xml" Id="R77a26aadd97542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969a9810dc4c5e" /><Relationship Type="http://schemas.openxmlformats.org/officeDocument/2006/relationships/chart" Target="/ppt/slides/charts/chart4.xml" Id="Rac18ca9c4a4f4563" /><Relationship Type="http://schemas.openxmlformats.org/officeDocument/2006/relationships/notesSlide" Target="/ppt/notesSlides/notesSlide4.xml" Id="Rb7a60e3d558a4e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0b756f1b34c6f" /><Relationship Type="http://schemas.openxmlformats.org/officeDocument/2006/relationships/notesSlide" Target="/ppt/notesSlides/notesSlide5.xml" Id="R012c0071ee264d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f028ee3a604222" /><Relationship Type="http://schemas.openxmlformats.org/officeDocument/2006/relationships/notesSlide" Target="/ppt/notesSlides/notesSlide6.xml" Id="R40409fedec1b4f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CPI inflation</c:v>
          </c:tx>
          <c:spPr>
            <a:ln xmlns:a="http://schemas.openxmlformats.org/drawingml/2006/main" w="28575">
              <a:solidFill>
                <a:srgbClr val="D55E00"/>
              </a:solidFill>
              <a:prstDash val="solid"/>
            </a:ln>
          </c:spPr>
          <c:marker>
            <c:symbol val="none"/>
          </c:marker>
          <c:cat>
            <c:numRef>
              <c:f>'Chart Data'!$A$2:$A$25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Data'!$B$2:$B$25</c:f>
              <c:numCache>
                <c:formatCode>0.0</c:formatCode>
                <c:ptCount val="24"/>
                <c:pt idx="0">
                  <c:v>1.595</c:v>
                </c:pt>
                <c:pt idx="1">
                  <c:v>2.3</c:v>
                </c:pt>
                <c:pt idx="2">
                  <c:v>2.666</c:v>
                </c:pt>
                <c:pt idx="3">
                  <c:v>3.363</c:v>
                </c:pt>
                <c:pt idx="4">
                  <c:v>3.233</c:v>
                </c:pt>
                <c:pt idx="5">
                  <c:v>2.869</c:v>
                </c:pt>
                <c:pt idx="6">
                  <c:v>3.826</c:v>
                </c:pt>
                <c:pt idx="7">
                  <c:v>-0.307</c:v>
                </c:pt>
                <c:pt idx="8">
                  <c:v>1.641</c:v>
                </c:pt>
                <c:pt idx="9">
                  <c:v>3.139</c:v>
                </c:pt>
                <c:pt idx="10">
                  <c:v>2.077</c:v>
                </c:pt>
                <c:pt idx="11">
                  <c:v>1.467</c:v>
                </c:pt>
                <c:pt idx="12">
                  <c:v>1.617</c:v>
                </c:pt>
                <c:pt idx="13">
                  <c:v>0.121</c:v>
                </c:pt>
                <c:pt idx="14">
                  <c:v>1.267</c:v>
                </c:pt>
                <c:pt idx="15">
                  <c:v>2.133</c:v>
                </c:pt>
                <c:pt idx="16">
                  <c:v>2.44</c:v>
                </c:pt>
                <c:pt idx="17">
                  <c:v>1.813</c:v>
                </c:pt>
                <c:pt idx="18">
                  <c:v>1.255</c:v>
                </c:pt>
                <c:pt idx="19">
                  <c:v>4.677</c:v>
                </c:pt>
                <c:pt idx="20">
                  <c:v>7.998</c:v>
                </c:pt>
                <c:pt idx="21">
                  <c:v>4.146</c:v>
                </c:pt>
                <c:pt idx="22">
                  <c:v>2.954</c:v>
                </c:pt>
                <c:pt idx="23">
                  <c:v>2.692</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0"/>
        <c:axPos val="l"/>
        <c:majorGridlines>
          <c:spPr>
            <a:ln xmlns:a="http://schemas.openxmlformats.org/drawingml/2006/main" w="9525">
              <a:solidFill>
                <a:srgbClr val="E8ED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Unemployment</c:v>
          </c:tx>
          <c:spPr>
            <a:ln xmlns:a="http://schemas.openxmlformats.org/drawingml/2006/main" w="28575">
              <a:solidFill>
                <a:srgbClr val="157F70"/>
              </a:solidFill>
              <a:prstDash val="solid"/>
            </a:ln>
          </c:spPr>
          <c:marker>
            <c:symbol val="none"/>
          </c:marker>
          <c:cat>
            <c:numRef>
              <c:f>'Chart Data'!$A$2:$A$25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Data'!$B$2:$B$25</c:f>
              <c:numCache>
                <c:formatCode>0.0</c:formatCode>
                <c:ptCount val="24"/>
                <c:pt idx="0">
                  <c:v>5.783</c:v>
                </c:pt>
                <c:pt idx="1">
                  <c:v>5.992</c:v>
                </c:pt>
                <c:pt idx="2">
                  <c:v>5.542</c:v>
                </c:pt>
                <c:pt idx="3">
                  <c:v>5.083</c:v>
                </c:pt>
                <c:pt idx="4">
                  <c:v>4.608</c:v>
                </c:pt>
                <c:pt idx="5">
                  <c:v>4.617</c:v>
                </c:pt>
                <c:pt idx="6">
                  <c:v>5.8</c:v>
                </c:pt>
                <c:pt idx="7">
                  <c:v>9.283</c:v>
                </c:pt>
                <c:pt idx="8">
                  <c:v>9.608</c:v>
                </c:pt>
                <c:pt idx="9">
                  <c:v>8.933</c:v>
                </c:pt>
                <c:pt idx="10">
                  <c:v>8.075</c:v>
                </c:pt>
                <c:pt idx="11">
                  <c:v>7.358</c:v>
                </c:pt>
                <c:pt idx="12">
                  <c:v>6.158</c:v>
                </c:pt>
                <c:pt idx="13">
                  <c:v>5.275</c:v>
                </c:pt>
                <c:pt idx="14">
                  <c:v>4.875</c:v>
                </c:pt>
                <c:pt idx="15">
                  <c:v>4.358</c:v>
                </c:pt>
                <c:pt idx="16">
                  <c:v>3.892</c:v>
                </c:pt>
                <c:pt idx="17">
                  <c:v>3.675</c:v>
                </c:pt>
                <c:pt idx="18">
                  <c:v>8.1</c:v>
                </c:pt>
                <c:pt idx="19">
                  <c:v>5.35</c:v>
                </c:pt>
                <c:pt idx="20">
                  <c:v>3.65</c:v>
                </c:pt>
                <c:pt idx="21">
                  <c:v>3.625</c:v>
                </c:pt>
                <c:pt idx="22">
                  <c:v>4.025</c:v>
                </c:pt>
                <c:pt idx="23">
                  <c:v>4.264</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0"/>
        <c:axPos val="l"/>
        <c:majorGridlines>
          <c:spPr>
            <a:ln xmlns:a="http://schemas.openxmlformats.org/drawingml/2006/main" w="9525">
              <a:solidFill>
                <a:srgbClr val="E8ED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CPI inflation</c:v>
          </c:tx>
          <c:spPr>
            <a:ln xmlns:a="http://schemas.openxmlformats.org/drawingml/2006/main" w="28575">
              <a:solidFill>
                <a:srgbClr val="D55E00"/>
              </a:solidFill>
              <a:prstDash val="solid"/>
            </a:ln>
          </c:spPr>
          <c:marker>
            <c:symbol val="none"/>
          </c:marker>
          <c:cat>
            <c:strRef>
              <c:f>'Chart Data'!$A$2:$A$92</c:f>
              <c:strCache>
                <c:ptCount val="91"/>
                <c:pt idx="0">
                  <c:v>19-01</c:v>
                </c:pt>
                <c:pt idx="1">
                  <c:v>19-02</c:v>
                </c:pt>
                <c:pt idx="2">
                  <c:v>19-03</c:v>
                </c:pt>
                <c:pt idx="3">
                  <c:v>19-04</c:v>
                </c:pt>
                <c:pt idx="4">
                  <c:v>19-05</c:v>
                </c:pt>
                <c:pt idx="5">
                  <c:v>19-06</c:v>
                </c:pt>
                <c:pt idx="6">
                  <c:v>19-07</c:v>
                </c:pt>
                <c:pt idx="7">
                  <c:v>19-08</c:v>
                </c:pt>
                <c:pt idx="8">
                  <c:v>19-09</c:v>
                </c:pt>
                <c:pt idx="9">
                  <c:v>19-10</c:v>
                </c:pt>
                <c:pt idx="10">
                  <c:v>19-11</c:v>
                </c:pt>
                <c:pt idx="11">
                  <c:v>19-12</c:v>
                </c:pt>
                <c:pt idx="12">
                  <c:v>20-01</c:v>
                </c:pt>
                <c:pt idx="13">
                  <c:v>20-02</c:v>
                </c:pt>
                <c:pt idx="14">
                  <c:v>20-03</c:v>
                </c:pt>
                <c:pt idx="15">
                  <c:v>20-04</c:v>
                </c:pt>
                <c:pt idx="16">
                  <c:v>20-05</c:v>
                </c:pt>
                <c:pt idx="17">
                  <c:v>20-06</c:v>
                </c:pt>
                <c:pt idx="18">
                  <c:v>20-07</c:v>
                </c:pt>
                <c:pt idx="19">
                  <c:v>20-08</c:v>
                </c:pt>
                <c:pt idx="20">
                  <c:v>20-09</c:v>
                </c:pt>
                <c:pt idx="21">
                  <c:v>20-10</c:v>
                </c:pt>
                <c:pt idx="22">
                  <c:v>20-11</c:v>
                </c:pt>
                <c:pt idx="23">
                  <c:v>20-12</c:v>
                </c:pt>
                <c:pt idx="24">
                  <c:v>21-01</c:v>
                </c:pt>
                <c:pt idx="25">
                  <c:v>21-02</c:v>
                </c:pt>
                <c:pt idx="26">
                  <c:v>21-03</c:v>
                </c:pt>
                <c:pt idx="27">
                  <c:v>21-04</c:v>
                </c:pt>
                <c:pt idx="28">
                  <c:v>21-05</c:v>
                </c:pt>
                <c:pt idx="29">
                  <c:v>21-06</c:v>
                </c:pt>
                <c:pt idx="30">
                  <c:v>21-07</c:v>
                </c:pt>
                <c:pt idx="31">
                  <c:v>21-08</c:v>
                </c:pt>
                <c:pt idx="32">
                  <c:v>21-09</c:v>
                </c:pt>
                <c:pt idx="33">
                  <c:v>21-10</c:v>
                </c:pt>
                <c:pt idx="34">
                  <c:v>21-11</c:v>
                </c:pt>
                <c:pt idx="35">
                  <c:v>21-12</c:v>
                </c:pt>
                <c:pt idx="36">
                  <c:v>22-01</c:v>
                </c:pt>
                <c:pt idx="37">
                  <c:v>22-02</c:v>
                </c:pt>
                <c:pt idx="38">
                  <c:v>22-03</c:v>
                </c:pt>
                <c:pt idx="39">
                  <c:v>22-04</c:v>
                </c:pt>
                <c:pt idx="40">
                  <c:v>22-05</c:v>
                </c:pt>
                <c:pt idx="41">
                  <c:v>22-06</c:v>
                </c:pt>
                <c:pt idx="42">
                  <c:v>22-07</c:v>
                </c:pt>
                <c:pt idx="43">
                  <c:v>22-08</c:v>
                </c:pt>
                <c:pt idx="44">
                  <c:v>22-09</c:v>
                </c:pt>
                <c:pt idx="45">
                  <c:v>22-10</c:v>
                </c:pt>
                <c:pt idx="46">
                  <c:v>22-11</c:v>
                </c:pt>
                <c:pt idx="47">
                  <c:v>22-12</c:v>
                </c:pt>
                <c:pt idx="48">
                  <c:v>23-01</c:v>
                </c:pt>
                <c:pt idx="49">
                  <c:v>23-02</c:v>
                </c:pt>
                <c:pt idx="50">
                  <c:v>23-03</c:v>
                </c:pt>
                <c:pt idx="51">
                  <c:v>23-04</c:v>
                </c:pt>
                <c:pt idx="52">
                  <c:v>23-05</c:v>
                </c:pt>
                <c:pt idx="53">
                  <c:v>23-06</c:v>
                </c:pt>
                <c:pt idx="54">
                  <c:v>23-07</c:v>
                </c:pt>
                <c:pt idx="55">
                  <c:v>23-08</c:v>
                </c:pt>
                <c:pt idx="56">
                  <c:v>23-09</c:v>
                </c:pt>
                <c:pt idx="57">
                  <c:v>23-10</c:v>
                </c:pt>
                <c:pt idx="58">
                  <c:v>23-11</c:v>
                </c:pt>
                <c:pt idx="59">
                  <c:v>23-12</c:v>
                </c:pt>
                <c:pt idx="60">
                  <c:v>24-01</c:v>
                </c:pt>
                <c:pt idx="61">
                  <c:v>24-02</c:v>
                </c:pt>
                <c:pt idx="62">
                  <c:v>24-03</c:v>
                </c:pt>
                <c:pt idx="63">
                  <c:v>24-04</c:v>
                </c:pt>
                <c:pt idx="64">
                  <c:v>24-05</c:v>
                </c:pt>
                <c:pt idx="65">
                  <c:v>24-06</c:v>
                </c:pt>
                <c:pt idx="66">
                  <c:v>24-07</c:v>
                </c:pt>
                <c:pt idx="67">
                  <c:v>24-08</c:v>
                </c:pt>
                <c:pt idx="68">
                  <c:v>24-09</c:v>
                </c:pt>
                <c:pt idx="69">
                  <c:v>24-10</c:v>
                </c:pt>
                <c:pt idx="70">
                  <c:v>24-11</c:v>
                </c:pt>
                <c:pt idx="71">
                  <c:v>24-12</c:v>
                </c:pt>
                <c:pt idx="72">
                  <c:v>25-01</c:v>
                </c:pt>
                <c:pt idx="73">
                  <c:v>25-02</c:v>
                </c:pt>
                <c:pt idx="74">
                  <c:v>25-03</c:v>
                </c:pt>
                <c:pt idx="75">
                  <c:v>25-04</c:v>
                </c:pt>
                <c:pt idx="76">
                  <c:v>25-05</c:v>
                </c:pt>
                <c:pt idx="77">
                  <c:v>25-06</c:v>
                </c:pt>
                <c:pt idx="78">
                  <c:v>25-07</c:v>
                </c:pt>
                <c:pt idx="79">
                  <c:v>25-08</c:v>
                </c:pt>
                <c:pt idx="80">
                  <c:v>25-09</c:v>
                </c:pt>
                <c:pt idx="81">
                  <c:v>25-11</c:v>
                </c:pt>
                <c:pt idx="82">
                  <c:v>25-12</c:v>
                </c:pt>
                <c:pt idx="83">
                  <c:v>26-01</c:v>
                </c:pt>
                <c:pt idx="84">
                  <c:v>26-02</c:v>
                </c:pt>
                <c:pt idx="85">
                  <c:v>26-03</c:v>
                </c:pt>
                <c:pt idx="86">
                  <c:v>26-04</c:v>
                </c:pt>
                <c:pt idx="87">
                  <c:v>26-05</c:v>
                </c:pt>
                <c:pt idx="88">
                  <c:v>26-06</c:v>
                </c:pt>
                <c:pt idx="89">
                  <c:v>26-07</c:v>
                </c:pt>
                <c:pt idx="90">
                  <c:v>26-08</c:v>
                </c:pt>
              </c:strCache>
            </c:strRef>
          </c:cat>
          <c:val>
            <c:numRef>
              <c:f>'Chart Data'!$B$2:$B$92</c:f>
              <c:numCache>
                <c:formatCode>0.0</c:formatCode>
                <c:ptCount val="91"/>
                <c:pt idx="0">
                  <c:v>1.4876</c:v>
                </c:pt>
                <c:pt idx="1">
                  <c:v>1.5189</c:v>
                </c:pt>
                <c:pt idx="2">
                  <c:v>1.8832</c:v>
                </c:pt>
                <c:pt idx="3">
                  <c:v>2.0006</c:v>
                </c:pt>
                <c:pt idx="4">
                  <c:v>1.7959</c:v>
                </c:pt>
                <c:pt idx="5">
                  <c:v>1.6712</c:v>
                </c:pt>
                <c:pt idx="6">
                  <c:v>1.8263</c:v>
                </c:pt>
                <c:pt idx="7">
                  <c:v>1.7376</c:v>
                </c:pt>
                <c:pt idx="8">
                  <c:v>1.6845</c:v>
                </c:pt>
                <c:pt idx="9">
                  <c:v>1.734</c:v>
                </c:pt>
                <c:pt idx="10">
                  <c:v>2.0923</c:v>
                </c:pt>
                <c:pt idx="11">
                  <c:v>2.3195</c:v>
                </c:pt>
                <c:pt idx="12">
                  <c:v>2.5998</c:v>
                </c:pt>
                <c:pt idx="13">
                  <c:v>2.3413</c:v>
                </c:pt>
                <c:pt idx="14">
                  <c:v>1.494</c:v>
                </c:pt>
                <c:pt idx="15">
                  <c:v>0.313</c:v>
                </c:pt>
                <c:pt idx="16">
                  <c:v>0.1982</c:v>
                </c:pt>
                <c:pt idx="17">
                  <c:v>0.7167</c:v>
                </c:pt>
                <c:pt idx="18">
                  <c:v>0.9969</c:v>
                </c:pt>
                <c:pt idx="19">
                  <c:v>1.2811</c:v>
                </c:pt>
                <c:pt idx="20">
                  <c:v>1.391</c:v>
                </c:pt>
                <c:pt idx="21">
                  <c:v>1.2304</c:v>
                </c:pt>
                <c:pt idx="22">
                  <c:v>1.1757</c:v>
                </c:pt>
                <c:pt idx="23">
                  <c:v>1.3204</c:v>
                </c:pt>
                <c:pt idx="24">
                  <c:v>1.3738</c:v>
                </c:pt>
                <c:pt idx="25">
                  <c:v>1.6698</c:v>
                </c:pt>
                <c:pt idx="26">
                  <c:v>2.6678</c:v>
                </c:pt>
                <c:pt idx="27">
                  <c:v>4.1331</c:v>
                </c:pt>
                <c:pt idx="28">
                  <c:v>4.9183</c:v>
                </c:pt>
                <c:pt idx="29">
                  <c:v>5.2956</c:v>
                </c:pt>
                <c:pt idx="30">
                  <c:v>5.2452</c:v>
                </c:pt>
                <c:pt idx="31">
                  <c:v>5.152</c:v>
                </c:pt>
                <c:pt idx="32">
                  <c:v>5.3512</c:v>
                </c:pt>
                <c:pt idx="33">
                  <c:v>6.235</c:v>
                </c:pt>
                <c:pt idx="34">
                  <c:v>6.902</c:v>
                </c:pt>
                <c:pt idx="35">
                  <c:v>7.1743</c:v>
                </c:pt>
                <c:pt idx="36">
                  <c:v>7.5588</c:v>
                </c:pt>
                <c:pt idx="37">
                  <c:v>7.9373</c:v>
                </c:pt>
                <c:pt idx="38">
                  <c:v>8.5722</c:v>
                </c:pt>
                <c:pt idx="39">
                  <c:v>8.2318</c:v>
                </c:pt>
                <c:pt idx="40">
                  <c:v>8.5382</c:v>
                </c:pt>
                <c:pt idx="41">
                  <c:v>8.9794</c:v>
                </c:pt>
                <c:pt idx="42">
                  <c:v>8.4626</c:v>
                </c:pt>
                <c:pt idx="43">
                  <c:v>8.2226</c:v>
                </c:pt>
                <c:pt idx="44">
                  <c:v>8.1921</c:v>
                </c:pt>
                <c:pt idx="45">
                  <c:v>7.7588</c:v>
                </c:pt>
                <c:pt idx="46">
                  <c:v>7.1229</c:v>
                </c:pt>
                <c:pt idx="47">
                  <c:v>6.4046</c:v>
                </c:pt>
                <c:pt idx="48">
                  <c:v>6.3272</c:v>
                </c:pt>
                <c:pt idx="49">
                  <c:v>5.9578</c:v>
                </c:pt>
                <c:pt idx="50">
                  <c:v>4.9177</c:v>
                </c:pt>
                <c:pt idx="51">
                  <c:v>4.9501</c:v>
                </c:pt>
                <c:pt idx="52">
                  <c:v>4.1319</c:v>
                </c:pt>
                <c:pt idx="53">
                  <c:v>3.0706</c:v>
                </c:pt>
                <c:pt idx="54">
                  <c:v>3.2877</c:v>
                </c:pt>
                <c:pt idx="55">
                  <c:v>3.7225</c:v>
                </c:pt>
                <c:pt idx="56">
                  <c:v>3.6872</c:v>
                </c:pt>
                <c:pt idx="57">
                  <c:v>3.2513</c:v>
                </c:pt>
                <c:pt idx="58">
                  <c:v>3.1333</c:v>
                </c:pt>
                <c:pt idx="59">
                  <c:v>3.3159</c:v>
                </c:pt>
                <c:pt idx="60">
                  <c:v>3.0883</c:v>
                </c:pt>
                <c:pt idx="61">
                  <c:v>3.1571</c:v>
                </c:pt>
                <c:pt idx="62">
                  <c:v>3.4868</c:v>
                </c:pt>
                <c:pt idx="63">
                  <c:v>3.3608</c:v>
                </c:pt>
                <c:pt idx="64">
                  <c:v>3.2443</c:v>
                </c:pt>
                <c:pt idx="65">
                  <c:v>2.9703</c:v>
                </c:pt>
                <c:pt idx="66">
                  <c:v>2.9415</c:v>
                </c:pt>
                <c:pt idx="67">
                  <c:v>2.6071</c:v>
                </c:pt>
                <c:pt idx="68">
                  <c:v>2.4265</c:v>
                </c:pt>
                <c:pt idx="69">
                  <c:v>2.5788</c:v>
                </c:pt>
                <c:pt idx="70">
                  <c:v>2.7195</c:v>
                </c:pt>
                <c:pt idx="71">
                  <c:v>2.8707</c:v>
                </c:pt>
                <c:pt idx="72">
                  <c:v>2.991</c:v>
                </c:pt>
                <c:pt idx="73">
                  <c:v>2.8016</c:v>
                </c:pt>
                <c:pt idx="74">
                  <c:v>2.382</c:v>
                </c:pt>
                <c:pt idx="75">
                  <c:v>2.3254</c:v>
                </c:pt>
                <c:pt idx="76">
                  <c:v>2.3773</c:v>
                </c:pt>
                <c:pt idx="77">
                  <c:v>2.6805</c:v>
                </c:pt>
                <c:pt idx="78">
                  <c:v>2.7426</c:v>
                </c:pt>
                <c:pt idx="79">
                  <c:v>2.9386</c:v>
                </c:pt>
                <c:pt idx="80">
                  <c:v>3.0226</c:v>
                </c:pt>
                <c:pt idx="81">
                  <c:v>2.6964</c:v>
                </c:pt>
                <c:pt idx="82">
                  <c:v>2.6533</c:v>
                </c:pt>
                <c:pt idx="83">
                  <c:v>2.3912</c:v>
                </c:pt>
                <c:pt idx="84">
                  <c:v>2.434</c:v>
                </c:pt>
                <c:pt idx="85">
                  <c:v>3.286</c:v>
                </c:pt>
                <c:pt idx="86">
                  <c:v>3.7792</c:v>
                </c:pt>
                <c:pt idx="87">
                  <c:v>4.1666</c:v>
                </c:pt>
                <c:pt idx="88">
                  <c:v>3.4635</c:v>
                </c:pt>
                <c:pt idx="89">
                  <c:v>3.3039</c:v>
                </c:pt>
                <c:pt idx="90">
                  <c:v>3.353</c:v>
                </c:pt>
              </c:numCache>
            </c:numRef>
          </c:val>
        </c:ser>
        <c:ser>
          <c:idx val="1"/>
          <c:order val="1"/>
          <c:tx>
            <c:v>Effective funds rate</c:v>
          </c:tx>
          <c:spPr>
            <a:ln xmlns:a="http://schemas.openxmlformats.org/drawingml/2006/main" w="28575">
              <a:solidFill>
                <a:srgbClr val="3366AA"/>
              </a:solidFill>
              <a:prstDash val="solid"/>
            </a:ln>
          </c:spPr>
          <c:marker>
            <c:symbol val="none"/>
          </c:marker>
          <c:cat>
            <c:strRef>
              <c:f>'Chart Data'!$C$2:$C$92</c:f>
              <c:strCache>
                <c:ptCount val="91"/>
                <c:pt idx="0">
                  <c:v>19-01</c:v>
                </c:pt>
                <c:pt idx="1">
                  <c:v>19-02</c:v>
                </c:pt>
                <c:pt idx="2">
                  <c:v>19-03</c:v>
                </c:pt>
                <c:pt idx="3">
                  <c:v>19-04</c:v>
                </c:pt>
                <c:pt idx="4">
                  <c:v>19-05</c:v>
                </c:pt>
                <c:pt idx="5">
                  <c:v>19-06</c:v>
                </c:pt>
                <c:pt idx="6">
                  <c:v>19-07</c:v>
                </c:pt>
                <c:pt idx="7">
                  <c:v>19-08</c:v>
                </c:pt>
                <c:pt idx="8">
                  <c:v>19-09</c:v>
                </c:pt>
                <c:pt idx="9">
                  <c:v>19-10</c:v>
                </c:pt>
                <c:pt idx="10">
                  <c:v>19-11</c:v>
                </c:pt>
                <c:pt idx="11">
                  <c:v>19-12</c:v>
                </c:pt>
                <c:pt idx="12">
                  <c:v>20-01</c:v>
                </c:pt>
                <c:pt idx="13">
                  <c:v>20-02</c:v>
                </c:pt>
                <c:pt idx="14">
                  <c:v>20-03</c:v>
                </c:pt>
                <c:pt idx="15">
                  <c:v>20-04</c:v>
                </c:pt>
                <c:pt idx="16">
                  <c:v>20-05</c:v>
                </c:pt>
                <c:pt idx="17">
                  <c:v>20-06</c:v>
                </c:pt>
                <c:pt idx="18">
                  <c:v>20-07</c:v>
                </c:pt>
                <c:pt idx="19">
                  <c:v>20-08</c:v>
                </c:pt>
                <c:pt idx="20">
                  <c:v>20-09</c:v>
                </c:pt>
                <c:pt idx="21">
                  <c:v>20-10</c:v>
                </c:pt>
                <c:pt idx="22">
                  <c:v>20-11</c:v>
                </c:pt>
                <c:pt idx="23">
                  <c:v>20-12</c:v>
                </c:pt>
                <c:pt idx="24">
                  <c:v>21-01</c:v>
                </c:pt>
                <c:pt idx="25">
                  <c:v>21-02</c:v>
                </c:pt>
                <c:pt idx="26">
                  <c:v>21-03</c:v>
                </c:pt>
                <c:pt idx="27">
                  <c:v>21-04</c:v>
                </c:pt>
                <c:pt idx="28">
                  <c:v>21-05</c:v>
                </c:pt>
                <c:pt idx="29">
                  <c:v>21-06</c:v>
                </c:pt>
                <c:pt idx="30">
                  <c:v>21-07</c:v>
                </c:pt>
                <c:pt idx="31">
                  <c:v>21-08</c:v>
                </c:pt>
                <c:pt idx="32">
                  <c:v>21-09</c:v>
                </c:pt>
                <c:pt idx="33">
                  <c:v>21-10</c:v>
                </c:pt>
                <c:pt idx="34">
                  <c:v>21-11</c:v>
                </c:pt>
                <c:pt idx="35">
                  <c:v>21-12</c:v>
                </c:pt>
                <c:pt idx="36">
                  <c:v>22-01</c:v>
                </c:pt>
                <c:pt idx="37">
                  <c:v>22-02</c:v>
                </c:pt>
                <c:pt idx="38">
                  <c:v>22-03</c:v>
                </c:pt>
                <c:pt idx="39">
                  <c:v>22-04</c:v>
                </c:pt>
                <c:pt idx="40">
                  <c:v>22-05</c:v>
                </c:pt>
                <c:pt idx="41">
                  <c:v>22-06</c:v>
                </c:pt>
                <c:pt idx="42">
                  <c:v>22-07</c:v>
                </c:pt>
                <c:pt idx="43">
                  <c:v>22-08</c:v>
                </c:pt>
                <c:pt idx="44">
                  <c:v>22-09</c:v>
                </c:pt>
                <c:pt idx="45">
                  <c:v>22-10</c:v>
                </c:pt>
                <c:pt idx="46">
                  <c:v>22-11</c:v>
                </c:pt>
                <c:pt idx="47">
                  <c:v>22-12</c:v>
                </c:pt>
                <c:pt idx="48">
                  <c:v>23-01</c:v>
                </c:pt>
                <c:pt idx="49">
                  <c:v>23-02</c:v>
                </c:pt>
                <c:pt idx="50">
                  <c:v>23-03</c:v>
                </c:pt>
                <c:pt idx="51">
                  <c:v>23-04</c:v>
                </c:pt>
                <c:pt idx="52">
                  <c:v>23-05</c:v>
                </c:pt>
                <c:pt idx="53">
                  <c:v>23-06</c:v>
                </c:pt>
                <c:pt idx="54">
                  <c:v>23-07</c:v>
                </c:pt>
                <c:pt idx="55">
                  <c:v>23-08</c:v>
                </c:pt>
                <c:pt idx="56">
                  <c:v>23-09</c:v>
                </c:pt>
                <c:pt idx="57">
                  <c:v>23-10</c:v>
                </c:pt>
                <c:pt idx="58">
                  <c:v>23-11</c:v>
                </c:pt>
                <c:pt idx="59">
                  <c:v>23-12</c:v>
                </c:pt>
                <c:pt idx="60">
                  <c:v>24-01</c:v>
                </c:pt>
                <c:pt idx="61">
                  <c:v>24-02</c:v>
                </c:pt>
                <c:pt idx="62">
                  <c:v>24-03</c:v>
                </c:pt>
                <c:pt idx="63">
                  <c:v>24-04</c:v>
                </c:pt>
                <c:pt idx="64">
                  <c:v>24-05</c:v>
                </c:pt>
                <c:pt idx="65">
                  <c:v>24-06</c:v>
                </c:pt>
                <c:pt idx="66">
                  <c:v>24-07</c:v>
                </c:pt>
                <c:pt idx="67">
                  <c:v>24-08</c:v>
                </c:pt>
                <c:pt idx="68">
                  <c:v>24-09</c:v>
                </c:pt>
                <c:pt idx="69">
                  <c:v>24-10</c:v>
                </c:pt>
                <c:pt idx="70">
                  <c:v>24-11</c:v>
                </c:pt>
                <c:pt idx="71">
                  <c:v>24-12</c:v>
                </c:pt>
                <c:pt idx="72">
                  <c:v>25-01</c:v>
                </c:pt>
                <c:pt idx="73">
                  <c:v>25-02</c:v>
                </c:pt>
                <c:pt idx="74">
                  <c:v>25-03</c:v>
                </c:pt>
                <c:pt idx="75">
                  <c:v>25-04</c:v>
                </c:pt>
                <c:pt idx="76">
                  <c:v>25-05</c:v>
                </c:pt>
                <c:pt idx="77">
                  <c:v>25-06</c:v>
                </c:pt>
                <c:pt idx="78">
                  <c:v>25-07</c:v>
                </c:pt>
                <c:pt idx="79">
                  <c:v>25-08</c:v>
                </c:pt>
                <c:pt idx="80">
                  <c:v>25-09</c:v>
                </c:pt>
                <c:pt idx="81">
                  <c:v>25-11</c:v>
                </c:pt>
                <c:pt idx="82">
                  <c:v>25-12</c:v>
                </c:pt>
                <c:pt idx="83">
                  <c:v>26-01</c:v>
                </c:pt>
                <c:pt idx="84">
                  <c:v>26-02</c:v>
                </c:pt>
                <c:pt idx="85">
                  <c:v>26-03</c:v>
                </c:pt>
                <c:pt idx="86">
                  <c:v>26-04</c:v>
                </c:pt>
                <c:pt idx="87">
                  <c:v>26-05</c:v>
                </c:pt>
                <c:pt idx="88">
                  <c:v>26-06</c:v>
                </c:pt>
                <c:pt idx="89">
                  <c:v>26-07</c:v>
                </c:pt>
                <c:pt idx="90">
                  <c:v>26-08</c:v>
                </c:pt>
              </c:strCache>
            </c:strRef>
          </c:cat>
          <c:val>
            <c:numRef>
              <c:f>'Chart Data'!$D$2:$D$92</c:f>
              <c:numCache>
                <c:formatCode>0.0</c:formatCode>
                <c:ptCount val="91"/>
                <c:pt idx="0">
                  <c:v>2.4</c:v>
                </c:pt>
                <c:pt idx="1">
                  <c:v>2.4</c:v>
                </c:pt>
                <c:pt idx="2">
                  <c:v>2.41</c:v>
                </c:pt>
                <c:pt idx="3">
                  <c:v>2.42</c:v>
                </c:pt>
                <c:pt idx="4">
                  <c:v>2.39</c:v>
                </c:pt>
                <c:pt idx="5">
                  <c:v>2.38</c:v>
                </c:pt>
                <c:pt idx="6">
                  <c:v>2.4</c:v>
                </c:pt>
                <c:pt idx="7">
                  <c:v>2.13</c:v>
                </c:pt>
                <c:pt idx="8">
                  <c:v>2.04</c:v>
                </c:pt>
                <c:pt idx="9">
                  <c:v>1.83</c:v>
                </c:pt>
                <c:pt idx="10">
                  <c:v>1.55</c:v>
                </c:pt>
                <c:pt idx="11">
                  <c:v>1.55</c:v>
                </c:pt>
                <c:pt idx="12">
                  <c:v>1.55</c:v>
                </c:pt>
                <c:pt idx="13">
                  <c:v>1.58</c:v>
                </c:pt>
                <c:pt idx="14">
                  <c:v>0.65</c:v>
                </c:pt>
                <c:pt idx="15">
                  <c:v>0.05</c:v>
                </c:pt>
                <c:pt idx="16">
                  <c:v>0.05</c:v>
                </c:pt>
                <c:pt idx="17">
                  <c:v>0.08</c:v>
                </c:pt>
                <c:pt idx="18">
                  <c:v>0.09</c:v>
                </c:pt>
                <c:pt idx="19">
                  <c:v>0.1</c:v>
                </c:pt>
                <c:pt idx="20">
                  <c:v>0.09</c:v>
                </c:pt>
                <c:pt idx="21">
                  <c:v>0.09</c:v>
                </c:pt>
                <c:pt idx="22">
                  <c:v>0.09</c:v>
                </c:pt>
                <c:pt idx="23">
                  <c:v>0.09</c:v>
                </c:pt>
                <c:pt idx="24">
                  <c:v>0.09</c:v>
                </c:pt>
                <c:pt idx="25">
                  <c:v>0.08</c:v>
                </c:pt>
                <c:pt idx="26">
                  <c:v>0.07</c:v>
                </c:pt>
                <c:pt idx="27">
                  <c:v>0.07</c:v>
                </c:pt>
                <c:pt idx="28">
                  <c:v>0.06</c:v>
                </c:pt>
                <c:pt idx="29">
                  <c:v>0.08</c:v>
                </c:pt>
                <c:pt idx="30">
                  <c:v>0.1</c:v>
                </c:pt>
                <c:pt idx="31">
                  <c:v>0.09</c:v>
                </c:pt>
                <c:pt idx="32">
                  <c:v>0.08</c:v>
                </c:pt>
                <c:pt idx="33">
                  <c:v>0.08</c:v>
                </c:pt>
                <c:pt idx="34">
                  <c:v>0.08</c:v>
                </c:pt>
                <c:pt idx="35">
                  <c:v>0.08</c:v>
                </c:pt>
                <c:pt idx="36">
                  <c:v>0.08</c:v>
                </c:pt>
                <c:pt idx="37">
                  <c:v>0.08</c:v>
                </c:pt>
                <c:pt idx="38">
                  <c:v>0.2</c:v>
                </c:pt>
                <c:pt idx="39">
                  <c:v>0.33</c:v>
                </c:pt>
                <c:pt idx="40">
                  <c:v>0.77</c:v>
                </c:pt>
                <c:pt idx="41">
                  <c:v>1.21</c:v>
                </c:pt>
                <c:pt idx="42">
                  <c:v>1.68</c:v>
                </c:pt>
                <c:pt idx="43">
                  <c:v>2.33</c:v>
                </c:pt>
                <c:pt idx="44">
                  <c:v>2.56</c:v>
                </c:pt>
                <c:pt idx="45">
                  <c:v>3.08</c:v>
                </c:pt>
                <c:pt idx="46">
                  <c:v>3.78</c:v>
                </c:pt>
                <c:pt idx="47">
                  <c:v>4.1</c:v>
                </c:pt>
                <c:pt idx="48">
                  <c:v>4.33</c:v>
                </c:pt>
                <c:pt idx="49">
                  <c:v>4.57</c:v>
                </c:pt>
                <c:pt idx="50">
                  <c:v>4.65</c:v>
                </c:pt>
                <c:pt idx="51">
                  <c:v>4.83</c:v>
                </c:pt>
                <c:pt idx="52">
                  <c:v>5.06</c:v>
                </c:pt>
                <c:pt idx="53">
                  <c:v>5.08</c:v>
                </c:pt>
                <c:pt idx="54">
                  <c:v>5.12</c:v>
                </c:pt>
                <c:pt idx="55">
                  <c:v>5.33</c:v>
                </c:pt>
                <c:pt idx="56">
                  <c:v>5.33</c:v>
                </c:pt>
                <c:pt idx="57">
                  <c:v>5.33</c:v>
                </c:pt>
                <c:pt idx="58">
                  <c:v>5.33</c:v>
                </c:pt>
                <c:pt idx="59">
                  <c:v>5.33</c:v>
                </c:pt>
                <c:pt idx="60">
                  <c:v>5.33</c:v>
                </c:pt>
                <c:pt idx="61">
                  <c:v>5.33</c:v>
                </c:pt>
                <c:pt idx="62">
                  <c:v>5.33</c:v>
                </c:pt>
                <c:pt idx="63">
                  <c:v>5.33</c:v>
                </c:pt>
                <c:pt idx="64">
                  <c:v>5.33</c:v>
                </c:pt>
                <c:pt idx="65">
                  <c:v>5.33</c:v>
                </c:pt>
                <c:pt idx="66">
                  <c:v>5.33</c:v>
                </c:pt>
                <c:pt idx="67">
                  <c:v>5.33</c:v>
                </c:pt>
                <c:pt idx="68">
                  <c:v>5.13</c:v>
                </c:pt>
                <c:pt idx="69">
                  <c:v>4.83</c:v>
                </c:pt>
                <c:pt idx="70">
                  <c:v>4.64</c:v>
                </c:pt>
                <c:pt idx="71">
                  <c:v>4.48</c:v>
                </c:pt>
                <c:pt idx="72">
                  <c:v>4.33</c:v>
                </c:pt>
                <c:pt idx="73">
                  <c:v>4.33</c:v>
                </c:pt>
                <c:pt idx="74">
                  <c:v>4.33</c:v>
                </c:pt>
                <c:pt idx="75">
                  <c:v>4.33</c:v>
                </c:pt>
                <c:pt idx="76">
                  <c:v>4.33</c:v>
                </c:pt>
                <c:pt idx="77">
                  <c:v>4.33</c:v>
                </c:pt>
                <c:pt idx="78">
                  <c:v>4.33</c:v>
                </c:pt>
                <c:pt idx="79">
                  <c:v>4.33</c:v>
                </c:pt>
                <c:pt idx="80">
                  <c:v>4.22</c:v>
                </c:pt>
                <c:pt idx="81">
                  <c:v>3.88</c:v>
                </c:pt>
                <c:pt idx="82">
                  <c:v>3.72</c:v>
                </c:pt>
                <c:pt idx="83">
                  <c:v>3.64</c:v>
                </c:pt>
                <c:pt idx="84">
                  <c:v>3.64</c:v>
                </c:pt>
                <c:pt idx="85">
                  <c:v>3.64</c:v>
                </c:pt>
                <c:pt idx="86">
                  <c:v>3.64</c:v>
                </c:pt>
                <c:pt idx="87">
                  <c:v>3.63</c:v>
                </c:pt>
                <c:pt idx="88">
                  <c:v>3.63</c:v>
                </c:pt>
                <c:pt idx="89">
                  <c:v>3.63</c:v>
                </c:pt>
                <c:pt idx="90">
                  <c:v>3.63</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0"/>
        <c:axPos val="l"/>
        <c:majorGridlines>
          <c:spPr>
            <a:ln xmlns:a="http://schemas.openxmlformats.org/drawingml/2006/main" w="9525">
              <a:solidFill>
                <a:srgbClr val="E8ED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Unemployment</c:v>
          </c:tx>
          <c:spPr>
            <a:ln xmlns:a="http://schemas.openxmlformats.org/drawingml/2006/main" w="28575">
              <a:solidFill>
                <a:srgbClr val="157F70"/>
              </a:solidFill>
              <a:prstDash val="solid"/>
            </a:ln>
          </c:spPr>
          <c:marker>
            <c:symbol val="none"/>
          </c:marker>
          <c:cat>
            <c:strRef>
              <c:f>'Chart Data'!$A$2:$A$92</c:f>
              <c:strCache>
                <c:ptCount val="91"/>
                <c:pt idx="0">
                  <c:v>19-01</c:v>
                </c:pt>
                <c:pt idx="1">
                  <c:v>19-02</c:v>
                </c:pt>
                <c:pt idx="2">
                  <c:v>19-03</c:v>
                </c:pt>
                <c:pt idx="3">
                  <c:v>19-04</c:v>
                </c:pt>
                <c:pt idx="4">
                  <c:v>19-05</c:v>
                </c:pt>
                <c:pt idx="5">
                  <c:v>19-06</c:v>
                </c:pt>
                <c:pt idx="6">
                  <c:v>19-07</c:v>
                </c:pt>
                <c:pt idx="7">
                  <c:v>19-08</c:v>
                </c:pt>
                <c:pt idx="8">
                  <c:v>19-09</c:v>
                </c:pt>
                <c:pt idx="9">
                  <c:v>19-10</c:v>
                </c:pt>
                <c:pt idx="10">
                  <c:v>19-11</c:v>
                </c:pt>
                <c:pt idx="11">
                  <c:v>19-12</c:v>
                </c:pt>
                <c:pt idx="12">
                  <c:v>20-01</c:v>
                </c:pt>
                <c:pt idx="13">
                  <c:v>20-02</c:v>
                </c:pt>
                <c:pt idx="14">
                  <c:v>20-03</c:v>
                </c:pt>
                <c:pt idx="15">
                  <c:v>20-04</c:v>
                </c:pt>
                <c:pt idx="16">
                  <c:v>20-05</c:v>
                </c:pt>
                <c:pt idx="17">
                  <c:v>20-06</c:v>
                </c:pt>
                <c:pt idx="18">
                  <c:v>20-07</c:v>
                </c:pt>
                <c:pt idx="19">
                  <c:v>20-08</c:v>
                </c:pt>
                <c:pt idx="20">
                  <c:v>20-09</c:v>
                </c:pt>
                <c:pt idx="21">
                  <c:v>20-10</c:v>
                </c:pt>
                <c:pt idx="22">
                  <c:v>20-11</c:v>
                </c:pt>
                <c:pt idx="23">
                  <c:v>20-12</c:v>
                </c:pt>
                <c:pt idx="24">
                  <c:v>21-01</c:v>
                </c:pt>
                <c:pt idx="25">
                  <c:v>21-02</c:v>
                </c:pt>
                <c:pt idx="26">
                  <c:v>21-03</c:v>
                </c:pt>
                <c:pt idx="27">
                  <c:v>21-04</c:v>
                </c:pt>
                <c:pt idx="28">
                  <c:v>21-05</c:v>
                </c:pt>
                <c:pt idx="29">
                  <c:v>21-06</c:v>
                </c:pt>
                <c:pt idx="30">
                  <c:v>21-07</c:v>
                </c:pt>
                <c:pt idx="31">
                  <c:v>21-08</c:v>
                </c:pt>
                <c:pt idx="32">
                  <c:v>21-09</c:v>
                </c:pt>
                <c:pt idx="33">
                  <c:v>21-10</c:v>
                </c:pt>
                <c:pt idx="34">
                  <c:v>21-11</c:v>
                </c:pt>
                <c:pt idx="35">
                  <c:v>21-12</c:v>
                </c:pt>
                <c:pt idx="36">
                  <c:v>22-01</c:v>
                </c:pt>
                <c:pt idx="37">
                  <c:v>22-02</c:v>
                </c:pt>
                <c:pt idx="38">
                  <c:v>22-03</c:v>
                </c:pt>
                <c:pt idx="39">
                  <c:v>22-04</c:v>
                </c:pt>
                <c:pt idx="40">
                  <c:v>22-05</c:v>
                </c:pt>
                <c:pt idx="41">
                  <c:v>22-06</c:v>
                </c:pt>
                <c:pt idx="42">
                  <c:v>22-07</c:v>
                </c:pt>
                <c:pt idx="43">
                  <c:v>22-08</c:v>
                </c:pt>
                <c:pt idx="44">
                  <c:v>22-09</c:v>
                </c:pt>
                <c:pt idx="45">
                  <c:v>22-10</c:v>
                </c:pt>
                <c:pt idx="46">
                  <c:v>22-11</c:v>
                </c:pt>
                <c:pt idx="47">
                  <c:v>22-12</c:v>
                </c:pt>
                <c:pt idx="48">
                  <c:v>23-01</c:v>
                </c:pt>
                <c:pt idx="49">
                  <c:v>23-02</c:v>
                </c:pt>
                <c:pt idx="50">
                  <c:v>23-03</c:v>
                </c:pt>
                <c:pt idx="51">
                  <c:v>23-04</c:v>
                </c:pt>
                <c:pt idx="52">
                  <c:v>23-05</c:v>
                </c:pt>
                <c:pt idx="53">
                  <c:v>23-06</c:v>
                </c:pt>
                <c:pt idx="54">
                  <c:v>23-07</c:v>
                </c:pt>
                <c:pt idx="55">
                  <c:v>23-08</c:v>
                </c:pt>
                <c:pt idx="56">
                  <c:v>23-09</c:v>
                </c:pt>
                <c:pt idx="57">
                  <c:v>23-10</c:v>
                </c:pt>
                <c:pt idx="58">
                  <c:v>23-11</c:v>
                </c:pt>
                <c:pt idx="59">
                  <c:v>23-12</c:v>
                </c:pt>
                <c:pt idx="60">
                  <c:v>24-01</c:v>
                </c:pt>
                <c:pt idx="61">
                  <c:v>24-02</c:v>
                </c:pt>
                <c:pt idx="62">
                  <c:v>24-03</c:v>
                </c:pt>
                <c:pt idx="63">
                  <c:v>24-04</c:v>
                </c:pt>
                <c:pt idx="64">
                  <c:v>24-05</c:v>
                </c:pt>
                <c:pt idx="65">
                  <c:v>24-06</c:v>
                </c:pt>
                <c:pt idx="66">
                  <c:v>24-07</c:v>
                </c:pt>
                <c:pt idx="67">
                  <c:v>24-08</c:v>
                </c:pt>
                <c:pt idx="68">
                  <c:v>24-09</c:v>
                </c:pt>
                <c:pt idx="69">
                  <c:v>24-10</c:v>
                </c:pt>
                <c:pt idx="70">
                  <c:v>24-11</c:v>
                </c:pt>
                <c:pt idx="71">
                  <c:v>24-12</c:v>
                </c:pt>
                <c:pt idx="72">
                  <c:v>25-01</c:v>
                </c:pt>
                <c:pt idx="73">
                  <c:v>25-02</c:v>
                </c:pt>
                <c:pt idx="74">
                  <c:v>25-03</c:v>
                </c:pt>
                <c:pt idx="75">
                  <c:v>25-04</c:v>
                </c:pt>
                <c:pt idx="76">
                  <c:v>25-05</c:v>
                </c:pt>
                <c:pt idx="77">
                  <c:v>25-06</c:v>
                </c:pt>
                <c:pt idx="78">
                  <c:v>25-07</c:v>
                </c:pt>
                <c:pt idx="79">
                  <c:v>25-08</c:v>
                </c:pt>
                <c:pt idx="80">
                  <c:v>25-09</c:v>
                </c:pt>
                <c:pt idx="81">
                  <c:v>25-11</c:v>
                </c:pt>
                <c:pt idx="82">
                  <c:v>25-12</c:v>
                </c:pt>
                <c:pt idx="83">
                  <c:v>26-01</c:v>
                </c:pt>
                <c:pt idx="84">
                  <c:v>26-02</c:v>
                </c:pt>
                <c:pt idx="85">
                  <c:v>26-03</c:v>
                </c:pt>
                <c:pt idx="86">
                  <c:v>26-04</c:v>
                </c:pt>
                <c:pt idx="87">
                  <c:v>26-05</c:v>
                </c:pt>
                <c:pt idx="88">
                  <c:v>26-06</c:v>
                </c:pt>
                <c:pt idx="89">
                  <c:v>26-07</c:v>
                </c:pt>
                <c:pt idx="90">
                  <c:v>26-08</c:v>
                </c:pt>
              </c:strCache>
            </c:strRef>
          </c:cat>
          <c:val>
            <c:numRef>
              <c:f>'Chart Data'!$B$2:$B$92</c:f>
              <c:numCache>
                <c:formatCode>0.0</c:formatCode>
                <c:ptCount val="91"/>
                <c:pt idx="0">
                  <c:v>4</c:v>
                </c:pt>
                <c:pt idx="1">
                  <c:v>3.8</c:v>
                </c:pt>
                <c:pt idx="2">
                  <c:v>3.8</c:v>
                </c:pt>
                <c:pt idx="3">
                  <c:v>3.7</c:v>
                </c:pt>
                <c:pt idx="4">
                  <c:v>3.6</c:v>
                </c:pt>
                <c:pt idx="5">
                  <c:v>3.6</c:v>
                </c:pt>
                <c:pt idx="6">
                  <c:v>3.7</c:v>
                </c:pt>
                <c:pt idx="7">
                  <c:v>3.6</c:v>
                </c:pt>
                <c:pt idx="8">
                  <c:v>3.5</c:v>
                </c:pt>
                <c:pt idx="9">
                  <c:v>3.6</c:v>
                </c:pt>
                <c:pt idx="10">
                  <c:v>3.6</c:v>
                </c:pt>
                <c:pt idx="11">
                  <c:v>3.6</c:v>
                </c:pt>
                <c:pt idx="12">
                  <c:v>3.6</c:v>
                </c:pt>
                <c:pt idx="13">
                  <c:v>3.5</c:v>
                </c:pt>
                <c:pt idx="14">
                  <c:v>4.4</c:v>
                </c:pt>
                <c:pt idx="15">
                  <c:v>14.8</c:v>
                </c:pt>
                <c:pt idx="16">
                  <c:v>13.2</c:v>
                </c:pt>
                <c:pt idx="17">
                  <c:v>11</c:v>
                </c:pt>
                <c:pt idx="18">
                  <c:v>10.2</c:v>
                </c:pt>
                <c:pt idx="19">
                  <c:v>8.4</c:v>
                </c:pt>
                <c:pt idx="20">
                  <c:v>7.8</c:v>
                </c:pt>
                <c:pt idx="21">
                  <c:v>6.9</c:v>
                </c:pt>
                <c:pt idx="22">
                  <c:v>6.7</c:v>
                </c:pt>
                <c:pt idx="23">
                  <c:v>6.7</c:v>
                </c:pt>
                <c:pt idx="24">
                  <c:v>6.4</c:v>
                </c:pt>
                <c:pt idx="25">
                  <c:v>6.2</c:v>
                </c:pt>
                <c:pt idx="26">
                  <c:v>6.1</c:v>
                </c:pt>
                <c:pt idx="27">
                  <c:v>6.1</c:v>
                </c:pt>
                <c:pt idx="28">
                  <c:v>5.8</c:v>
                </c:pt>
                <c:pt idx="29">
                  <c:v>5.9</c:v>
                </c:pt>
                <c:pt idx="30">
                  <c:v>5.4</c:v>
                </c:pt>
                <c:pt idx="31">
                  <c:v>5.1</c:v>
                </c:pt>
                <c:pt idx="32">
                  <c:v>4.7</c:v>
                </c:pt>
                <c:pt idx="33">
                  <c:v>4.5</c:v>
                </c:pt>
                <c:pt idx="34">
                  <c:v>4.1</c:v>
                </c:pt>
                <c:pt idx="35">
                  <c:v>3.9</c:v>
                </c:pt>
                <c:pt idx="36">
                  <c:v>4</c:v>
                </c:pt>
                <c:pt idx="37">
                  <c:v>3.9</c:v>
                </c:pt>
                <c:pt idx="38">
                  <c:v>3.7</c:v>
                </c:pt>
                <c:pt idx="39">
                  <c:v>3.7</c:v>
                </c:pt>
                <c:pt idx="40">
                  <c:v>3.6</c:v>
                </c:pt>
                <c:pt idx="41">
                  <c:v>3.6</c:v>
                </c:pt>
                <c:pt idx="42">
                  <c:v>3.5</c:v>
                </c:pt>
                <c:pt idx="43">
                  <c:v>3.6</c:v>
                </c:pt>
                <c:pt idx="44">
                  <c:v>3.5</c:v>
                </c:pt>
                <c:pt idx="45">
                  <c:v>3.6</c:v>
                </c:pt>
                <c:pt idx="46">
                  <c:v>3.6</c:v>
                </c:pt>
                <c:pt idx="47">
                  <c:v>3.5</c:v>
                </c:pt>
                <c:pt idx="48">
                  <c:v>3.5</c:v>
                </c:pt>
                <c:pt idx="49">
                  <c:v>3.6</c:v>
                </c:pt>
                <c:pt idx="50">
                  <c:v>3.5</c:v>
                </c:pt>
                <c:pt idx="51">
                  <c:v>3.4</c:v>
                </c:pt>
                <c:pt idx="52">
                  <c:v>3.6</c:v>
                </c:pt>
                <c:pt idx="53">
                  <c:v>3.6</c:v>
                </c:pt>
                <c:pt idx="54">
                  <c:v>3.5</c:v>
                </c:pt>
                <c:pt idx="55">
                  <c:v>3.7</c:v>
                </c:pt>
                <c:pt idx="56">
                  <c:v>3.7</c:v>
                </c:pt>
                <c:pt idx="57">
                  <c:v>3.9</c:v>
                </c:pt>
                <c:pt idx="58">
                  <c:v>3.7</c:v>
                </c:pt>
                <c:pt idx="59">
                  <c:v>3.8</c:v>
                </c:pt>
                <c:pt idx="60">
                  <c:v>3.7</c:v>
                </c:pt>
                <c:pt idx="61">
                  <c:v>3.9</c:v>
                </c:pt>
                <c:pt idx="62">
                  <c:v>3.9</c:v>
                </c:pt>
                <c:pt idx="63">
                  <c:v>3.9</c:v>
                </c:pt>
                <c:pt idx="64">
                  <c:v>3.9</c:v>
                </c:pt>
                <c:pt idx="65">
                  <c:v>4.1</c:v>
                </c:pt>
                <c:pt idx="66">
                  <c:v>4.2</c:v>
                </c:pt>
                <c:pt idx="67">
                  <c:v>4.2</c:v>
                </c:pt>
                <c:pt idx="68">
                  <c:v>4.1</c:v>
                </c:pt>
                <c:pt idx="69">
                  <c:v>4.1</c:v>
                </c:pt>
                <c:pt idx="70">
                  <c:v>4.2</c:v>
                </c:pt>
                <c:pt idx="71">
                  <c:v>4.1</c:v>
                </c:pt>
                <c:pt idx="72">
                  <c:v>4</c:v>
                </c:pt>
                <c:pt idx="73">
                  <c:v>4.2</c:v>
                </c:pt>
                <c:pt idx="74">
                  <c:v>4.2</c:v>
                </c:pt>
                <c:pt idx="75">
                  <c:v>4.2</c:v>
                </c:pt>
                <c:pt idx="76">
                  <c:v>4.3</c:v>
                </c:pt>
                <c:pt idx="77">
                  <c:v>4.1</c:v>
                </c:pt>
                <c:pt idx="78">
                  <c:v>4.3</c:v>
                </c:pt>
                <c:pt idx="79">
                  <c:v>4.3</c:v>
                </c:pt>
                <c:pt idx="80">
                  <c:v>4.4</c:v>
                </c:pt>
                <c:pt idx="81">
                  <c:v>4.5</c:v>
                </c:pt>
                <c:pt idx="82">
                  <c:v>4.4</c:v>
                </c:pt>
                <c:pt idx="83">
                  <c:v>4.3</c:v>
                </c:pt>
                <c:pt idx="84">
                  <c:v>4.4</c:v>
                </c:pt>
                <c:pt idx="85">
                  <c:v>4.3</c:v>
                </c:pt>
                <c:pt idx="86">
                  <c:v>4.3</c:v>
                </c:pt>
                <c:pt idx="87">
                  <c:v>4.3</c:v>
                </c:pt>
                <c:pt idx="88">
                  <c:v>4.2</c:v>
                </c:pt>
                <c:pt idx="89">
                  <c:v>4.1</c:v>
                </c:pt>
                <c:pt idx="90">
                  <c:v>4.1</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72768"/>
      </c:catAx>
      <c:valAx>
        <c:axId val="48672768"/>
        <c:scaling>
          <c:orientation val="minMax"/>
        </c:scaling>
        <c:delete val="0"/>
        <c:axPos val="l"/>
        <c:majorGridlines>
          <c:spPr>
            <a:ln xmlns:a="http://schemas.openxmlformats.org/drawingml/2006/main" w="9525">
              <a:solidFill>
                <a:srgbClr val="E8ED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6EB723-1A70-485A-AC24-320391DBA910}"/>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DATA 608  |  STORY 2</a:t>
            </a:r>
          </a:p>
        </p:txBody>
      </p:sp>
      <p:sp>
        <p:nvSpPr>
          <p:cNvPr id="2" name="">
            <a:extLst xmlns:a="http://schemas.openxmlformats.org/drawingml/2006/main">
              <a:ext uri="{FF2B5EF4-FFF2-40B4-BE49-F238E27FC236}">
                <a16:creationId xmlns:a16="http://schemas.microsoft.com/office/drawing/2014/main" id="{91C173F0-02B3-4021-BAC5-9C10F5DF1A7C}"/>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Can the Fed control inflation and maintain full employment?</a:t>
            </a:r>
          </a:p>
        </p:txBody>
      </p:sp>
      <p:sp>
        <p:nvSpPr>
          <p:cNvPr id="3" name="">
            <a:extLst xmlns:a="http://schemas.openxmlformats.org/drawingml/2006/main">
              <a:ext uri="{FF2B5EF4-FFF2-40B4-BE49-F238E27FC236}">
                <a16:creationId xmlns:a16="http://schemas.microsoft.com/office/drawing/2014/main" id="{684BDDE3-8085-4758-BECC-8F51DCDE579A}"/>
              </a:ext>
            </a:extLst>
          </p:cNvPr>
          <p:cNvSpPr>
            <a:spLocks xmlns:a="http://schemas.openxmlformats.org/drawingml/2006/main" noGrp="1"/>
          </p:cNvSpPr>
          <p:nvPr/>
        </p:nvSpPr>
        <p:spPr>
          <a:xfrm xmlns:a="http://schemas.openxmlformats.org/drawingml/2006/main">
            <a:off x="609600" y="1685925"/>
            <a:ext cx="1028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42735"/>
                </a:solidFill>
                <a:latin typeface="Bitstream Charter"/>
                <a:ea typeface="Bitstream Charter"/>
                <a:cs typeface="Bitstream Charter"/>
              </a:defRPr>
            </a:pPr>
            <a:r>
              <a:rPr sz="2550" b="1">
                <a:solidFill>
                  <a:srgbClr val="142735"/>
                </a:solidFill>
                <a:latin typeface="Bitstream Charter"/>
                <a:ea typeface="Bitstream Charter"/>
                <a:cs typeface="Bitstream Charter"/>
              </a:rPr>
              <a:t>Twenty-five years show periods of low inflation and low unemployment, but no uninterrupted success.</a:t>
            </a:r>
          </a:p>
        </p:txBody>
      </p:sp>
      <p:sp>
        <p:nvSpPr>
          <p:cNvPr id="4" name="">
            <a:extLst xmlns:a="http://schemas.openxmlformats.org/drawingml/2006/main">
              <a:ext uri="{FF2B5EF4-FFF2-40B4-BE49-F238E27FC236}">
                <a16:creationId xmlns:a16="http://schemas.microsoft.com/office/drawing/2014/main" id="{921917EF-AF18-4B8D-87D3-863ED346861C}"/>
              </a:ext>
            </a:extLst>
          </p:cNvPr>
          <p:cNvSpPr>
            <a:spLocks xmlns:a="http://schemas.openxmlformats.org/drawingml/2006/main" noGrp="1"/>
          </p:cNvSpPr>
          <p:nvPr/>
        </p:nvSpPr>
        <p:spPr>
          <a:xfrm xmlns:a="http://schemas.openxmlformats.org/drawingml/2006/main">
            <a:off x="609600" y="3028950"/>
            <a:ext cx="10239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0">
                <a:solidFill>
                  <a:srgbClr val="536370"/>
                </a:solidFill>
                <a:latin typeface="Bitstream Charter"/>
                <a:ea typeface="Bitstream Charter"/>
                <a:cs typeface="Bitstream Charter"/>
              </a:defRPr>
            </a:pPr>
            <a:r>
              <a:rPr sz="2025" b="0">
                <a:solidFill>
                  <a:srgbClr val="536370"/>
                </a:solidFill>
                <a:latin typeface="Bitstream Charter"/>
                <a:ea typeface="Bitstream Charter"/>
                <a:cs typeface="Bitstream Charter"/>
              </a:rPr>
              <a:t>A long view of CPI inflation, the federal funds rate and unemployment, September 2001–August 2026.</a:t>
            </a:r>
          </a:p>
        </p:txBody>
      </p:sp>
      <p:sp>
        <p:nvSpPr>
          <p:cNvPr id="5" name="">
            <a:extLst xmlns:a="http://schemas.openxmlformats.org/drawingml/2006/main">
              <a:ext uri="{FF2B5EF4-FFF2-40B4-BE49-F238E27FC236}">
                <a16:creationId xmlns:a16="http://schemas.microsoft.com/office/drawing/2014/main" id="{B4309E0F-4858-4108-A58D-934D5396081E}"/>
              </a:ext>
            </a:extLst>
          </p:cNvPr>
          <p:cNvSpPr>
            <a:spLocks xmlns:a="http://schemas.openxmlformats.org/drawingml/2006/main" noGrp="1"/>
          </p:cNvSpPr>
          <p:nvPr/>
        </p:nvSpPr>
        <p:spPr>
          <a:xfrm xmlns:a="http://schemas.openxmlformats.org/drawingml/2006/main">
            <a:off x="609600" y="5095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42735"/>
                </a:solidFill>
                <a:latin typeface="Bitstream Charter"/>
                <a:ea typeface="Bitstream Charter"/>
                <a:cs typeface="Bitstream Charter"/>
              </a:defRPr>
            </a:pPr>
            <a:r>
              <a:rPr sz="1500" b="0">
                <a:solidFill>
                  <a:srgbClr val="142735"/>
                </a:solidFill>
                <a:latin typeface="Bitstream Charter"/>
                <a:ea typeface="Bitstream Charter"/>
                <a:cs typeface="Bitstream Charter"/>
              </a:rPr>
              <a:t>Muhammad Suffyan Khan  |  Professor Peter Kowalchuk  |  Fall 2026</a:t>
            </a:r>
          </a:p>
        </p:txBody>
      </p:sp>
      <p:sp>
        <p:nvSpPr>
          <p:cNvPr id="6" name="">
            <a:extLst xmlns:a="http://schemas.openxmlformats.org/drawingml/2006/main">
              <a:ext uri="{FF2B5EF4-FFF2-40B4-BE49-F238E27FC236}">
                <a16:creationId xmlns:a16="http://schemas.microsoft.com/office/drawing/2014/main" id="{46369212-8286-4263-B731-1BDAF7E81128}"/>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The charts describe observed outcomes; they do not estimate the Fed’s causal impact.</a:t>
            </a:r>
          </a:p>
        </p:txBody>
      </p:sp>
    </p:spTree>
    <p:extLst>
      <p:ext uri="{BB962C8B-B14F-4D97-AF65-F5344CB8AC3E}">
        <p14:creationId xmlns:p14="http://schemas.microsoft.com/office/powerpoint/2010/main" val="17866913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4F2FE-50D0-4183-A92D-D6F21191B1B9}"/>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DATA 608  |  STORY 2</a:t>
            </a:r>
          </a:p>
        </p:txBody>
      </p:sp>
      <p:sp>
        <p:nvSpPr>
          <p:cNvPr id="2" name="">
            <a:extLst xmlns:a="http://schemas.openxmlformats.org/drawingml/2006/main">
              <a:ext uri="{FF2B5EF4-FFF2-40B4-BE49-F238E27FC236}">
                <a16:creationId xmlns:a16="http://schemas.microsoft.com/office/drawing/2014/main" id="{44D94362-406B-41E8-AD2B-8BF0442041FC}"/>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The two goals have coincided, but crises disrupted both</a:t>
            </a:r>
          </a:p>
        </p:txBody>
      </p:sp>
      <p:sp>
        <p:nvSpPr>
          <p:cNvPr id="3" name="">
            <a:extLst xmlns:a="http://schemas.openxmlformats.org/drawingml/2006/main">
              <a:ext uri="{FF2B5EF4-FFF2-40B4-BE49-F238E27FC236}">
                <a16:creationId xmlns:a16="http://schemas.microsoft.com/office/drawing/2014/main" id="{E2E72E57-4891-407B-8691-7AB2A3BAC8F8}"/>
              </a:ext>
            </a:extLst>
          </p:cNvPr>
          <p:cNvSpPr>
            <a:spLocks xmlns:a="http://schemas.openxmlformats.org/drawingml/2006/main" noGrp="1"/>
          </p:cNvSpPr>
          <p:nvPr/>
        </p:nvSpPr>
        <p:spPr>
          <a:xfrm xmlns:a="http://schemas.openxmlformats.org/drawingml/2006/main">
            <a:off x="647700" y="14478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536370"/>
                </a:solidFill>
                <a:latin typeface="Bitstream Charter"/>
                <a:ea typeface="Bitstream Charter"/>
                <a:cs typeface="Bitstream Charter"/>
              </a:defRPr>
            </a:pPr>
            <a:r>
              <a:rPr sz="1425" b="0">
                <a:solidFill>
                  <a:srgbClr val="536370"/>
                </a:solidFill>
                <a:latin typeface="Bitstream Charter"/>
                <a:ea typeface="Bitstream Charter"/>
                <a:cs typeface="Bitstream Charter"/>
              </a:rPr>
              <a:t>Annual monthly averages, 2002–2025; 2026 is excluded because the year is incomplete.</a:t>
            </a:r>
          </a:p>
        </p:txBody>
      </p:sp>
      <p:graphicFrame>
        <p:nvGraphicFramePr>
          <p:cNvPr id="10" name="Chart"/>
          <p:cNvGraphicFramePr/>
          <p:nvPr/>
        </p:nvGraphicFramePr>
        <p:xfrm>
          <a:off xmlns:a="http://schemas.openxmlformats.org/drawingml/2006/main" x="809625" y="1924050"/>
          <a:ext xmlns:a="http://schemas.openxmlformats.org/drawingml/2006/main" cx="10382250" cy="2000250"/>
        </p:xfrm>
        <a:graphic xmlns:a="http://schemas.openxmlformats.org/drawingml/2006/main">
          <a:graphicData uri="http://schemas.openxmlformats.org/drawingml/2006/chart">
            <c:chart xmlns:r="http://schemas.openxmlformats.org/officeDocument/2006/relationships" xmlns:c="http://schemas.openxmlformats.org/drawingml/2006/chart" r:id="R09e4a1318a754d2b"/>
          </a:graphicData>
        </a:graphic>
      </p:graphicFrame>
      <p:graphicFrame>
        <p:nvGraphicFramePr>
          <p:cNvPr id="11" name="Chart"/>
          <p:cNvGraphicFramePr/>
          <p:nvPr/>
        </p:nvGraphicFramePr>
        <p:xfrm>
          <a:off xmlns:a="http://schemas.openxmlformats.org/drawingml/2006/main" x="809625" y="4010025"/>
          <a:ext xmlns:a="http://schemas.openxmlformats.org/drawingml/2006/main" cx="10382250" cy="2000250"/>
        </p:xfrm>
        <a:graphic xmlns:a="http://schemas.openxmlformats.org/drawingml/2006/main">
          <a:graphicData uri="http://schemas.openxmlformats.org/drawingml/2006/chart">
            <c:chart xmlns:r="http://schemas.openxmlformats.org/officeDocument/2006/relationships" xmlns:c="http://schemas.openxmlformats.org/drawingml/2006/chart" r:id="Re3e6f67c15954264"/>
          </a:graphicData>
        </a:graphic>
      </p:graphicFrame>
      <p:sp>
        <p:nvSpPr>
          <p:cNvPr id="6" name="">
            <a:extLst xmlns:a="http://schemas.openxmlformats.org/drawingml/2006/main">
              <a:ext uri="{FF2B5EF4-FFF2-40B4-BE49-F238E27FC236}">
                <a16:creationId xmlns:a16="http://schemas.microsoft.com/office/drawing/2014/main" id="{94692FC2-5F17-4708-A68F-C0EF2047A742}"/>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High unemployment followed the 2008 crisis and the 2020 pandemic; inflation surged in 2021–22.</a:t>
            </a:r>
          </a:p>
        </p:txBody>
      </p:sp>
    </p:spTree>
    <p:extLst>
      <p:ext uri="{BB962C8B-B14F-4D97-AF65-F5344CB8AC3E}">
        <p14:creationId xmlns:p14="http://schemas.microsoft.com/office/powerpoint/2010/main" val="570114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E87141-F355-4888-A697-91D24D16A70B}"/>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DATA 608  |  STORY 2</a:t>
            </a:r>
          </a:p>
        </p:txBody>
      </p:sp>
      <p:sp>
        <p:nvSpPr>
          <p:cNvPr id="2" name="">
            <a:extLst xmlns:a="http://schemas.openxmlformats.org/drawingml/2006/main">
              <a:ext uri="{FF2B5EF4-FFF2-40B4-BE49-F238E27FC236}">
                <a16:creationId xmlns:a16="http://schemas.microsoft.com/office/drawing/2014/main" id="{68F3BAB3-69DF-44A6-8F5E-9F37E85930E1}"/>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Inflation rose before the largest rate increases</a:t>
            </a:r>
          </a:p>
        </p:txBody>
      </p:sp>
      <p:sp>
        <p:nvSpPr>
          <p:cNvPr id="3" name="">
            <a:extLst xmlns:a="http://schemas.openxmlformats.org/drawingml/2006/main">
              <a:ext uri="{FF2B5EF4-FFF2-40B4-BE49-F238E27FC236}">
                <a16:creationId xmlns:a16="http://schemas.microsoft.com/office/drawing/2014/main" id="{16EE2F0D-C338-48B7-B859-D64F72652F82}"/>
              </a:ext>
            </a:extLst>
          </p:cNvPr>
          <p:cNvSpPr>
            <a:spLocks xmlns:a="http://schemas.openxmlformats.org/drawingml/2006/main" noGrp="1"/>
          </p:cNvSpPr>
          <p:nvPr/>
        </p:nvSpPr>
        <p:spPr>
          <a:xfrm xmlns:a="http://schemas.openxmlformats.org/drawingml/2006/main">
            <a:off x="647700" y="14382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536370"/>
                </a:solidFill>
                <a:latin typeface="Bitstream Charter"/>
                <a:ea typeface="Bitstream Charter"/>
                <a:cs typeface="Bitstream Charter"/>
              </a:defRPr>
            </a:pPr>
            <a:r>
              <a:rPr sz="1500" b="0">
                <a:solidFill>
                  <a:srgbClr val="536370"/>
                </a:solidFill>
                <a:latin typeface="Bitstream Charter"/>
                <a:ea typeface="Bitstream Charter"/>
                <a:cs typeface="Bitstream Charter"/>
              </a:rPr>
              <a:t>Monthly values, January 2019–August 2026</a:t>
            </a:r>
          </a:p>
        </p:txBody>
      </p:sp>
      <p:graphicFrame>
        <p:nvGraphicFramePr>
          <p:cNvPr id="10" name="Chart"/>
          <p:cNvGraphicFramePr/>
          <p:nvPr/>
        </p:nvGraphicFramePr>
        <p:xfrm>
          <a:off xmlns:a="http://schemas.openxmlformats.org/drawingml/2006/main" x="752475" y="2000250"/>
          <a:ext xmlns:a="http://schemas.openxmlformats.org/drawingml/2006/main" cx="10572750" cy="3286125"/>
        </p:xfrm>
        <a:graphic xmlns:a="http://schemas.openxmlformats.org/drawingml/2006/main">
          <a:graphicData uri="http://schemas.openxmlformats.org/drawingml/2006/chart">
            <c:chart xmlns:r="http://schemas.openxmlformats.org/officeDocument/2006/relationships" xmlns:c="http://schemas.openxmlformats.org/drawingml/2006/chart" r:id="R33d8b35f108548c7"/>
          </a:graphicData>
        </a:graphic>
      </p:graphicFrame>
      <p:sp>
        <p:nvSpPr>
          <p:cNvPr id="5" name="">
            <a:extLst xmlns:a="http://schemas.openxmlformats.org/drawingml/2006/main">
              <a:ext uri="{FF2B5EF4-FFF2-40B4-BE49-F238E27FC236}">
                <a16:creationId xmlns:a16="http://schemas.microsoft.com/office/drawing/2014/main" id="{8CD60E48-912F-45F0-BABB-4B917B78C328}"/>
              </a:ext>
            </a:extLst>
          </p:cNvPr>
          <p:cNvSpPr>
            <a:spLocks xmlns:a="http://schemas.openxmlformats.org/drawingml/2006/main" noGrp="1"/>
          </p:cNvSpPr>
          <p:nvPr/>
        </p:nvSpPr>
        <p:spPr>
          <a:xfrm xmlns:a="http://schemas.openxmlformats.org/drawingml/2006/main">
            <a:off x="752475" y="543877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142735"/>
                </a:solidFill>
                <a:latin typeface="Bitstream Charter"/>
                <a:ea typeface="Bitstream Charter"/>
                <a:cs typeface="Bitstream Charter"/>
              </a:defRPr>
            </a:pPr>
            <a:r>
              <a:rPr sz="1650" b="1">
                <a:solidFill>
                  <a:srgbClr val="142735"/>
                </a:solidFill>
                <a:latin typeface="Bitstream Charter"/>
                <a:ea typeface="Bitstream Charter"/>
                <a:cs typeface="Bitstream Charter"/>
              </a:rPr>
              <a:t>CPI inflation peaked near 9.0% in June 2022. The funds rate then climbed above 5%.</a:t>
            </a:r>
          </a:p>
        </p:txBody>
      </p:sp>
      <p:sp>
        <p:nvSpPr>
          <p:cNvPr id="6" name="">
            <a:extLst xmlns:a="http://schemas.openxmlformats.org/drawingml/2006/main">
              <a:ext uri="{FF2B5EF4-FFF2-40B4-BE49-F238E27FC236}">
                <a16:creationId xmlns:a16="http://schemas.microsoft.com/office/drawing/2014/main" id="{B7489C95-7B38-4FC5-AD93-3E60A68D9D30}"/>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October 2025 is omitted; the line joins neighboring months. Policy and economic effects have lags.</a:t>
            </a:r>
          </a:p>
        </p:txBody>
      </p:sp>
    </p:spTree>
    <p:extLst>
      <p:ext uri="{BB962C8B-B14F-4D97-AF65-F5344CB8AC3E}">
        <p14:creationId xmlns:p14="http://schemas.microsoft.com/office/powerpoint/2010/main" val="2566048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1F1C49-496E-4040-8F48-66FCBA77E07C}"/>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DATA 608  |  STORY 2</a:t>
            </a:r>
          </a:p>
        </p:txBody>
      </p:sp>
      <p:sp>
        <p:nvSpPr>
          <p:cNvPr id="2" name="">
            <a:extLst xmlns:a="http://schemas.openxmlformats.org/drawingml/2006/main">
              <a:ext uri="{FF2B5EF4-FFF2-40B4-BE49-F238E27FC236}">
                <a16:creationId xmlns:a16="http://schemas.microsoft.com/office/drawing/2014/main" id="{A68713E0-BD2A-4C2E-85C8-F91B463C19CB}"/>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Disinflation did not require a return to crisis unemployment</a:t>
            </a:r>
          </a:p>
        </p:txBody>
      </p:sp>
      <p:sp>
        <p:nvSpPr>
          <p:cNvPr id="3" name="">
            <a:extLst xmlns:a="http://schemas.openxmlformats.org/drawingml/2006/main">
              <a:ext uri="{FF2B5EF4-FFF2-40B4-BE49-F238E27FC236}">
                <a16:creationId xmlns:a16="http://schemas.microsoft.com/office/drawing/2014/main" id="{3C3ADB8C-BB94-4DDC-8759-DB26D07988F1}"/>
              </a:ext>
            </a:extLst>
          </p:cNvPr>
          <p:cNvSpPr>
            <a:spLocks xmlns:a="http://schemas.openxmlformats.org/drawingml/2006/main" noGrp="1"/>
          </p:cNvSpPr>
          <p:nvPr/>
        </p:nvSpPr>
        <p:spPr>
          <a:xfrm xmlns:a="http://schemas.openxmlformats.org/drawingml/2006/main">
            <a:off x="647700" y="14382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536370"/>
                </a:solidFill>
                <a:latin typeface="Bitstream Charter"/>
                <a:ea typeface="Bitstream Charter"/>
                <a:cs typeface="Bitstream Charter"/>
              </a:defRPr>
            </a:pPr>
            <a:r>
              <a:rPr sz="1500" b="0">
                <a:solidFill>
                  <a:srgbClr val="536370"/>
                </a:solidFill>
                <a:latin typeface="Bitstream Charter"/>
                <a:ea typeface="Bitstream Charter"/>
                <a:cs typeface="Bitstream Charter"/>
              </a:rPr>
              <a:t>Monthly unemployment rate, January 2019–August 2026</a:t>
            </a:r>
          </a:p>
        </p:txBody>
      </p:sp>
      <p:graphicFrame>
        <p:nvGraphicFramePr>
          <p:cNvPr id="10" name="Chart"/>
          <p:cNvGraphicFramePr/>
          <p:nvPr/>
        </p:nvGraphicFramePr>
        <p:xfrm>
          <a:off xmlns:a="http://schemas.openxmlformats.org/drawingml/2006/main" x="752475" y="1962150"/>
          <a:ext xmlns:a="http://schemas.openxmlformats.org/drawingml/2006/main" cx="10572750" cy="3333750"/>
        </p:xfrm>
        <a:graphic xmlns:a="http://schemas.openxmlformats.org/drawingml/2006/main">
          <a:graphicData uri="http://schemas.openxmlformats.org/drawingml/2006/chart">
            <c:chart xmlns:r="http://schemas.openxmlformats.org/officeDocument/2006/relationships" xmlns:c="http://schemas.openxmlformats.org/drawingml/2006/chart" r:id="Rac18ca9c4a4f4563"/>
          </a:graphicData>
        </a:graphic>
      </p:graphicFrame>
      <p:sp>
        <p:nvSpPr>
          <p:cNvPr id="5" name="">
            <a:extLst xmlns:a="http://schemas.openxmlformats.org/drawingml/2006/main">
              <a:ext uri="{FF2B5EF4-FFF2-40B4-BE49-F238E27FC236}">
                <a16:creationId xmlns:a16="http://schemas.microsoft.com/office/drawing/2014/main" id="{D47B1B06-AA1C-4736-9B93-781B5428D946}"/>
              </a:ext>
            </a:extLst>
          </p:cNvPr>
          <p:cNvSpPr>
            <a:spLocks xmlns:a="http://schemas.openxmlformats.org/drawingml/2006/main" noGrp="1"/>
          </p:cNvSpPr>
          <p:nvPr/>
        </p:nvSpPr>
        <p:spPr>
          <a:xfrm xmlns:a="http://schemas.openxmlformats.org/drawingml/2006/main">
            <a:off x="752475" y="54673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142735"/>
                </a:solidFill>
                <a:latin typeface="Bitstream Charter"/>
                <a:ea typeface="Bitstream Charter"/>
                <a:cs typeface="Bitstream Charter"/>
              </a:defRPr>
            </a:pPr>
            <a:r>
              <a:rPr sz="1650" b="1">
                <a:solidFill>
                  <a:srgbClr val="142735"/>
                </a:solidFill>
                <a:latin typeface="Bitstream Charter"/>
                <a:ea typeface="Bitstream Charter"/>
                <a:cs typeface="Bitstream Charter"/>
              </a:rPr>
              <a:t>Unemployment reached 14.8% in April 2020; it was 4.1% in August 2026.</a:t>
            </a:r>
          </a:p>
        </p:txBody>
      </p:sp>
      <p:sp>
        <p:nvSpPr>
          <p:cNvPr id="6" name="">
            <a:extLst xmlns:a="http://schemas.openxmlformats.org/drawingml/2006/main">
              <a:ext uri="{FF2B5EF4-FFF2-40B4-BE49-F238E27FC236}">
                <a16:creationId xmlns:a16="http://schemas.microsoft.com/office/drawing/2014/main" id="{A63B8D60-043A-4F6A-B620-A667597BEE62}"/>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The 2020 spike reflects the pandemic shock; the chart cannot establish maximum employment.</a:t>
            </a:r>
          </a:p>
        </p:txBody>
      </p:sp>
    </p:spTree>
    <p:extLst>
      <p:ext uri="{BB962C8B-B14F-4D97-AF65-F5344CB8AC3E}">
        <p14:creationId xmlns:p14="http://schemas.microsoft.com/office/powerpoint/2010/main" val="19986651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9ACEA4-6EDA-485D-8E25-EDBE7059122C}"/>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DATA 608  |  STORY 2</a:t>
            </a:r>
          </a:p>
        </p:txBody>
      </p:sp>
      <p:sp>
        <p:nvSpPr>
          <p:cNvPr id="2" name="">
            <a:extLst xmlns:a="http://schemas.openxmlformats.org/drawingml/2006/main">
              <a:ext uri="{FF2B5EF4-FFF2-40B4-BE49-F238E27FC236}">
                <a16:creationId xmlns:a16="http://schemas.microsoft.com/office/drawing/2014/main" id="{5BD54143-263B-437D-A3EA-2F1D45305436}"/>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The evidence supports a qualified answer</a:t>
            </a:r>
          </a:p>
        </p:txBody>
      </p:sp>
      <p:sp>
        <p:nvSpPr>
          <p:cNvPr id="3" name="">
            <a:extLst xmlns:a="http://schemas.openxmlformats.org/drawingml/2006/main">
              <a:ext uri="{FF2B5EF4-FFF2-40B4-BE49-F238E27FC236}">
                <a16:creationId xmlns:a16="http://schemas.microsoft.com/office/drawing/2014/main" id="{6BB2E5C1-FEDF-4657-8BA6-1F72B59B88A6}"/>
              </a:ext>
            </a:extLst>
          </p:cNvPr>
          <p:cNvSpPr>
            <a:spLocks xmlns:a="http://schemas.openxmlformats.org/drawingml/2006/main" noGrp="1"/>
          </p:cNvSpPr>
          <p:nvPr/>
        </p:nvSpPr>
        <p:spPr>
          <a:xfrm xmlns:a="http://schemas.openxmlformats.org/drawingml/2006/main">
            <a:off x="666750" y="1685925"/>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735"/>
                </a:solidFill>
                <a:latin typeface="Bitstream Charter"/>
                <a:ea typeface="Bitstream Charter"/>
                <a:cs typeface="Bitstream Charter"/>
              </a:defRPr>
            </a:pPr>
            <a:r>
              <a:rPr sz="2400" b="1">
                <a:solidFill>
                  <a:srgbClr val="142735"/>
                </a:solidFill>
                <a:latin typeface="Bitstream Charter"/>
                <a:ea typeface="Bitstream Charter"/>
                <a:cs typeface="Bitstream Charter"/>
              </a:rPr>
              <a:t>The Fed has not maintained low inflation and low unemployment continuously.</a:t>
            </a:r>
          </a:p>
        </p:txBody>
      </p:sp>
      <p:sp>
        <p:nvSpPr>
          <p:cNvPr id="4" name="">
            <a:extLst xmlns:a="http://schemas.openxmlformats.org/drawingml/2006/main">
              <a:ext uri="{FF2B5EF4-FFF2-40B4-BE49-F238E27FC236}">
                <a16:creationId xmlns:a16="http://schemas.microsoft.com/office/drawing/2014/main" id="{5D9F27A2-F926-440E-8CAF-3A1484E5B0B4}"/>
              </a:ext>
            </a:extLst>
          </p:cNvPr>
          <p:cNvSpPr>
            <a:spLocks xmlns:a="http://schemas.openxmlformats.org/drawingml/2006/main" noGrp="1"/>
          </p:cNvSpPr>
          <p:nvPr/>
        </p:nvSpPr>
        <p:spPr>
          <a:xfrm xmlns:a="http://schemas.openxmlformats.org/drawingml/2006/main">
            <a:off x="666750" y="2905125"/>
            <a:ext cx="10477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42735"/>
                </a:solidFill>
                <a:latin typeface="Bitstream Charter"/>
                <a:ea typeface="Bitstream Charter"/>
                <a:cs typeface="Bitstream Charter"/>
              </a:defRPr>
            </a:pPr>
            <a:r>
              <a:rPr sz="1875" b="0">
                <a:solidFill>
                  <a:srgbClr val="142735"/>
                </a:solidFill>
                <a:latin typeface="Bitstream Charter"/>
                <a:ea typeface="Bitstream Charter"/>
                <a:cs typeface="Bitstream Charter"/>
              </a:rPr>
              <a:t>Low inflation and low unemployment have coexisted in some periods. Inflation fell after the 2022 rate increases without unemployment approaching the 2020 peak, but CPI inflation rose again during spring 2026.</a:t>
            </a:r>
          </a:p>
        </p:txBody>
      </p:sp>
      <p:sp>
        <p:nvSpPr>
          <p:cNvPr id="5" name="">
            <a:extLst xmlns:a="http://schemas.openxmlformats.org/drawingml/2006/main">
              <a:ext uri="{FF2B5EF4-FFF2-40B4-BE49-F238E27FC236}">
                <a16:creationId xmlns:a16="http://schemas.microsoft.com/office/drawing/2014/main" id="{12F42F56-914B-43B5-8121-C695D37F584A}"/>
              </a:ext>
            </a:extLst>
          </p:cNvPr>
          <p:cNvSpPr>
            <a:spLocks xmlns:a="http://schemas.openxmlformats.org/drawingml/2006/main" noGrp="1"/>
          </p:cNvSpPr>
          <p:nvPr/>
        </p:nvSpPr>
        <p:spPr>
          <a:xfrm xmlns:a="http://schemas.openxmlformats.org/drawingml/2006/main">
            <a:off x="666750" y="4838700"/>
            <a:ext cx="10477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536370"/>
                </a:solidFill>
                <a:latin typeface="Bitstream Charter"/>
                <a:ea typeface="Bitstream Charter"/>
                <a:cs typeface="Bitstream Charter"/>
              </a:defRPr>
            </a:pPr>
            <a:r>
              <a:rPr sz="1725" b="0">
                <a:solidFill>
                  <a:srgbClr val="536370"/>
                </a:solidFill>
                <a:latin typeface="Bitstream Charter"/>
                <a:ea typeface="Bitstream Charter"/>
                <a:cs typeface="Bitstream Charter"/>
              </a:rPr>
              <a:t>A timeline shows sequence. It cannot separate the Fed’s effect from supply shocks, fiscal policy and global events.</a:t>
            </a:r>
          </a:p>
        </p:txBody>
      </p:sp>
      <p:sp>
        <p:nvSpPr>
          <p:cNvPr id="6" name="">
            <a:extLst xmlns:a="http://schemas.openxmlformats.org/drawingml/2006/main">
              <a:ext uri="{FF2B5EF4-FFF2-40B4-BE49-F238E27FC236}">
                <a16:creationId xmlns:a16="http://schemas.microsoft.com/office/drawing/2014/main" id="{52153EDC-70A8-4C11-B869-4D258ABDFDF3}"/>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The Fed’s 2% target is for PCE inflation, while these charts use CPI inflation.</a:t>
            </a:r>
          </a:p>
        </p:txBody>
      </p:sp>
    </p:spTree>
    <p:extLst>
      <p:ext uri="{BB962C8B-B14F-4D97-AF65-F5344CB8AC3E}">
        <p14:creationId xmlns:p14="http://schemas.microsoft.com/office/powerpoint/2010/main" val="18700147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31FB88-9A05-48B9-B221-9302529D3599}"/>
              </a:ext>
            </a:extLst>
          </p:cNvPr>
          <p:cNvSpPr>
            <a:spLocks xmlns:a="http://schemas.openxmlformats.org/drawingml/2006/main" noGrp="1"/>
          </p:cNvSpPr>
          <p:nvPr/>
        </p:nvSpPr>
        <p:spPr>
          <a:xfrm xmlns:a="http://schemas.openxmlformats.org/drawingml/2006/main">
            <a:off x="590550" y="3238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1">
                <a:solidFill>
                  <a:srgbClr val="536370"/>
                </a:solidFill>
                <a:latin typeface="Bitstream Charter"/>
                <a:ea typeface="Bitstream Charter"/>
                <a:cs typeface="Bitstream Charter"/>
              </a:defRPr>
            </a:pPr>
            <a:r>
              <a:rPr sz="975" b="1">
                <a:solidFill>
                  <a:srgbClr val="536370"/>
                </a:solidFill>
                <a:latin typeface="Bitstream Charter"/>
                <a:ea typeface="Bitstream Charter"/>
                <a:cs typeface="Bitstream Charter"/>
              </a:rPr>
              <a:t>STORY DEVELOPMENT FOCUS</a:t>
            </a:r>
          </a:p>
        </p:txBody>
      </p:sp>
      <p:sp>
        <p:nvSpPr>
          <p:cNvPr id="2" name="">
            <a:extLst xmlns:a="http://schemas.openxmlformats.org/drawingml/2006/main">
              <a:ext uri="{FF2B5EF4-FFF2-40B4-BE49-F238E27FC236}">
                <a16:creationId xmlns:a16="http://schemas.microsoft.com/office/drawing/2014/main" id="{9487CB36-AB67-431C-970E-48D4D3F15715}"/>
              </a:ext>
            </a:extLst>
          </p:cNvPr>
          <p:cNvSpPr>
            <a:spLocks xmlns:a="http://schemas.openxmlformats.org/drawingml/2006/main" noGrp="1"/>
          </p:cNvSpPr>
          <p:nvPr/>
        </p:nvSpPr>
        <p:spPr>
          <a:xfrm xmlns:a="http://schemas.openxmlformats.org/drawingml/2006/main">
            <a:off x="590550" y="7048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a:solidFill>
                  <a:srgbClr val="142735"/>
                </a:solidFill>
                <a:latin typeface="Bitstream Charter"/>
                <a:ea typeface="Bitstream Charter"/>
                <a:cs typeface="Bitstream Charter"/>
              </a:defRPr>
            </a:pPr>
            <a:r>
              <a:rPr sz="2775" b="1">
                <a:solidFill>
                  <a:srgbClr val="142735"/>
                </a:solidFill>
                <a:latin typeface="Bitstream Charter"/>
                <a:ea typeface="Bitstream Charter"/>
                <a:cs typeface="Bitstream Charter"/>
              </a:rPr>
              <a:t>Design choices make the story testable</a:t>
            </a:r>
          </a:p>
        </p:txBody>
      </p:sp>
      <p:sp>
        <p:nvSpPr>
          <p:cNvPr id="3" name="">
            <a:extLst xmlns:a="http://schemas.openxmlformats.org/drawingml/2006/main">
              <a:ext uri="{FF2B5EF4-FFF2-40B4-BE49-F238E27FC236}">
                <a16:creationId xmlns:a16="http://schemas.microsoft.com/office/drawing/2014/main" id="{9E6EBF3D-D208-4CC2-83F3-051106F495AD}"/>
              </a:ext>
            </a:extLst>
          </p:cNvPr>
          <p:cNvSpPr>
            <a:spLocks xmlns:a="http://schemas.openxmlformats.org/drawingml/2006/main" noGrp="1"/>
          </p:cNvSpPr>
          <p:nvPr/>
        </p:nvSpPr>
        <p:spPr>
          <a:xfrm xmlns:a="http://schemas.openxmlformats.org/drawingml/2006/main">
            <a:off x="647700" y="15049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42735"/>
                </a:solidFill>
                <a:latin typeface="Bitstream Charter"/>
                <a:ea typeface="Bitstream Charter"/>
                <a:cs typeface="Bitstream Charter"/>
              </a:defRPr>
            </a:pPr>
            <a:r>
              <a:rPr sz="1875" b="0">
                <a:solidFill>
                  <a:srgbClr val="142735"/>
                </a:solidFill>
                <a:latin typeface="Bitstream Charter"/>
                <a:ea typeface="Bitstream Charter"/>
                <a:cs typeface="Bitstream Charter"/>
              </a:rPr>
              <a:t>Audience: a general reader who needs an understandable answer to the dual-mandate question.</a:t>
            </a:r>
          </a:p>
        </p:txBody>
      </p:sp>
      <p:sp>
        <p:nvSpPr>
          <p:cNvPr id="4" name="">
            <a:extLst xmlns:a="http://schemas.openxmlformats.org/drawingml/2006/main">
              <a:ext uri="{FF2B5EF4-FFF2-40B4-BE49-F238E27FC236}">
                <a16:creationId xmlns:a16="http://schemas.microsoft.com/office/drawing/2014/main" id="{2A0D04BC-F6C9-44AB-993E-4C446E5ECA1D}"/>
              </a:ext>
            </a:extLst>
          </p:cNvPr>
          <p:cNvSpPr>
            <a:spLocks xmlns:a="http://schemas.openxmlformats.org/drawingml/2006/main" noGrp="1"/>
          </p:cNvSpPr>
          <p:nvPr/>
        </p:nvSpPr>
        <p:spPr>
          <a:xfrm xmlns:a="http://schemas.openxmlformats.org/drawingml/2006/main">
            <a:off x="647700" y="2438400"/>
            <a:ext cx="10477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42735"/>
                </a:solidFill>
                <a:latin typeface="Bitstream Charter"/>
                <a:ea typeface="Bitstream Charter"/>
                <a:cs typeface="Bitstream Charter"/>
              </a:defRPr>
            </a:pPr>
            <a:r>
              <a:rPr sz="1875" b="0">
                <a:solidFill>
                  <a:srgbClr val="142735"/>
                </a:solidFill>
                <a:latin typeface="Bitstream Charter"/>
                <a:ea typeface="Bitstream Charter"/>
                <a:cs typeface="Bitstream Charter"/>
              </a:rPr>
              <a:t>Story framework: show the 25-year record, zoom into the inflation episode, then weigh both goals and the limits of attribution.</a:t>
            </a:r>
          </a:p>
        </p:txBody>
      </p:sp>
      <p:sp>
        <p:nvSpPr>
          <p:cNvPr id="5" name="">
            <a:extLst xmlns:a="http://schemas.openxmlformats.org/drawingml/2006/main">
              <a:ext uri="{FF2B5EF4-FFF2-40B4-BE49-F238E27FC236}">
                <a16:creationId xmlns:a16="http://schemas.microsoft.com/office/drawing/2014/main" id="{A5276E9D-FF9B-4EBC-91F7-EE14B6BEB789}"/>
              </a:ext>
            </a:extLst>
          </p:cNvPr>
          <p:cNvSpPr>
            <a:spLocks xmlns:a="http://schemas.openxmlformats.org/drawingml/2006/main" noGrp="1"/>
          </p:cNvSpPr>
          <p:nvPr/>
        </p:nvSpPr>
        <p:spPr>
          <a:xfrm xmlns:a="http://schemas.openxmlformats.org/drawingml/2006/main">
            <a:off x="647700" y="377190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42735"/>
                </a:solidFill>
                <a:latin typeface="Bitstream Charter"/>
                <a:ea typeface="Bitstream Charter"/>
                <a:cs typeface="Bitstream Charter"/>
              </a:defRPr>
            </a:pPr>
            <a:r>
              <a:rPr sz="1875" b="0">
                <a:solidFill>
                  <a:srgbClr val="142735"/>
                </a:solidFill>
                <a:latin typeface="Bitstream Charter"/>
                <a:ea typeface="Bitstream Charter"/>
                <a:cs typeface="Bitstream Charter"/>
              </a:rPr>
              <a:t>Visual selection: aligned time-series lines show order and delays; separate unemployment panels preserve legibility; direct takeaway titles communicate each result.</a:t>
            </a:r>
          </a:p>
        </p:txBody>
      </p:sp>
      <p:sp>
        <p:nvSpPr>
          <p:cNvPr id="6" name="">
            <a:extLst xmlns:a="http://schemas.openxmlformats.org/drawingml/2006/main">
              <a:ext uri="{FF2B5EF4-FFF2-40B4-BE49-F238E27FC236}">
                <a16:creationId xmlns:a16="http://schemas.microsoft.com/office/drawing/2014/main" id="{7C0C16D4-790F-4516-A7D7-A0CAF470EA3F}"/>
              </a:ext>
            </a:extLst>
          </p:cNvPr>
          <p:cNvSpPr>
            <a:spLocks xmlns:a="http://schemas.openxmlformats.org/drawingml/2006/main" noGrp="1"/>
          </p:cNvSpPr>
          <p:nvPr/>
        </p:nvSpPr>
        <p:spPr>
          <a:xfrm xmlns:a="http://schemas.openxmlformats.org/drawingml/2006/main">
            <a:off x="647700" y="51435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536370"/>
                </a:solidFill>
                <a:latin typeface="Bitstream Charter"/>
                <a:ea typeface="Bitstream Charter"/>
                <a:cs typeface="Bitstream Charter"/>
              </a:defRPr>
            </a:pPr>
            <a:r>
              <a:rPr sz="1725" b="0">
                <a:solidFill>
                  <a:srgbClr val="536370"/>
                </a:solidFill>
                <a:latin typeface="Bitstream Charter"/>
                <a:ea typeface="Bitstream Charter"/>
                <a:cs typeface="Bitstream Charter"/>
              </a:rPr>
              <a:t>Technology: Plotly in the coded notebook, with editable charts here. Story 1 used Matplotlib and Seaborn.</a:t>
            </a:r>
          </a:p>
        </p:txBody>
      </p:sp>
      <p:sp>
        <p:nvSpPr>
          <p:cNvPr id="7" name="">
            <a:extLst xmlns:a="http://schemas.openxmlformats.org/drawingml/2006/main">
              <a:ext uri="{FF2B5EF4-FFF2-40B4-BE49-F238E27FC236}">
                <a16:creationId xmlns:a16="http://schemas.microsoft.com/office/drawing/2014/main" id="{41C47DA5-D94A-4C6D-9630-0C26077FE22D}"/>
              </a:ext>
            </a:extLst>
          </p:cNvPr>
          <p:cNvSpPr>
            <a:spLocks xmlns:a="http://schemas.openxmlformats.org/drawingml/2006/main" noGrp="1"/>
          </p:cNvSpPr>
          <p:nvPr/>
        </p:nvSpPr>
        <p:spPr>
          <a:xfrm xmlns:a="http://schemas.openxmlformats.org/drawingml/2006/main">
            <a:off x="590550" y="6457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718"/>
          </a:bodyPr>
          <a:lstStyle xmlns:a="http://schemas.openxmlformats.org/drawingml/2006/main"/>
          <a:p xmlns:a="http://schemas.openxmlformats.org/drawingml/2006/main">
            <a:pPr>
              <a:defRPr sz="975" b="0">
                <a:solidFill>
                  <a:srgbClr val="536370"/>
                </a:solidFill>
                <a:latin typeface="Bitstream Charter"/>
                <a:ea typeface="Bitstream Charter"/>
                <a:cs typeface="Bitstream Charter"/>
              </a:defRPr>
            </a:pPr>
            <a:r>
              <a:rPr sz="975" b="0">
                <a:solidFill>
                  <a:srgbClr val="536370"/>
                </a:solidFill>
                <a:latin typeface="Bitstream Charter"/>
                <a:ea typeface="Bitstream Charter"/>
                <a:cs typeface="Bitstream Charter"/>
              </a:rPr>
              <a:t>Data and code: BLS public API attempt, FRED series download and documented quota fallback.</a:t>
            </a:r>
          </a:p>
        </p:txBody>
      </p:sp>
    </p:spTree>
    <p:extLst>
      <p:ext uri="{BB962C8B-B14F-4D97-AF65-F5344CB8AC3E}">
        <p14:creationId xmlns:p14="http://schemas.microsoft.com/office/powerpoint/2010/main" val="1893965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2026-09-27T17:37:37.8440000Z</dcterms:created>
  <dcterms:modified xsi:type="dcterms:W3CDTF">2026-09-27T17:37:37.8440000Z</dcterms:modified>
</coreProperties>
</file>