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CPI inflation</c:v>
          </c:tx>
          <c:spPr>
            <a:ln w="38100">
              <a:solidFill>
                <a:srgbClr val="D97706"/>
              </a:solidFill>
              <a:prstDash val="solid"/>
            </a:ln>
          </c:spPr>
          <c:marker>
            <c:symbol val="none"/>
          </c:marker>
          <c:cat>
            <c:numRef>
              <c:f>'Chart Data'!$A$2:$A$25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Data'!$B$2:$B$25</c:f>
              <c:numCache>
                <c:formatCode>0.0</c:formatCode>
                <c:ptCount val="24"/>
                <c:pt idx="0">
                  <c:v>1.595</c:v>
                </c:pt>
                <c:pt idx="1">
                  <c:v>2.2999999999999998</c:v>
                </c:pt>
                <c:pt idx="2">
                  <c:v>2.6659999999999999</c:v>
                </c:pt>
                <c:pt idx="3">
                  <c:v>3.363</c:v>
                </c:pt>
                <c:pt idx="4">
                  <c:v>3.2330000000000001</c:v>
                </c:pt>
                <c:pt idx="5">
                  <c:v>2.8690000000000002</c:v>
                </c:pt>
                <c:pt idx="6">
                  <c:v>3.8260000000000001</c:v>
                </c:pt>
                <c:pt idx="7">
                  <c:v>-0.307</c:v>
                </c:pt>
                <c:pt idx="8">
                  <c:v>1.641</c:v>
                </c:pt>
                <c:pt idx="9">
                  <c:v>3.1389999999999998</c:v>
                </c:pt>
                <c:pt idx="10">
                  <c:v>2.077</c:v>
                </c:pt>
                <c:pt idx="11">
                  <c:v>1.4670000000000001</c:v>
                </c:pt>
                <c:pt idx="12">
                  <c:v>1.617</c:v>
                </c:pt>
                <c:pt idx="13">
                  <c:v>0.121</c:v>
                </c:pt>
                <c:pt idx="14">
                  <c:v>1.2669999999999999</c:v>
                </c:pt>
                <c:pt idx="15">
                  <c:v>2.133</c:v>
                </c:pt>
                <c:pt idx="16">
                  <c:v>2.44</c:v>
                </c:pt>
                <c:pt idx="17">
                  <c:v>1.8129999999999999</c:v>
                </c:pt>
                <c:pt idx="18">
                  <c:v>1.2549999999999999</c:v>
                </c:pt>
                <c:pt idx="19">
                  <c:v>4.6769999999999996</c:v>
                </c:pt>
                <c:pt idx="20">
                  <c:v>7.9980000000000002</c:v>
                </c:pt>
                <c:pt idx="21">
                  <c:v>4.1459999999999999</c:v>
                </c:pt>
                <c:pt idx="22">
                  <c:v>2.9540000000000002</c:v>
                </c:pt>
                <c:pt idx="23">
                  <c:v>2.6920000000000002</c:v>
                </c:pt>
              </c:numCache>
            </c:numRef>
          </c:val>
          <c:smooth val="1"/>
          <c:extLst>
            <c:ext xmlns:c16="http://schemas.microsoft.com/office/drawing/2014/chart" uri="{C3380CC4-5D6E-409C-BE32-E72D297353CC}">
              <c16:uniqueId val="{00000000-75F3-4B54-AFAD-1DD7FB721735}"/>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E1E6EB"/>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Unemployment</c:v>
          </c:tx>
          <c:spPr>
            <a:ln w="38100">
              <a:solidFill>
                <a:srgbClr val="177C70"/>
              </a:solidFill>
              <a:prstDash val="solid"/>
            </a:ln>
          </c:spPr>
          <c:marker>
            <c:symbol val="none"/>
          </c:marker>
          <c:cat>
            <c:numRef>
              <c:f>'Chart Data'!$A$2:$A$25</c:f>
              <c:numCache>
                <c:formatCode>General</c:formatCode>
                <c:ptCount val="24"/>
                <c:pt idx="0">
                  <c:v>2002</c:v>
                </c:pt>
                <c:pt idx="1">
                  <c:v>2003</c:v>
                </c:pt>
                <c:pt idx="2">
                  <c:v>2004</c:v>
                </c:pt>
                <c:pt idx="3">
                  <c:v>2005</c:v>
                </c:pt>
                <c:pt idx="4">
                  <c:v>2006</c:v>
                </c:pt>
                <c:pt idx="5">
                  <c:v>2007</c:v>
                </c:pt>
                <c:pt idx="6">
                  <c:v>2008</c:v>
                </c:pt>
                <c:pt idx="7">
                  <c:v>2009</c:v>
                </c:pt>
                <c:pt idx="8">
                  <c:v>2010</c:v>
                </c:pt>
                <c:pt idx="9">
                  <c:v>2011</c:v>
                </c:pt>
                <c:pt idx="10">
                  <c:v>2012</c:v>
                </c:pt>
                <c:pt idx="11">
                  <c:v>2013</c:v>
                </c:pt>
                <c:pt idx="12">
                  <c:v>2014</c:v>
                </c:pt>
                <c:pt idx="13">
                  <c:v>2015</c:v>
                </c:pt>
                <c:pt idx="14">
                  <c:v>2016</c:v>
                </c:pt>
                <c:pt idx="15">
                  <c:v>2017</c:v>
                </c:pt>
                <c:pt idx="16">
                  <c:v>2018</c:v>
                </c:pt>
                <c:pt idx="17">
                  <c:v>2019</c:v>
                </c:pt>
                <c:pt idx="18">
                  <c:v>2020</c:v>
                </c:pt>
                <c:pt idx="19">
                  <c:v>2021</c:v>
                </c:pt>
                <c:pt idx="20">
                  <c:v>2022</c:v>
                </c:pt>
                <c:pt idx="21">
                  <c:v>2023</c:v>
                </c:pt>
                <c:pt idx="22">
                  <c:v>2024</c:v>
                </c:pt>
                <c:pt idx="23">
                  <c:v>2025</c:v>
                </c:pt>
              </c:numCache>
            </c:numRef>
          </c:cat>
          <c:val>
            <c:numRef>
              <c:f>'Chart Data'!$B$2:$B$25</c:f>
              <c:numCache>
                <c:formatCode>0.0</c:formatCode>
                <c:ptCount val="24"/>
                <c:pt idx="0">
                  <c:v>5.7830000000000004</c:v>
                </c:pt>
                <c:pt idx="1">
                  <c:v>5.992</c:v>
                </c:pt>
                <c:pt idx="2">
                  <c:v>5.5419999999999998</c:v>
                </c:pt>
                <c:pt idx="3">
                  <c:v>5.0830000000000002</c:v>
                </c:pt>
                <c:pt idx="4">
                  <c:v>4.6079999999999997</c:v>
                </c:pt>
                <c:pt idx="5">
                  <c:v>4.617</c:v>
                </c:pt>
                <c:pt idx="6">
                  <c:v>5.8</c:v>
                </c:pt>
                <c:pt idx="7">
                  <c:v>9.2829999999999995</c:v>
                </c:pt>
                <c:pt idx="8">
                  <c:v>9.6080000000000005</c:v>
                </c:pt>
                <c:pt idx="9">
                  <c:v>8.9329999999999998</c:v>
                </c:pt>
                <c:pt idx="10">
                  <c:v>8.0749999999999993</c:v>
                </c:pt>
                <c:pt idx="11">
                  <c:v>7.3579999999999997</c:v>
                </c:pt>
                <c:pt idx="12">
                  <c:v>6.1580000000000004</c:v>
                </c:pt>
                <c:pt idx="13">
                  <c:v>5.2750000000000004</c:v>
                </c:pt>
                <c:pt idx="14">
                  <c:v>4.875</c:v>
                </c:pt>
                <c:pt idx="15">
                  <c:v>4.3579999999999997</c:v>
                </c:pt>
                <c:pt idx="16">
                  <c:v>3.8919999999999999</c:v>
                </c:pt>
                <c:pt idx="17">
                  <c:v>3.6749999999999998</c:v>
                </c:pt>
                <c:pt idx="18">
                  <c:v>8.1</c:v>
                </c:pt>
                <c:pt idx="19">
                  <c:v>5.35</c:v>
                </c:pt>
                <c:pt idx="20">
                  <c:v>3.65</c:v>
                </c:pt>
                <c:pt idx="21">
                  <c:v>3.625</c:v>
                </c:pt>
                <c:pt idx="22">
                  <c:v>4.0250000000000004</c:v>
                </c:pt>
                <c:pt idx="23">
                  <c:v>4.2640000000000002</c:v>
                </c:pt>
              </c:numCache>
            </c:numRef>
          </c:val>
          <c:smooth val="1"/>
          <c:extLst>
            <c:ext xmlns:c16="http://schemas.microsoft.com/office/drawing/2014/chart" uri="{C3380CC4-5D6E-409C-BE32-E72D297353CC}">
              <c16:uniqueId val="{00000000-F203-43A2-A39E-990F27EFFF4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E1E6EB"/>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CPI inflation</c:v>
          </c:tx>
          <c:spPr>
            <a:ln w="38100">
              <a:solidFill>
                <a:srgbClr val="D97706"/>
              </a:solidFill>
              <a:prstDash val="solid"/>
            </a:ln>
          </c:spPr>
          <c:marker>
            <c:symbol val="none"/>
          </c:marker>
          <c:cat>
            <c:strRef>
              <c:f>'Chart Data'!$A$2:$A$92</c:f>
              <c:strCache>
                <c:ptCount val="91"/>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2025-11</c:v>
                </c:pt>
                <c:pt idx="82">
                  <c:v>2025-12</c:v>
                </c:pt>
                <c:pt idx="83">
                  <c:v>2026-01</c:v>
                </c:pt>
                <c:pt idx="84">
                  <c:v>2026-02</c:v>
                </c:pt>
                <c:pt idx="85">
                  <c:v>2026-03</c:v>
                </c:pt>
                <c:pt idx="86">
                  <c:v>2026-04</c:v>
                </c:pt>
                <c:pt idx="87">
                  <c:v>2026-05</c:v>
                </c:pt>
                <c:pt idx="88">
                  <c:v>2026-06</c:v>
                </c:pt>
                <c:pt idx="89">
                  <c:v>2026-07</c:v>
                </c:pt>
                <c:pt idx="90">
                  <c:v>2026-08</c:v>
                </c:pt>
              </c:strCache>
            </c:strRef>
          </c:cat>
          <c:val>
            <c:numRef>
              <c:f>'Chart Data'!$B$2:$B$92</c:f>
              <c:numCache>
                <c:formatCode>0.0</c:formatCode>
                <c:ptCount val="91"/>
                <c:pt idx="0">
                  <c:v>1.4876</c:v>
                </c:pt>
                <c:pt idx="1">
                  <c:v>1.5188999999999999</c:v>
                </c:pt>
                <c:pt idx="2">
                  <c:v>1.8832</c:v>
                </c:pt>
                <c:pt idx="3">
                  <c:v>2.0005999999999999</c:v>
                </c:pt>
                <c:pt idx="4">
                  <c:v>1.7959000000000001</c:v>
                </c:pt>
                <c:pt idx="5">
                  <c:v>1.6712</c:v>
                </c:pt>
                <c:pt idx="6">
                  <c:v>1.8263</c:v>
                </c:pt>
                <c:pt idx="7">
                  <c:v>1.7376</c:v>
                </c:pt>
                <c:pt idx="8">
                  <c:v>1.6845000000000001</c:v>
                </c:pt>
                <c:pt idx="9">
                  <c:v>1.734</c:v>
                </c:pt>
                <c:pt idx="10">
                  <c:v>2.0922999999999998</c:v>
                </c:pt>
                <c:pt idx="11">
                  <c:v>2.3195000000000001</c:v>
                </c:pt>
                <c:pt idx="12">
                  <c:v>2.5998000000000001</c:v>
                </c:pt>
                <c:pt idx="13">
                  <c:v>2.3412999999999999</c:v>
                </c:pt>
                <c:pt idx="14">
                  <c:v>1.494</c:v>
                </c:pt>
                <c:pt idx="15">
                  <c:v>0.313</c:v>
                </c:pt>
                <c:pt idx="16">
                  <c:v>0.19819999999999999</c:v>
                </c:pt>
                <c:pt idx="17">
                  <c:v>0.7167</c:v>
                </c:pt>
                <c:pt idx="18">
                  <c:v>0.99690000000000001</c:v>
                </c:pt>
                <c:pt idx="19">
                  <c:v>1.2810999999999999</c:v>
                </c:pt>
                <c:pt idx="20">
                  <c:v>1.391</c:v>
                </c:pt>
                <c:pt idx="21">
                  <c:v>1.2303999999999999</c:v>
                </c:pt>
                <c:pt idx="22">
                  <c:v>1.1757</c:v>
                </c:pt>
                <c:pt idx="23">
                  <c:v>1.3204</c:v>
                </c:pt>
                <c:pt idx="24">
                  <c:v>1.3737999999999999</c:v>
                </c:pt>
                <c:pt idx="25">
                  <c:v>1.6698</c:v>
                </c:pt>
                <c:pt idx="26">
                  <c:v>2.6678000000000002</c:v>
                </c:pt>
                <c:pt idx="27">
                  <c:v>4.1330999999999998</c:v>
                </c:pt>
                <c:pt idx="28">
                  <c:v>4.9183000000000003</c:v>
                </c:pt>
                <c:pt idx="29">
                  <c:v>5.2956000000000003</c:v>
                </c:pt>
                <c:pt idx="30">
                  <c:v>5.2451999999999996</c:v>
                </c:pt>
                <c:pt idx="31">
                  <c:v>5.1520000000000001</c:v>
                </c:pt>
                <c:pt idx="32">
                  <c:v>5.3512000000000004</c:v>
                </c:pt>
                <c:pt idx="33">
                  <c:v>6.2350000000000003</c:v>
                </c:pt>
                <c:pt idx="34">
                  <c:v>6.9020000000000001</c:v>
                </c:pt>
                <c:pt idx="35">
                  <c:v>7.1742999999999997</c:v>
                </c:pt>
                <c:pt idx="36">
                  <c:v>7.5587999999999997</c:v>
                </c:pt>
                <c:pt idx="37">
                  <c:v>7.9372999999999996</c:v>
                </c:pt>
                <c:pt idx="38">
                  <c:v>8.5722000000000005</c:v>
                </c:pt>
                <c:pt idx="39">
                  <c:v>8.2317999999999998</c:v>
                </c:pt>
                <c:pt idx="40">
                  <c:v>8.5381999999999998</c:v>
                </c:pt>
                <c:pt idx="41">
                  <c:v>8.9794</c:v>
                </c:pt>
                <c:pt idx="42">
                  <c:v>8.4626000000000001</c:v>
                </c:pt>
                <c:pt idx="43">
                  <c:v>8.2225999999999999</c:v>
                </c:pt>
                <c:pt idx="44">
                  <c:v>8.1920999999999999</c:v>
                </c:pt>
                <c:pt idx="45">
                  <c:v>7.7587999999999999</c:v>
                </c:pt>
                <c:pt idx="46">
                  <c:v>7.1228999999999996</c:v>
                </c:pt>
                <c:pt idx="47">
                  <c:v>6.4046000000000003</c:v>
                </c:pt>
                <c:pt idx="48">
                  <c:v>6.3272000000000004</c:v>
                </c:pt>
                <c:pt idx="49">
                  <c:v>5.9577999999999998</c:v>
                </c:pt>
                <c:pt idx="50">
                  <c:v>4.9177</c:v>
                </c:pt>
                <c:pt idx="51">
                  <c:v>4.9500999999999999</c:v>
                </c:pt>
                <c:pt idx="52">
                  <c:v>4.1318999999999999</c:v>
                </c:pt>
                <c:pt idx="53">
                  <c:v>3.0706000000000002</c:v>
                </c:pt>
                <c:pt idx="54">
                  <c:v>3.2877000000000001</c:v>
                </c:pt>
                <c:pt idx="55">
                  <c:v>3.7225000000000001</c:v>
                </c:pt>
                <c:pt idx="56">
                  <c:v>3.6871999999999998</c:v>
                </c:pt>
                <c:pt idx="57">
                  <c:v>3.2513000000000001</c:v>
                </c:pt>
                <c:pt idx="58">
                  <c:v>3.1333000000000002</c:v>
                </c:pt>
                <c:pt idx="59">
                  <c:v>3.3159000000000001</c:v>
                </c:pt>
                <c:pt idx="60">
                  <c:v>3.0882999999999998</c:v>
                </c:pt>
                <c:pt idx="61">
                  <c:v>3.1570999999999998</c:v>
                </c:pt>
                <c:pt idx="62">
                  <c:v>3.4868000000000001</c:v>
                </c:pt>
                <c:pt idx="63">
                  <c:v>3.3607999999999998</c:v>
                </c:pt>
                <c:pt idx="64">
                  <c:v>3.2443</c:v>
                </c:pt>
                <c:pt idx="65">
                  <c:v>2.9702999999999999</c:v>
                </c:pt>
                <c:pt idx="66">
                  <c:v>2.9415</c:v>
                </c:pt>
                <c:pt idx="67">
                  <c:v>2.6071</c:v>
                </c:pt>
                <c:pt idx="68">
                  <c:v>2.4264999999999999</c:v>
                </c:pt>
                <c:pt idx="69">
                  <c:v>2.5788000000000002</c:v>
                </c:pt>
                <c:pt idx="70">
                  <c:v>2.7195</c:v>
                </c:pt>
                <c:pt idx="71">
                  <c:v>2.8706999999999998</c:v>
                </c:pt>
                <c:pt idx="72">
                  <c:v>2.9910000000000001</c:v>
                </c:pt>
                <c:pt idx="73">
                  <c:v>2.8016000000000001</c:v>
                </c:pt>
                <c:pt idx="74">
                  <c:v>2.3820000000000001</c:v>
                </c:pt>
                <c:pt idx="75">
                  <c:v>2.3254000000000001</c:v>
                </c:pt>
                <c:pt idx="76">
                  <c:v>2.3773</c:v>
                </c:pt>
                <c:pt idx="77">
                  <c:v>2.6804999999999999</c:v>
                </c:pt>
                <c:pt idx="78">
                  <c:v>2.7425999999999999</c:v>
                </c:pt>
                <c:pt idx="79">
                  <c:v>2.9386000000000001</c:v>
                </c:pt>
                <c:pt idx="80">
                  <c:v>3.0226000000000002</c:v>
                </c:pt>
                <c:pt idx="81">
                  <c:v>2.6964000000000001</c:v>
                </c:pt>
                <c:pt idx="82">
                  <c:v>2.6533000000000002</c:v>
                </c:pt>
                <c:pt idx="83">
                  <c:v>2.3912</c:v>
                </c:pt>
                <c:pt idx="84">
                  <c:v>2.4340000000000002</c:v>
                </c:pt>
                <c:pt idx="85">
                  <c:v>3.286</c:v>
                </c:pt>
                <c:pt idx="86">
                  <c:v>3.7791999999999999</c:v>
                </c:pt>
                <c:pt idx="87">
                  <c:v>4.1665999999999999</c:v>
                </c:pt>
                <c:pt idx="88">
                  <c:v>3.4634999999999998</c:v>
                </c:pt>
                <c:pt idx="89">
                  <c:v>3.3039000000000001</c:v>
                </c:pt>
                <c:pt idx="90">
                  <c:v>3.3530000000000002</c:v>
                </c:pt>
              </c:numCache>
            </c:numRef>
          </c:val>
          <c:smooth val="1"/>
          <c:extLst>
            <c:ext xmlns:c16="http://schemas.microsoft.com/office/drawing/2014/chart" uri="{C3380CC4-5D6E-409C-BE32-E72D297353CC}">
              <c16:uniqueId val="{00000000-9A96-4D00-94BE-C482A2C63798}"/>
            </c:ext>
          </c:extLst>
        </c:ser>
        <c:ser>
          <c:idx val="1"/>
          <c:order val="1"/>
          <c:tx>
            <c:v>Effective funds rate</c:v>
          </c:tx>
          <c:spPr>
            <a:ln w="38100">
              <a:solidFill>
                <a:srgbClr val="2563EB"/>
              </a:solidFill>
              <a:prstDash val="solid"/>
            </a:ln>
          </c:spPr>
          <c:marker>
            <c:symbol val="none"/>
          </c:marker>
          <c:cat>
            <c:strRef>
              <c:f>'Chart Data'!$C$2:$C$92</c:f>
              <c:strCache>
                <c:ptCount val="91"/>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2025-11</c:v>
                </c:pt>
                <c:pt idx="82">
                  <c:v>2025-12</c:v>
                </c:pt>
                <c:pt idx="83">
                  <c:v>2026-01</c:v>
                </c:pt>
                <c:pt idx="84">
                  <c:v>2026-02</c:v>
                </c:pt>
                <c:pt idx="85">
                  <c:v>2026-03</c:v>
                </c:pt>
                <c:pt idx="86">
                  <c:v>2026-04</c:v>
                </c:pt>
                <c:pt idx="87">
                  <c:v>2026-05</c:v>
                </c:pt>
                <c:pt idx="88">
                  <c:v>2026-06</c:v>
                </c:pt>
                <c:pt idx="89">
                  <c:v>2026-07</c:v>
                </c:pt>
                <c:pt idx="90">
                  <c:v>2026-08</c:v>
                </c:pt>
              </c:strCache>
            </c:strRef>
          </c:cat>
          <c:val>
            <c:numRef>
              <c:f>'Chart Data'!$D$2:$D$92</c:f>
              <c:numCache>
                <c:formatCode>0.0</c:formatCode>
                <c:ptCount val="91"/>
                <c:pt idx="0">
                  <c:v>2.4</c:v>
                </c:pt>
                <c:pt idx="1">
                  <c:v>2.4</c:v>
                </c:pt>
                <c:pt idx="2">
                  <c:v>2.41</c:v>
                </c:pt>
                <c:pt idx="3">
                  <c:v>2.42</c:v>
                </c:pt>
                <c:pt idx="4">
                  <c:v>2.39</c:v>
                </c:pt>
                <c:pt idx="5">
                  <c:v>2.38</c:v>
                </c:pt>
                <c:pt idx="6">
                  <c:v>2.4</c:v>
                </c:pt>
                <c:pt idx="7">
                  <c:v>2.13</c:v>
                </c:pt>
                <c:pt idx="8">
                  <c:v>2.04</c:v>
                </c:pt>
                <c:pt idx="9">
                  <c:v>1.83</c:v>
                </c:pt>
                <c:pt idx="10">
                  <c:v>1.55</c:v>
                </c:pt>
                <c:pt idx="11">
                  <c:v>1.55</c:v>
                </c:pt>
                <c:pt idx="12">
                  <c:v>1.55</c:v>
                </c:pt>
                <c:pt idx="13">
                  <c:v>1.58</c:v>
                </c:pt>
                <c:pt idx="14">
                  <c:v>0.65</c:v>
                </c:pt>
                <c:pt idx="15">
                  <c:v>0.05</c:v>
                </c:pt>
                <c:pt idx="16">
                  <c:v>0.05</c:v>
                </c:pt>
                <c:pt idx="17">
                  <c:v>0.08</c:v>
                </c:pt>
                <c:pt idx="18">
                  <c:v>0.09</c:v>
                </c:pt>
                <c:pt idx="19">
                  <c:v>0.1</c:v>
                </c:pt>
                <c:pt idx="20">
                  <c:v>0.09</c:v>
                </c:pt>
                <c:pt idx="21">
                  <c:v>0.09</c:v>
                </c:pt>
                <c:pt idx="22">
                  <c:v>0.09</c:v>
                </c:pt>
                <c:pt idx="23">
                  <c:v>0.09</c:v>
                </c:pt>
                <c:pt idx="24">
                  <c:v>0.09</c:v>
                </c:pt>
                <c:pt idx="25">
                  <c:v>0.08</c:v>
                </c:pt>
                <c:pt idx="26">
                  <c:v>7.0000000000000007E-2</c:v>
                </c:pt>
                <c:pt idx="27">
                  <c:v>7.0000000000000007E-2</c:v>
                </c:pt>
                <c:pt idx="28">
                  <c:v>0.06</c:v>
                </c:pt>
                <c:pt idx="29">
                  <c:v>0.08</c:v>
                </c:pt>
                <c:pt idx="30">
                  <c:v>0.1</c:v>
                </c:pt>
                <c:pt idx="31">
                  <c:v>0.09</c:v>
                </c:pt>
                <c:pt idx="32">
                  <c:v>0.08</c:v>
                </c:pt>
                <c:pt idx="33">
                  <c:v>0.08</c:v>
                </c:pt>
                <c:pt idx="34">
                  <c:v>0.08</c:v>
                </c:pt>
                <c:pt idx="35">
                  <c:v>0.08</c:v>
                </c:pt>
                <c:pt idx="36">
                  <c:v>0.08</c:v>
                </c:pt>
                <c:pt idx="37">
                  <c:v>0.08</c:v>
                </c:pt>
                <c:pt idx="38">
                  <c:v>0.2</c:v>
                </c:pt>
                <c:pt idx="39">
                  <c:v>0.33</c:v>
                </c:pt>
                <c:pt idx="40">
                  <c:v>0.77</c:v>
                </c:pt>
                <c:pt idx="41">
                  <c:v>1.21</c:v>
                </c:pt>
                <c:pt idx="42">
                  <c:v>1.68</c:v>
                </c:pt>
                <c:pt idx="43">
                  <c:v>2.33</c:v>
                </c:pt>
                <c:pt idx="44">
                  <c:v>2.56</c:v>
                </c:pt>
                <c:pt idx="45">
                  <c:v>3.08</c:v>
                </c:pt>
                <c:pt idx="46">
                  <c:v>3.78</c:v>
                </c:pt>
                <c:pt idx="47">
                  <c:v>4.0999999999999996</c:v>
                </c:pt>
                <c:pt idx="48">
                  <c:v>4.33</c:v>
                </c:pt>
                <c:pt idx="49">
                  <c:v>4.57</c:v>
                </c:pt>
                <c:pt idx="50">
                  <c:v>4.6500000000000004</c:v>
                </c:pt>
                <c:pt idx="51">
                  <c:v>4.83</c:v>
                </c:pt>
                <c:pt idx="52">
                  <c:v>5.0599999999999996</c:v>
                </c:pt>
                <c:pt idx="53">
                  <c:v>5.08</c:v>
                </c:pt>
                <c:pt idx="54">
                  <c:v>5.12</c:v>
                </c:pt>
                <c:pt idx="55">
                  <c:v>5.33</c:v>
                </c:pt>
                <c:pt idx="56">
                  <c:v>5.33</c:v>
                </c:pt>
                <c:pt idx="57">
                  <c:v>5.33</c:v>
                </c:pt>
                <c:pt idx="58">
                  <c:v>5.33</c:v>
                </c:pt>
                <c:pt idx="59">
                  <c:v>5.33</c:v>
                </c:pt>
                <c:pt idx="60">
                  <c:v>5.33</c:v>
                </c:pt>
                <c:pt idx="61">
                  <c:v>5.33</c:v>
                </c:pt>
                <c:pt idx="62">
                  <c:v>5.33</c:v>
                </c:pt>
                <c:pt idx="63">
                  <c:v>5.33</c:v>
                </c:pt>
                <c:pt idx="64">
                  <c:v>5.33</c:v>
                </c:pt>
                <c:pt idx="65">
                  <c:v>5.33</c:v>
                </c:pt>
                <c:pt idx="66">
                  <c:v>5.33</c:v>
                </c:pt>
                <c:pt idx="67">
                  <c:v>5.33</c:v>
                </c:pt>
                <c:pt idx="68">
                  <c:v>5.13</c:v>
                </c:pt>
                <c:pt idx="69">
                  <c:v>4.83</c:v>
                </c:pt>
                <c:pt idx="70">
                  <c:v>4.6399999999999997</c:v>
                </c:pt>
                <c:pt idx="71">
                  <c:v>4.4800000000000004</c:v>
                </c:pt>
                <c:pt idx="72">
                  <c:v>4.33</c:v>
                </c:pt>
                <c:pt idx="73">
                  <c:v>4.33</c:v>
                </c:pt>
                <c:pt idx="74">
                  <c:v>4.33</c:v>
                </c:pt>
                <c:pt idx="75">
                  <c:v>4.33</c:v>
                </c:pt>
                <c:pt idx="76">
                  <c:v>4.33</c:v>
                </c:pt>
                <c:pt idx="77">
                  <c:v>4.33</c:v>
                </c:pt>
                <c:pt idx="78">
                  <c:v>4.33</c:v>
                </c:pt>
                <c:pt idx="79">
                  <c:v>4.33</c:v>
                </c:pt>
                <c:pt idx="80">
                  <c:v>4.22</c:v>
                </c:pt>
                <c:pt idx="81">
                  <c:v>3.88</c:v>
                </c:pt>
                <c:pt idx="82">
                  <c:v>3.72</c:v>
                </c:pt>
                <c:pt idx="83">
                  <c:v>3.64</c:v>
                </c:pt>
                <c:pt idx="84">
                  <c:v>3.64</c:v>
                </c:pt>
                <c:pt idx="85">
                  <c:v>3.64</c:v>
                </c:pt>
                <c:pt idx="86">
                  <c:v>3.64</c:v>
                </c:pt>
                <c:pt idx="87">
                  <c:v>3.63</c:v>
                </c:pt>
                <c:pt idx="88">
                  <c:v>3.63</c:v>
                </c:pt>
                <c:pt idx="89">
                  <c:v>3.63</c:v>
                </c:pt>
                <c:pt idx="90">
                  <c:v>3.63</c:v>
                </c:pt>
              </c:numCache>
            </c:numRef>
          </c:val>
          <c:smooth val="1"/>
          <c:extLst>
            <c:ext xmlns:c16="http://schemas.microsoft.com/office/drawing/2014/chart" uri="{C3380CC4-5D6E-409C-BE32-E72D297353CC}">
              <c16:uniqueId val="{00000001-9A96-4D00-94BE-C482A2C63798}"/>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E1E6EB"/>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50112"/>
        <c:crosses val="autoZero"/>
        <c:crossBetween val="between"/>
      </c:valAx>
    </c:plotArea>
    <c:legend>
      <c:legendPos val="b"/>
      <c:overlay val="0"/>
      <c:txPr>
        <a:bodyPr anchorCtr="1"/>
        <a:lstStyle/>
        <a:p>
          <a:pPr>
            <a:defRPr>
              <a:latin typeface="Bitstream Charter"/>
              <a:ea typeface="Bitstream Charter"/>
              <a:cs typeface="Bitstream Charter"/>
            </a:defRPr>
          </a:pPr>
          <a:endParaRPr lang="en-US"/>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Unemployment</c:v>
          </c:tx>
          <c:spPr>
            <a:ln w="38100">
              <a:solidFill>
                <a:srgbClr val="177C70"/>
              </a:solidFill>
              <a:prstDash val="solid"/>
            </a:ln>
          </c:spPr>
          <c:marker>
            <c:symbol val="none"/>
          </c:marker>
          <c:cat>
            <c:strRef>
              <c:f>'Chart Data'!$A$2:$A$92</c:f>
              <c:strCache>
                <c:ptCount val="91"/>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2025-11</c:v>
                </c:pt>
                <c:pt idx="82">
                  <c:v>2025-12</c:v>
                </c:pt>
                <c:pt idx="83">
                  <c:v>2026-01</c:v>
                </c:pt>
                <c:pt idx="84">
                  <c:v>2026-02</c:v>
                </c:pt>
                <c:pt idx="85">
                  <c:v>2026-03</c:v>
                </c:pt>
                <c:pt idx="86">
                  <c:v>2026-04</c:v>
                </c:pt>
                <c:pt idx="87">
                  <c:v>2026-05</c:v>
                </c:pt>
                <c:pt idx="88">
                  <c:v>2026-06</c:v>
                </c:pt>
                <c:pt idx="89">
                  <c:v>2026-07</c:v>
                </c:pt>
                <c:pt idx="90">
                  <c:v>2026-08</c:v>
                </c:pt>
              </c:strCache>
            </c:strRef>
          </c:cat>
          <c:val>
            <c:numRef>
              <c:f>'Chart Data'!$B$2:$B$92</c:f>
              <c:numCache>
                <c:formatCode>0.0</c:formatCode>
                <c:ptCount val="91"/>
                <c:pt idx="0">
                  <c:v>4</c:v>
                </c:pt>
                <c:pt idx="1">
                  <c:v>3.8</c:v>
                </c:pt>
                <c:pt idx="2">
                  <c:v>3.8</c:v>
                </c:pt>
                <c:pt idx="3">
                  <c:v>3.7</c:v>
                </c:pt>
                <c:pt idx="4">
                  <c:v>3.6</c:v>
                </c:pt>
                <c:pt idx="5">
                  <c:v>3.6</c:v>
                </c:pt>
                <c:pt idx="6">
                  <c:v>3.7</c:v>
                </c:pt>
                <c:pt idx="7">
                  <c:v>3.6</c:v>
                </c:pt>
                <c:pt idx="8">
                  <c:v>3.5</c:v>
                </c:pt>
                <c:pt idx="9">
                  <c:v>3.6</c:v>
                </c:pt>
                <c:pt idx="10">
                  <c:v>3.6</c:v>
                </c:pt>
                <c:pt idx="11">
                  <c:v>3.6</c:v>
                </c:pt>
                <c:pt idx="12">
                  <c:v>3.6</c:v>
                </c:pt>
                <c:pt idx="13">
                  <c:v>3.5</c:v>
                </c:pt>
                <c:pt idx="14">
                  <c:v>4.4000000000000004</c:v>
                </c:pt>
                <c:pt idx="15">
                  <c:v>14.8</c:v>
                </c:pt>
                <c:pt idx="16">
                  <c:v>13.2</c:v>
                </c:pt>
                <c:pt idx="17">
                  <c:v>11</c:v>
                </c:pt>
                <c:pt idx="18">
                  <c:v>10.199999999999999</c:v>
                </c:pt>
                <c:pt idx="19">
                  <c:v>8.4</c:v>
                </c:pt>
                <c:pt idx="20">
                  <c:v>7.8</c:v>
                </c:pt>
                <c:pt idx="21">
                  <c:v>6.9</c:v>
                </c:pt>
                <c:pt idx="22">
                  <c:v>6.7</c:v>
                </c:pt>
                <c:pt idx="23">
                  <c:v>6.7</c:v>
                </c:pt>
                <c:pt idx="24">
                  <c:v>6.4</c:v>
                </c:pt>
                <c:pt idx="25">
                  <c:v>6.2</c:v>
                </c:pt>
                <c:pt idx="26">
                  <c:v>6.1</c:v>
                </c:pt>
                <c:pt idx="27">
                  <c:v>6.1</c:v>
                </c:pt>
                <c:pt idx="28">
                  <c:v>5.8</c:v>
                </c:pt>
                <c:pt idx="29">
                  <c:v>5.9</c:v>
                </c:pt>
                <c:pt idx="30">
                  <c:v>5.4</c:v>
                </c:pt>
                <c:pt idx="31">
                  <c:v>5.0999999999999996</c:v>
                </c:pt>
                <c:pt idx="32">
                  <c:v>4.7</c:v>
                </c:pt>
                <c:pt idx="33">
                  <c:v>4.5</c:v>
                </c:pt>
                <c:pt idx="34">
                  <c:v>4.0999999999999996</c:v>
                </c:pt>
                <c:pt idx="35">
                  <c:v>3.9</c:v>
                </c:pt>
                <c:pt idx="36">
                  <c:v>4</c:v>
                </c:pt>
                <c:pt idx="37">
                  <c:v>3.9</c:v>
                </c:pt>
                <c:pt idx="38">
                  <c:v>3.7</c:v>
                </c:pt>
                <c:pt idx="39">
                  <c:v>3.7</c:v>
                </c:pt>
                <c:pt idx="40">
                  <c:v>3.6</c:v>
                </c:pt>
                <c:pt idx="41">
                  <c:v>3.6</c:v>
                </c:pt>
                <c:pt idx="42">
                  <c:v>3.5</c:v>
                </c:pt>
                <c:pt idx="43">
                  <c:v>3.6</c:v>
                </c:pt>
                <c:pt idx="44">
                  <c:v>3.5</c:v>
                </c:pt>
                <c:pt idx="45">
                  <c:v>3.6</c:v>
                </c:pt>
                <c:pt idx="46">
                  <c:v>3.6</c:v>
                </c:pt>
                <c:pt idx="47">
                  <c:v>3.5</c:v>
                </c:pt>
                <c:pt idx="48">
                  <c:v>3.5</c:v>
                </c:pt>
                <c:pt idx="49">
                  <c:v>3.6</c:v>
                </c:pt>
                <c:pt idx="50">
                  <c:v>3.5</c:v>
                </c:pt>
                <c:pt idx="51">
                  <c:v>3.4</c:v>
                </c:pt>
                <c:pt idx="52">
                  <c:v>3.6</c:v>
                </c:pt>
                <c:pt idx="53">
                  <c:v>3.6</c:v>
                </c:pt>
                <c:pt idx="54">
                  <c:v>3.5</c:v>
                </c:pt>
                <c:pt idx="55">
                  <c:v>3.7</c:v>
                </c:pt>
                <c:pt idx="56">
                  <c:v>3.7</c:v>
                </c:pt>
                <c:pt idx="57">
                  <c:v>3.9</c:v>
                </c:pt>
                <c:pt idx="58">
                  <c:v>3.7</c:v>
                </c:pt>
                <c:pt idx="59">
                  <c:v>3.8</c:v>
                </c:pt>
                <c:pt idx="60">
                  <c:v>3.7</c:v>
                </c:pt>
                <c:pt idx="61">
                  <c:v>3.9</c:v>
                </c:pt>
                <c:pt idx="62">
                  <c:v>3.9</c:v>
                </c:pt>
                <c:pt idx="63">
                  <c:v>3.9</c:v>
                </c:pt>
                <c:pt idx="64">
                  <c:v>3.9</c:v>
                </c:pt>
                <c:pt idx="65">
                  <c:v>4.0999999999999996</c:v>
                </c:pt>
                <c:pt idx="66">
                  <c:v>4.2</c:v>
                </c:pt>
                <c:pt idx="67">
                  <c:v>4.2</c:v>
                </c:pt>
                <c:pt idx="68">
                  <c:v>4.0999999999999996</c:v>
                </c:pt>
                <c:pt idx="69">
                  <c:v>4.0999999999999996</c:v>
                </c:pt>
                <c:pt idx="70">
                  <c:v>4.2</c:v>
                </c:pt>
                <c:pt idx="71">
                  <c:v>4.0999999999999996</c:v>
                </c:pt>
                <c:pt idx="72">
                  <c:v>4</c:v>
                </c:pt>
                <c:pt idx="73">
                  <c:v>4.2</c:v>
                </c:pt>
                <c:pt idx="74">
                  <c:v>4.2</c:v>
                </c:pt>
                <c:pt idx="75">
                  <c:v>4.2</c:v>
                </c:pt>
                <c:pt idx="76">
                  <c:v>4.3</c:v>
                </c:pt>
                <c:pt idx="77">
                  <c:v>4.0999999999999996</c:v>
                </c:pt>
                <c:pt idx="78">
                  <c:v>4.3</c:v>
                </c:pt>
                <c:pt idx="79">
                  <c:v>4.3</c:v>
                </c:pt>
                <c:pt idx="80">
                  <c:v>4.4000000000000004</c:v>
                </c:pt>
                <c:pt idx="81">
                  <c:v>4.5</c:v>
                </c:pt>
                <c:pt idx="82">
                  <c:v>4.4000000000000004</c:v>
                </c:pt>
                <c:pt idx="83">
                  <c:v>4.3</c:v>
                </c:pt>
                <c:pt idx="84">
                  <c:v>4.4000000000000004</c:v>
                </c:pt>
                <c:pt idx="85">
                  <c:v>4.3</c:v>
                </c:pt>
                <c:pt idx="86">
                  <c:v>4.3</c:v>
                </c:pt>
                <c:pt idx="87">
                  <c:v>4.3</c:v>
                </c:pt>
                <c:pt idx="88">
                  <c:v>4.2</c:v>
                </c:pt>
                <c:pt idx="89">
                  <c:v>4.0999999999999996</c:v>
                </c:pt>
                <c:pt idx="90">
                  <c:v>4.0999999999999996</c:v>
                </c:pt>
              </c:numCache>
            </c:numRef>
          </c:val>
          <c:smooth val="1"/>
          <c:extLst>
            <c:ext xmlns:c16="http://schemas.microsoft.com/office/drawing/2014/chart" uri="{C3380CC4-5D6E-409C-BE32-E72D297353CC}">
              <c16:uniqueId val="{00000000-1FE6-4DA7-A948-EACE899291F7}"/>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one"/>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E1E6EB"/>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Bureau of Labor Statistics CPI-U CUSR0000SA0 and unemployment LNS14000000; FRED FEDFUNDS. CPI inflation is the 12-month percentage change in the seasonally adjusted CPI index. The timeline does not identify a causal effect of Fed policy.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classmates and a general reader evaluating the Fed’s dual mandate. Story framework: establish measures, examine 25 years, zoom into the recent episode, answer with limits. The Fed’s formal inflation goal uses PCE rather than CPI. CPI is used because the assignment requests CPI. Data retrieval and transformations are documented in the accompanying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BLS CPI-U CUSR0000SA0 and unemployment LNS14000000 from the workbook data; yearly values average available monthly observations. October 2025 is missing in the source and omitted from its annual mean. These aligned charts are chosen to compare timing while giving each measure its own axis.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a common monthly timeline: the exact sequence between inflation and the policy rate matters to the assignment. Both lines use percent, so a shared vertical axis is meaningful. CPI peaked around 9.0% in June 2022. The source has no CPI observation for October 2025; the notebook Plotly chart retains that missing observation as a gap. Sources: BLS CPI-U, FRED FEDFUNDS. A sequence alone does not establish a causal effect.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BLS unemployment series LNS14000000. The 2020 pandemic shock lifted unemployment to 14.8% in April. By August 2026, the rate was 4.1%. The separate panel gives the shock context and keeps it from crowding the inflation-rate comparison. October 2025 is missing.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answer keeps observed co-movement separate from attribution. The formal mandate is stable prices and maximum employment, not literally zero inflation or a single fixed unemployment rate. The Federal Reserve’s longer-run inflation target is defined using PCE. See Federal Reserve Statement on Longer-Run Goals and Monetary Policy Strategy.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Story Development Focus: audience is a general reader or DATA 608 classmate; message is a qualified answer to the dual-mandate question; framework moves from scope to long view, then recent episode and limits. Visual choices are stated both here and beside each relevant chart. Sources: BLS API (https://api.bls.gov/publicAPI/v2/timeseries/data/), BLS CPI and labor series documentation, FRED FEDFUNDS (https://fred.stlouisfed.org/series/FEDFUNDS), and Federal Reserve Longer-Run Goals. The user reported an earlier BLS API success, while the most recently saved notebook run shows a daily quota fallback. Do not claim the bonus has been awarded.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12B"/>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8D92360-E064-40C6-A4B2-FBD0CEA1978F}"/>
              </a:ext>
            </a:extLst>
          </p:cNvPr>
          <p:cNvSpPr>
            <a:spLocks noGrp="1"/>
          </p:cNvSpPr>
          <p:nvPr/>
        </p:nvSpPr>
        <p:spPr>
          <a:xfrm>
            <a:off x="0" y="6715125"/>
            <a:ext cx="12192000" cy="14287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FDEBBEF2-F20F-458F-A667-4392C995D73D}"/>
              </a:ext>
            </a:extLst>
          </p:cNvPr>
          <p:cNvSpPr>
            <a:spLocks noGrp="1"/>
          </p:cNvSpPr>
          <p:nvPr/>
        </p:nvSpPr>
        <p:spPr>
          <a:xfrm>
            <a:off x="762000" y="933450"/>
            <a:ext cx="10287000" cy="1476375"/>
          </a:xfrm>
          <a:prstGeom prst="rect">
            <a:avLst/>
          </a:prstGeom>
          <a:noFill/>
          <a:ln w="0">
            <a:noFill/>
          </a:ln>
        </p:spPr>
        <p:txBody>
          <a:bodyPr>
            <a:normAutofit/>
          </a:bodyPr>
          <a:lstStyle/>
          <a:p>
            <a:pPr>
              <a:defRPr sz="3750" b="1">
                <a:solidFill>
                  <a:srgbClr val="FFFFFF"/>
                </a:solidFill>
                <a:latin typeface="Bitstream Charter"/>
                <a:ea typeface="Bitstream Charter"/>
                <a:cs typeface="Bitstream Charter"/>
              </a:defRPr>
            </a:pPr>
            <a:r>
              <a:rPr sz="3750" b="1">
                <a:solidFill>
                  <a:srgbClr val="FFFFFF"/>
                </a:solidFill>
                <a:latin typeface="Bitstream Charter"/>
                <a:ea typeface="Bitstream Charter"/>
                <a:cs typeface="Bitstream Charter"/>
              </a:rPr>
              <a:t>Can the Fed control inflation</a:t>
            </a:r>
          </a:p>
          <a:p>
            <a:pPr>
              <a:defRPr sz="3750" b="1">
                <a:solidFill>
                  <a:srgbClr val="FFFFFF"/>
                </a:solidFill>
                <a:latin typeface="Bitstream Charter"/>
                <a:ea typeface="Bitstream Charter"/>
                <a:cs typeface="Bitstream Charter"/>
              </a:defRPr>
            </a:pPr>
            <a:r>
              <a:rPr sz="3750" b="1">
                <a:solidFill>
                  <a:srgbClr val="FFFFFF"/>
                </a:solidFill>
                <a:latin typeface="Bitstream Charter"/>
                <a:ea typeface="Bitstream Charter"/>
                <a:cs typeface="Bitstream Charter"/>
              </a:rPr>
              <a:t>and maintain full employment?</a:t>
            </a:r>
          </a:p>
        </p:txBody>
      </p:sp>
      <p:sp>
        <p:nvSpPr>
          <p:cNvPr id="3" name="Rectangle 2">
            <a:extLst>
              <a:ext uri="{FF2B5EF4-FFF2-40B4-BE49-F238E27FC236}">
                <a16:creationId xmlns:a16="http://schemas.microsoft.com/office/drawing/2014/main" id="{270F27C2-FB5B-4DC7-BAD4-431A5F3B779C}"/>
              </a:ext>
            </a:extLst>
          </p:cNvPr>
          <p:cNvSpPr>
            <a:spLocks noGrp="1"/>
          </p:cNvSpPr>
          <p:nvPr/>
        </p:nvSpPr>
        <p:spPr>
          <a:xfrm>
            <a:off x="800100" y="2619375"/>
            <a:ext cx="8953500" cy="952500"/>
          </a:xfrm>
          <a:prstGeom prst="rect">
            <a:avLst/>
          </a:prstGeom>
          <a:noFill/>
          <a:ln w="0">
            <a:noFill/>
          </a:ln>
        </p:spPr>
        <p:txBody>
          <a:bodyPr>
            <a:normAutofit/>
          </a:bodyPr>
          <a:lstStyle/>
          <a:p>
            <a:pPr>
              <a:defRPr sz="2175" b="0">
                <a:solidFill>
                  <a:srgbClr val="DCE3EA"/>
                </a:solidFill>
                <a:latin typeface="Bitstream Charter"/>
                <a:ea typeface="Bitstream Charter"/>
                <a:cs typeface="Bitstream Charter"/>
              </a:defRPr>
            </a:pPr>
            <a:r>
              <a:rPr sz="2175" b="0">
                <a:solidFill>
                  <a:srgbClr val="DCE3EA"/>
                </a:solidFill>
                <a:latin typeface="Bitstream Charter"/>
                <a:ea typeface="Bitstream Charter"/>
                <a:cs typeface="Bitstream Charter"/>
              </a:rPr>
              <a:t>Twenty-five years of inflation, interest rates and unemployment</a:t>
            </a:r>
          </a:p>
        </p:txBody>
      </p:sp>
      <p:sp>
        <p:nvSpPr>
          <p:cNvPr id="4" name="Rectangle 3">
            <a:extLst>
              <a:ext uri="{FF2B5EF4-FFF2-40B4-BE49-F238E27FC236}">
                <a16:creationId xmlns:a16="http://schemas.microsoft.com/office/drawing/2014/main" id="{8BAB16CB-55DB-4C16-A909-27AB53BAA42B}"/>
              </a:ext>
            </a:extLst>
          </p:cNvPr>
          <p:cNvSpPr>
            <a:spLocks noGrp="1"/>
          </p:cNvSpPr>
          <p:nvPr/>
        </p:nvSpPr>
        <p:spPr>
          <a:xfrm>
            <a:off x="800100" y="3943350"/>
            <a:ext cx="1333500" cy="47625"/>
          </a:xfrm>
          <a:prstGeom prst="rect">
            <a:avLst/>
          </a:prstGeom>
          <a:solidFill>
            <a:srgbClr val="D97706"/>
          </a:solidFill>
          <a:ln w="0">
            <a:noFill/>
          </a:ln>
        </p:spPr>
        <p:txBody>
          <a:bodyPr/>
          <a:lstStyle/>
          <a:p>
            <a:endParaRPr lang="en-US"/>
          </a:p>
        </p:txBody>
      </p:sp>
      <p:sp>
        <p:nvSpPr>
          <p:cNvPr id="5" name="Rectangle 4">
            <a:extLst>
              <a:ext uri="{FF2B5EF4-FFF2-40B4-BE49-F238E27FC236}">
                <a16:creationId xmlns:a16="http://schemas.microsoft.com/office/drawing/2014/main" id="{45EE05F7-F4B7-4F58-A636-A071D9EB68C9}"/>
              </a:ext>
            </a:extLst>
          </p:cNvPr>
          <p:cNvSpPr>
            <a:spLocks noGrp="1"/>
          </p:cNvSpPr>
          <p:nvPr/>
        </p:nvSpPr>
        <p:spPr>
          <a:xfrm>
            <a:off x="800100" y="4381500"/>
            <a:ext cx="5143500" cy="381000"/>
          </a:xfrm>
          <a:prstGeom prst="rect">
            <a:avLst/>
          </a:prstGeom>
          <a:noFill/>
          <a:ln w="0">
            <a:noFill/>
          </a:ln>
        </p:spPr>
        <p:txBody>
          <a:bodyPr>
            <a:normAutofit/>
          </a:bodyPr>
          <a:lstStyle/>
          <a:p>
            <a:pPr>
              <a:defRPr sz="1725" b="1">
                <a:solidFill>
                  <a:srgbClr val="FFFFFF"/>
                </a:solidFill>
                <a:latin typeface="Bitstream Charter"/>
                <a:ea typeface="Bitstream Charter"/>
                <a:cs typeface="Bitstream Charter"/>
              </a:defRPr>
            </a:pPr>
            <a:r>
              <a:rPr sz="1725" b="1">
                <a:solidFill>
                  <a:srgbClr val="FFFFFF"/>
                </a:solidFill>
                <a:latin typeface="Bitstream Charter"/>
                <a:ea typeface="Bitstream Charter"/>
                <a:cs typeface="Bitstream Charter"/>
              </a:rPr>
              <a:t>Muhammad Suffyan Khan</a:t>
            </a:r>
          </a:p>
        </p:txBody>
      </p:sp>
      <p:sp>
        <p:nvSpPr>
          <p:cNvPr id="6" name="Rectangle 5">
            <a:extLst>
              <a:ext uri="{FF2B5EF4-FFF2-40B4-BE49-F238E27FC236}">
                <a16:creationId xmlns:a16="http://schemas.microsoft.com/office/drawing/2014/main" id="{7B411FE5-ABE4-4175-B4F1-EF674388DE9C}"/>
              </a:ext>
            </a:extLst>
          </p:cNvPr>
          <p:cNvSpPr>
            <a:spLocks noGrp="1"/>
          </p:cNvSpPr>
          <p:nvPr/>
        </p:nvSpPr>
        <p:spPr>
          <a:xfrm>
            <a:off x="800100" y="4886325"/>
            <a:ext cx="6286500" cy="647700"/>
          </a:xfrm>
          <a:prstGeom prst="rect">
            <a:avLst/>
          </a:prstGeom>
          <a:noFill/>
          <a:ln w="0">
            <a:noFill/>
          </a:ln>
        </p:spPr>
        <p:txBody>
          <a:bodyPr>
            <a:normAutofit/>
          </a:bodyPr>
          <a:lstStyle/>
          <a:p>
            <a:pPr>
              <a:defRPr sz="1275" b="0">
                <a:solidFill>
                  <a:srgbClr val="BCC7D1"/>
                </a:solidFill>
                <a:latin typeface="Bitstream Charter"/>
                <a:ea typeface="Bitstream Charter"/>
                <a:cs typeface="Bitstream Charter"/>
              </a:defRPr>
            </a:pPr>
            <a:r>
              <a:rPr sz="1275" b="0">
                <a:solidFill>
                  <a:srgbClr val="BCC7D1"/>
                </a:solidFill>
                <a:latin typeface="Bitstream Charter"/>
                <a:ea typeface="Bitstream Charter"/>
                <a:cs typeface="Bitstream Charter"/>
              </a:rPr>
              <a:t>DATA 608: Knowledge and Visual Analytics</a:t>
            </a:r>
          </a:p>
          <a:p>
            <a:pPr>
              <a:defRPr sz="1275" b="0">
                <a:solidFill>
                  <a:srgbClr val="BCC7D1"/>
                </a:solidFill>
                <a:latin typeface="Bitstream Charter"/>
                <a:ea typeface="Bitstream Charter"/>
                <a:cs typeface="Bitstream Charter"/>
              </a:defRPr>
            </a:pPr>
            <a:r>
              <a:rPr sz="1275" b="0">
                <a:solidFill>
                  <a:srgbClr val="BCC7D1"/>
                </a:solidFill>
                <a:latin typeface="Bitstream Charter"/>
                <a:ea typeface="Bitstream Charter"/>
                <a:cs typeface="Bitstream Charter"/>
              </a:rPr>
              <a:t>CUNY School of Professional Studies · Fall 2026</a:t>
            </a:r>
          </a:p>
        </p:txBody>
      </p:sp>
      <p:sp>
        <p:nvSpPr>
          <p:cNvPr id="7" name="Rectangle 6">
            <a:extLst>
              <a:ext uri="{FF2B5EF4-FFF2-40B4-BE49-F238E27FC236}">
                <a16:creationId xmlns:a16="http://schemas.microsoft.com/office/drawing/2014/main" id="{4C225387-E8ED-4F6E-9C9A-395340D6D005}"/>
              </a:ext>
            </a:extLst>
          </p:cNvPr>
          <p:cNvSpPr>
            <a:spLocks noGrp="1"/>
          </p:cNvSpPr>
          <p:nvPr/>
        </p:nvSpPr>
        <p:spPr>
          <a:xfrm>
            <a:off x="8572500" y="4429125"/>
            <a:ext cx="2590800" cy="638175"/>
          </a:xfrm>
          <a:prstGeom prst="rect">
            <a:avLst/>
          </a:prstGeom>
          <a:noFill/>
          <a:ln w="0">
            <a:noFill/>
          </a:ln>
        </p:spPr>
        <p:txBody>
          <a:bodyPr>
            <a:normAutofit fontScale="93791" lnSpcReduction="10000"/>
          </a:bodyPr>
          <a:lstStyle/>
          <a:p>
            <a:pPr>
              <a:defRPr sz="3825" b="1">
                <a:solidFill>
                  <a:srgbClr val="D97706"/>
                </a:solidFill>
                <a:latin typeface="Bitstream Charter"/>
                <a:ea typeface="Bitstream Charter"/>
                <a:cs typeface="Bitstream Charter"/>
              </a:defRPr>
            </a:pPr>
            <a:r>
              <a:rPr sz="3825" b="1">
                <a:solidFill>
                  <a:srgbClr val="D97706"/>
                </a:solidFill>
                <a:latin typeface="Bitstream Charter"/>
                <a:ea typeface="Bitstream Charter"/>
                <a:cs typeface="Bitstream Charter"/>
              </a:rPr>
              <a:t>25 years</a:t>
            </a:r>
          </a:p>
        </p:txBody>
      </p:sp>
      <p:sp>
        <p:nvSpPr>
          <p:cNvPr id="8" name="Rectangle 7">
            <a:extLst>
              <a:ext uri="{FF2B5EF4-FFF2-40B4-BE49-F238E27FC236}">
                <a16:creationId xmlns:a16="http://schemas.microsoft.com/office/drawing/2014/main" id="{AC64A104-05EB-47FE-AE97-56CAC09D7DB8}"/>
              </a:ext>
            </a:extLst>
          </p:cNvPr>
          <p:cNvSpPr>
            <a:spLocks noGrp="1"/>
          </p:cNvSpPr>
          <p:nvPr/>
        </p:nvSpPr>
        <p:spPr>
          <a:xfrm>
            <a:off x="8620125" y="5067300"/>
            <a:ext cx="2638425" cy="619125"/>
          </a:xfrm>
          <a:prstGeom prst="rect">
            <a:avLst/>
          </a:prstGeom>
          <a:noFill/>
          <a:ln w="0">
            <a:noFill/>
          </a:ln>
        </p:spPr>
        <p:txBody>
          <a:bodyPr>
            <a:normAutofit/>
          </a:bodyPr>
          <a:lstStyle/>
          <a:p>
            <a:pPr>
              <a:defRPr sz="1275" b="0">
                <a:solidFill>
                  <a:srgbClr val="BCC7D1"/>
                </a:solidFill>
                <a:latin typeface="Bitstream Charter"/>
                <a:ea typeface="Bitstream Charter"/>
                <a:cs typeface="Bitstream Charter"/>
              </a:defRPr>
            </a:pPr>
            <a:r>
              <a:rPr sz="1275" b="0">
                <a:solidFill>
                  <a:srgbClr val="BCC7D1"/>
                </a:solidFill>
                <a:latin typeface="Bitstream Charter"/>
                <a:ea typeface="Bitstream Charter"/>
                <a:cs typeface="Bitstream Charter"/>
              </a:rPr>
              <a:t>September 2001 through August 2026</a:t>
            </a:r>
          </a:p>
        </p:txBody>
      </p:sp>
    </p:spTree>
    <p:extLst>
      <p:ext uri="{BB962C8B-B14F-4D97-AF65-F5344CB8AC3E}">
        <p14:creationId xmlns:p14="http://schemas.microsoft.com/office/powerpoint/2010/main" val="20896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F081401-3FB2-454E-8CCF-B94BF4B18E3A}"/>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E472EB75-BB12-4C12-940B-570EA3281D50}"/>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The measures and the question</a:t>
            </a:r>
          </a:p>
        </p:txBody>
      </p:sp>
      <p:sp>
        <p:nvSpPr>
          <p:cNvPr id="3" name="Rectangle 2">
            <a:extLst>
              <a:ext uri="{FF2B5EF4-FFF2-40B4-BE49-F238E27FC236}">
                <a16:creationId xmlns:a16="http://schemas.microsoft.com/office/drawing/2014/main" id="{915D807A-3D9D-4CC7-A49D-6FF1145B1E63}"/>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02</a:t>
            </a:r>
          </a:p>
        </p:txBody>
      </p:sp>
      <p:sp>
        <p:nvSpPr>
          <p:cNvPr id="4" name="Rectangle 3">
            <a:extLst>
              <a:ext uri="{FF2B5EF4-FFF2-40B4-BE49-F238E27FC236}">
                <a16:creationId xmlns:a16="http://schemas.microsoft.com/office/drawing/2014/main" id="{BFF29C56-DE2C-41D2-96DD-F717AB94A0DA}"/>
              </a:ext>
            </a:extLst>
          </p:cNvPr>
          <p:cNvSpPr>
            <a:spLocks noGrp="1"/>
          </p:cNvSpPr>
          <p:nvPr/>
        </p:nvSpPr>
        <p:spPr>
          <a:xfrm>
            <a:off x="742950" y="1381125"/>
            <a:ext cx="2857500" cy="581025"/>
          </a:xfrm>
          <a:prstGeom prst="rect">
            <a:avLst/>
          </a:prstGeom>
          <a:noFill/>
          <a:ln w="0">
            <a:noFill/>
          </a:ln>
        </p:spPr>
        <p:txBody>
          <a:bodyPr>
            <a:normAutofit fontScale="88318" lnSpcReduction="10000"/>
          </a:bodyPr>
          <a:lstStyle/>
          <a:p>
            <a:pPr>
              <a:defRPr sz="3975" b="1">
                <a:solidFill>
                  <a:srgbClr val="2563EB"/>
                </a:solidFill>
                <a:latin typeface="Bitstream Charter"/>
                <a:ea typeface="Bitstream Charter"/>
                <a:cs typeface="Bitstream Charter"/>
              </a:defRPr>
            </a:pPr>
            <a:r>
              <a:rPr sz="3975" b="1">
                <a:solidFill>
                  <a:srgbClr val="2563EB"/>
                </a:solidFill>
                <a:latin typeface="Bitstream Charter"/>
                <a:ea typeface="Bitstream Charter"/>
                <a:cs typeface="Bitstream Charter"/>
              </a:rPr>
              <a:t>300</a:t>
            </a:r>
          </a:p>
        </p:txBody>
      </p:sp>
      <p:sp>
        <p:nvSpPr>
          <p:cNvPr id="5" name="Rectangle 4">
            <a:extLst>
              <a:ext uri="{FF2B5EF4-FFF2-40B4-BE49-F238E27FC236}">
                <a16:creationId xmlns:a16="http://schemas.microsoft.com/office/drawing/2014/main" id="{348AA6C8-E1DE-4E94-8F09-4E598BA23DBD}"/>
              </a:ext>
            </a:extLst>
          </p:cNvPr>
          <p:cNvSpPr>
            <a:spLocks noGrp="1"/>
          </p:cNvSpPr>
          <p:nvPr/>
        </p:nvSpPr>
        <p:spPr>
          <a:xfrm>
            <a:off x="742950" y="1971675"/>
            <a:ext cx="3000375" cy="495300"/>
          </a:xfrm>
          <a:prstGeom prst="rect">
            <a:avLst/>
          </a:prstGeom>
          <a:noFill/>
          <a:ln w="0">
            <a:noFill/>
          </a:ln>
        </p:spPr>
        <p:txBody>
          <a:bodyPr>
            <a:normAutofit fontScale="98148"/>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monthly observations</a:t>
            </a:r>
          </a:p>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September 2001–August 2026</a:t>
            </a:r>
          </a:p>
        </p:txBody>
      </p:sp>
      <p:sp>
        <p:nvSpPr>
          <p:cNvPr id="6" name="Rectangle 5">
            <a:extLst>
              <a:ext uri="{FF2B5EF4-FFF2-40B4-BE49-F238E27FC236}">
                <a16:creationId xmlns:a16="http://schemas.microsoft.com/office/drawing/2014/main" id="{BEF83DA2-B332-4B68-8BB9-DA2C3081F374}"/>
              </a:ext>
            </a:extLst>
          </p:cNvPr>
          <p:cNvSpPr>
            <a:spLocks noGrp="1"/>
          </p:cNvSpPr>
          <p:nvPr/>
        </p:nvSpPr>
        <p:spPr>
          <a:xfrm>
            <a:off x="4381500" y="1381125"/>
            <a:ext cx="2857500" cy="581025"/>
          </a:xfrm>
          <a:prstGeom prst="rect">
            <a:avLst/>
          </a:prstGeom>
          <a:noFill/>
          <a:ln w="0">
            <a:noFill/>
          </a:ln>
        </p:spPr>
        <p:txBody>
          <a:bodyPr>
            <a:normAutofit fontScale="88318" lnSpcReduction="10000"/>
          </a:bodyPr>
          <a:lstStyle/>
          <a:p>
            <a:pPr>
              <a:defRPr sz="3975" b="1">
                <a:solidFill>
                  <a:srgbClr val="D97706"/>
                </a:solidFill>
                <a:latin typeface="Bitstream Charter"/>
                <a:ea typeface="Bitstream Charter"/>
                <a:cs typeface="Bitstream Charter"/>
              </a:defRPr>
            </a:pPr>
            <a:r>
              <a:rPr sz="3975" b="1">
                <a:solidFill>
                  <a:srgbClr val="D97706"/>
                </a:solidFill>
                <a:latin typeface="Bitstream Charter"/>
                <a:ea typeface="Bitstream Charter"/>
                <a:cs typeface="Bitstream Charter"/>
              </a:rPr>
              <a:t>3</a:t>
            </a:r>
          </a:p>
        </p:txBody>
      </p:sp>
      <p:sp>
        <p:nvSpPr>
          <p:cNvPr id="7" name="Rectangle 6">
            <a:extLst>
              <a:ext uri="{FF2B5EF4-FFF2-40B4-BE49-F238E27FC236}">
                <a16:creationId xmlns:a16="http://schemas.microsoft.com/office/drawing/2014/main" id="{7E21C559-F6A2-480C-B726-16F2C9FFE516}"/>
              </a:ext>
            </a:extLst>
          </p:cNvPr>
          <p:cNvSpPr>
            <a:spLocks noGrp="1"/>
          </p:cNvSpPr>
          <p:nvPr/>
        </p:nvSpPr>
        <p:spPr>
          <a:xfrm>
            <a:off x="4381500" y="1971675"/>
            <a:ext cx="3000375" cy="495300"/>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series from BLS and FRED</a:t>
            </a:r>
          </a:p>
        </p:txBody>
      </p:sp>
      <p:sp>
        <p:nvSpPr>
          <p:cNvPr id="8" name="Rectangle 7">
            <a:extLst>
              <a:ext uri="{FF2B5EF4-FFF2-40B4-BE49-F238E27FC236}">
                <a16:creationId xmlns:a16="http://schemas.microsoft.com/office/drawing/2014/main" id="{16B55246-2F04-42CD-B17C-A69E3F7ADE59}"/>
              </a:ext>
            </a:extLst>
          </p:cNvPr>
          <p:cNvSpPr>
            <a:spLocks noGrp="1"/>
          </p:cNvSpPr>
          <p:nvPr/>
        </p:nvSpPr>
        <p:spPr>
          <a:xfrm>
            <a:off x="8058150" y="1381125"/>
            <a:ext cx="2857500" cy="581025"/>
          </a:xfrm>
          <a:prstGeom prst="rect">
            <a:avLst/>
          </a:prstGeom>
          <a:noFill/>
          <a:ln w="0">
            <a:noFill/>
          </a:ln>
        </p:spPr>
        <p:txBody>
          <a:bodyPr>
            <a:normAutofit fontScale="88318" lnSpcReduction="10000"/>
          </a:bodyPr>
          <a:lstStyle/>
          <a:p>
            <a:pPr>
              <a:defRPr sz="3975" b="1">
                <a:solidFill>
                  <a:srgbClr val="C2413B"/>
                </a:solidFill>
                <a:latin typeface="Bitstream Charter"/>
                <a:ea typeface="Bitstream Charter"/>
                <a:cs typeface="Bitstream Charter"/>
              </a:defRPr>
            </a:pPr>
            <a:r>
              <a:rPr sz="3975" b="1">
                <a:solidFill>
                  <a:srgbClr val="C2413B"/>
                </a:solidFill>
                <a:latin typeface="Bitstream Charter"/>
                <a:ea typeface="Bitstream Charter"/>
                <a:cs typeface="Bitstream Charter"/>
              </a:rPr>
              <a:t>1</a:t>
            </a:r>
          </a:p>
        </p:txBody>
      </p:sp>
      <p:sp>
        <p:nvSpPr>
          <p:cNvPr id="9" name="Rectangle 8">
            <a:extLst>
              <a:ext uri="{FF2B5EF4-FFF2-40B4-BE49-F238E27FC236}">
                <a16:creationId xmlns:a16="http://schemas.microsoft.com/office/drawing/2014/main" id="{88D87FBA-52E4-4BFA-9684-CCFDB369329C}"/>
              </a:ext>
            </a:extLst>
          </p:cNvPr>
          <p:cNvSpPr>
            <a:spLocks noGrp="1"/>
          </p:cNvSpPr>
          <p:nvPr/>
        </p:nvSpPr>
        <p:spPr>
          <a:xfrm>
            <a:off x="8058150" y="1971675"/>
            <a:ext cx="3000375" cy="495300"/>
          </a:xfrm>
          <a:prstGeom prst="rect">
            <a:avLst/>
          </a:prstGeom>
          <a:noFill/>
          <a:ln w="0">
            <a:noFill/>
          </a:ln>
        </p:spPr>
        <p:txBody>
          <a:bodyPr>
            <a:normAutofit fontScale="98148"/>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question about the Fed’s</a:t>
            </a:r>
          </a:p>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dual mandate</a:t>
            </a:r>
          </a:p>
        </p:txBody>
      </p:sp>
      <p:sp>
        <p:nvSpPr>
          <p:cNvPr id="10" name="Rectangle 9">
            <a:extLst>
              <a:ext uri="{FF2B5EF4-FFF2-40B4-BE49-F238E27FC236}">
                <a16:creationId xmlns:a16="http://schemas.microsoft.com/office/drawing/2014/main" id="{0EA9F5DA-1312-4920-B5E2-E216DAFAFBDC}"/>
              </a:ext>
            </a:extLst>
          </p:cNvPr>
          <p:cNvSpPr>
            <a:spLocks noGrp="1"/>
          </p:cNvSpPr>
          <p:nvPr/>
        </p:nvSpPr>
        <p:spPr>
          <a:xfrm>
            <a:off x="733425" y="2714625"/>
            <a:ext cx="10668000" cy="9525"/>
          </a:xfrm>
          <a:prstGeom prst="rect">
            <a:avLst/>
          </a:prstGeom>
          <a:solidFill>
            <a:srgbClr val="E0E4E8"/>
          </a:solidFill>
          <a:ln w="0">
            <a:noFill/>
          </a:ln>
        </p:spPr>
        <p:txBody>
          <a:bodyPr/>
          <a:lstStyle/>
          <a:p>
            <a:endParaRPr lang="en-US"/>
          </a:p>
        </p:txBody>
      </p:sp>
      <p:sp>
        <p:nvSpPr>
          <p:cNvPr id="11" name="Rectangle 10">
            <a:extLst>
              <a:ext uri="{FF2B5EF4-FFF2-40B4-BE49-F238E27FC236}">
                <a16:creationId xmlns:a16="http://schemas.microsoft.com/office/drawing/2014/main" id="{766156DA-0FF3-486F-A718-A27323514C58}"/>
              </a:ext>
            </a:extLst>
          </p:cNvPr>
          <p:cNvSpPr>
            <a:spLocks noGrp="1"/>
          </p:cNvSpPr>
          <p:nvPr/>
        </p:nvSpPr>
        <p:spPr>
          <a:xfrm>
            <a:off x="742950" y="2981325"/>
            <a:ext cx="4953000" cy="400050"/>
          </a:xfrm>
          <a:prstGeom prst="rect">
            <a:avLst/>
          </a:prstGeom>
          <a:noFill/>
          <a:ln w="0">
            <a:noFill/>
          </a:ln>
        </p:spPr>
        <p:txBody>
          <a:bodyPr>
            <a:normAutofit/>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Price stability</a:t>
            </a:r>
          </a:p>
        </p:txBody>
      </p:sp>
      <p:sp>
        <p:nvSpPr>
          <p:cNvPr id="12" name="Rectangle 11">
            <a:extLst>
              <a:ext uri="{FF2B5EF4-FFF2-40B4-BE49-F238E27FC236}">
                <a16:creationId xmlns:a16="http://schemas.microsoft.com/office/drawing/2014/main" id="{26A6A01C-ED74-482A-ADDF-B42D7B20E333}"/>
              </a:ext>
            </a:extLst>
          </p:cNvPr>
          <p:cNvSpPr>
            <a:spLocks noGrp="1"/>
          </p:cNvSpPr>
          <p:nvPr/>
        </p:nvSpPr>
        <p:spPr>
          <a:xfrm>
            <a:off x="742950" y="3429000"/>
            <a:ext cx="4800600" cy="714375"/>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CPI index converted to 12-month inflation. The Fed targets 2% PCE inflation, a different price measure.</a:t>
            </a:r>
          </a:p>
        </p:txBody>
      </p:sp>
      <p:sp>
        <p:nvSpPr>
          <p:cNvPr id="13" name="Rectangle 12">
            <a:extLst>
              <a:ext uri="{FF2B5EF4-FFF2-40B4-BE49-F238E27FC236}">
                <a16:creationId xmlns:a16="http://schemas.microsoft.com/office/drawing/2014/main" id="{69503E0D-50B6-4BC5-BBE9-2EFD4DECBC42}"/>
              </a:ext>
            </a:extLst>
          </p:cNvPr>
          <p:cNvSpPr>
            <a:spLocks noGrp="1"/>
          </p:cNvSpPr>
          <p:nvPr/>
        </p:nvSpPr>
        <p:spPr>
          <a:xfrm>
            <a:off x="6286500" y="2981325"/>
            <a:ext cx="4953000" cy="400050"/>
          </a:xfrm>
          <a:prstGeom prst="rect">
            <a:avLst/>
          </a:prstGeom>
          <a:noFill/>
          <a:ln w="0">
            <a:noFill/>
          </a:ln>
        </p:spPr>
        <p:txBody>
          <a:bodyPr>
            <a:normAutofit/>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Maximum employment</a:t>
            </a:r>
          </a:p>
        </p:txBody>
      </p:sp>
      <p:sp>
        <p:nvSpPr>
          <p:cNvPr id="14" name="Rectangle 13">
            <a:extLst>
              <a:ext uri="{FF2B5EF4-FFF2-40B4-BE49-F238E27FC236}">
                <a16:creationId xmlns:a16="http://schemas.microsoft.com/office/drawing/2014/main" id="{F0A529D9-775C-4006-90EA-4A0A4E9C484D}"/>
              </a:ext>
            </a:extLst>
          </p:cNvPr>
          <p:cNvSpPr>
            <a:spLocks noGrp="1"/>
          </p:cNvSpPr>
          <p:nvPr/>
        </p:nvSpPr>
        <p:spPr>
          <a:xfrm>
            <a:off x="6286500" y="3429000"/>
            <a:ext cx="4905375" cy="714375"/>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The unemployment rate indicates labor-market conditions; maximum employment has no fixed unemployment cutoff.</a:t>
            </a:r>
          </a:p>
        </p:txBody>
      </p:sp>
      <p:sp>
        <p:nvSpPr>
          <p:cNvPr id="15" name="Rectangle 14">
            <a:extLst>
              <a:ext uri="{FF2B5EF4-FFF2-40B4-BE49-F238E27FC236}">
                <a16:creationId xmlns:a16="http://schemas.microsoft.com/office/drawing/2014/main" id="{DD78035B-AE75-4B83-B882-F8DC8AC3491E}"/>
              </a:ext>
            </a:extLst>
          </p:cNvPr>
          <p:cNvSpPr>
            <a:spLocks noGrp="1"/>
          </p:cNvSpPr>
          <p:nvPr/>
        </p:nvSpPr>
        <p:spPr>
          <a:xfrm>
            <a:off x="742950" y="4600575"/>
            <a:ext cx="10382250" cy="666750"/>
          </a:xfrm>
          <a:prstGeom prst="rect">
            <a:avLst/>
          </a:prstGeom>
          <a:noFill/>
          <a:ln w="0">
            <a:noFill/>
          </a:ln>
        </p:spPr>
        <p:txBody>
          <a:bodyPr>
            <a:normAutofit/>
          </a:bodyPr>
          <a:lstStyle/>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The funds rate shows the policy response. Comparing dated series reveals sequence and possible delays, while leaving other causes open.</a:t>
            </a:r>
          </a:p>
        </p:txBody>
      </p:sp>
      <p:sp>
        <p:nvSpPr>
          <p:cNvPr id="16" name="Rectangle 15">
            <a:extLst>
              <a:ext uri="{FF2B5EF4-FFF2-40B4-BE49-F238E27FC236}">
                <a16:creationId xmlns:a16="http://schemas.microsoft.com/office/drawing/2014/main" id="{B732D6A2-889B-40FB-994D-53A8FE39755B}"/>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Sources: BLS CPI-U and unemployment, FRED FEDFUNDS, Federal Reserve Statement on Longer-Run Goals.</a:t>
            </a:r>
          </a:p>
        </p:txBody>
      </p:sp>
    </p:spTree>
    <p:extLst>
      <p:ext uri="{BB962C8B-B14F-4D97-AF65-F5344CB8AC3E}">
        <p14:creationId xmlns:p14="http://schemas.microsoft.com/office/powerpoint/2010/main" val="234824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35379EEA-405B-4063-8A18-31E0D73460F9}"/>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A3E1BDBF-BDBA-4BA5-81A4-C7BFB50FAEB7}"/>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Crises interrupt periods of low inflation and unemployment</a:t>
            </a:r>
          </a:p>
        </p:txBody>
      </p:sp>
      <p:sp>
        <p:nvSpPr>
          <p:cNvPr id="3" name="Rectangle 2">
            <a:extLst>
              <a:ext uri="{FF2B5EF4-FFF2-40B4-BE49-F238E27FC236}">
                <a16:creationId xmlns:a16="http://schemas.microsoft.com/office/drawing/2014/main" id="{611F7FE4-9C60-4352-B30C-0FF83D43E293}"/>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03</a:t>
            </a:r>
          </a:p>
        </p:txBody>
      </p:sp>
      <p:sp>
        <p:nvSpPr>
          <p:cNvPr id="4" name="Rectangle 3">
            <a:extLst>
              <a:ext uri="{FF2B5EF4-FFF2-40B4-BE49-F238E27FC236}">
                <a16:creationId xmlns:a16="http://schemas.microsoft.com/office/drawing/2014/main" id="{E5BDA7EF-68C7-46A5-A13C-EE4D68C5B57A}"/>
              </a:ext>
            </a:extLst>
          </p:cNvPr>
          <p:cNvSpPr>
            <a:spLocks noGrp="1"/>
          </p:cNvSpPr>
          <p:nvPr/>
        </p:nvSpPr>
        <p:spPr>
          <a:xfrm>
            <a:off x="714375" y="962025"/>
            <a:ext cx="10572750" cy="400050"/>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Annual averages of monthly observations, 2002–2025</a:t>
            </a:r>
          </a:p>
        </p:txBody>
      </p:sp>
      <p:sp>
        <p:nvSpPr>
          <p:cNvPr id="5" name="Rectangle 4">
            <a:extLst>
              <a:ext uri="{FF2B5EF4-FFF2-40B4-BE49-F238E27FC236}">
                <a16:creationId xmlns:a16="http://schemas.microsoft.com/office/drawing/2014/main" id="{A3A8631F-D94A-4479-8EB6-2FD37F7C0270}"/>
              </a:ext>
            </a:extLst>
          </p:cNvPr>
          <p:cNvSpPr>
            <a:spLocks noGrp="1"/>
          </p:cNvSpPr>
          <p:nvPr/>
        </p:nvSpPr>
        <p:spPr>
          <a:xfrm>
            <a:off x="752475" y="1476375"/>
            <a:ext cx="3810000" cy="333375"/>
          </a:xfrm>
          <a:prstGeom prst="rect">
            <a:avLst/>
          </a:prstGeom>
          <a:noFill/>
          <a:ln w="0">
            <a:noFill/>
          </a:ln>
        </p:spPr>
        <p:txBody>
          <a:bodyPr>
            <a:normAutofit fontScale="96212" lnSpcReduction="10000"/>
          </a:bodyPr>
          <a:lstStyle/>
          <a:p>
            <a:pPr>
              <a:defRPr sz="1650" b="1">
                <a:solidFill>
                  <a:srgbClr val="D97706"/>
                </a:solidFill>
                <a:latin typeface="Bitstream Charter"/>
                <a:ea typeface="Bitstream Charter"/>
                <a:cs typeface="Bitstream Charter"/>
              </a:defRPr>
            </a:pPr>
            <a:r>
              <a:rPr sz="1650" b="1">
                <a:solidFill>
                  <a:srgbClr val="D97706"/>
                </a:solidFill>
                <a:latin typeface="Bitstream Charter"/>
                <a:ea typeface="Bitstream Charter"/>
                <a:cs typeface="Bitstream Charter"/>
              </a:rPr>
              <a:t>CPI inflation</a:t>
            </a:r>
          </a:p>
        </p:txBody>
      </p:sp>
      <p:graphicFrame>
        <p:nvGraphicFramePr>
          <p:cNvPr id="33" name="Chart"/>
          <p:cNvGraphicFramePr/>
          <p:nvPr/>
        </p:nvGraphicFramePr>
        <p:xfrm>
          <a:off x="781050" y="1809750"/>
          <a:ext cx="7877175" cy="172402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0C75762F-4912-4DDA-8E16-5A2DE501E12D}"/>
              </a:ext>
            </a:extLst>
          </p:cNvPr>
          <p:cNvSpPr>
            <a:spLocks noGrp="1"/>
          </p:cNvSpPr>
          <p:nvPr/>
        </p:nvSpPr>
        <p:spPr>
          <a:xfrm>
            <a:off x="8477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2002</a:t>
            </a:r>
          </a:p>
        </p:txBody>
      </p:sp>
      <p:sp>
        <p:nvSpPr>
          <p:cNvPr id="8" name="Rectangle 7">
            <a:extLst>
              <a:ext uri="{FF2B5EF4-FFF2-40B4-BE49-F238E27FC236}">
                <a16:creationId xmlns:a16="http://schemas.microsoft.com/office/drawing/2014/main" id="{A5563012-2BB6-49A6-A991-7484B7E816F0}"/>
              </a:ext>
            </a:extLst>
          </p:cNvPr>
          <p:cNvSpPr>
            <a:spLocks noGrp="1"/>
          </p:cNvSpPr>
          <p:nvPr/>
        </p:nvSpPr>
        <p:spPr>
          <a:xfrm>
            <a:off x="20161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2006</a:t>
            </a:r>
          </a:p>
        </p:txBody>
      </p:sp>
      <p:sp>
        <p:nvSpPr>
          <p:cNvPr id="9" name="Rectangle 8">
            <a:extLst>
              <a:ext uri="{FF2B5EF4-FFF2-40B4-BE49-F238E27FC236}">
                <a16:creationId xmlns:a16="http://schemas.microsoft.com/office/drawing/2014/main" id="{121DF64D-EFC8-42C8-BE5D-CB2505C8503E}"/>
              </a:ext>
            </a:extLst>
          </p:cNvPr>
          <p:cNvSpPr>
            <a:spLocks noGrp="1"/>
          </p:cNvSpPr>
          <p:nvPr/>
        </p:nvSpPr>
        <p:spPr>
          <a:xfrm>
            <a:off x="31845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2010</a:t>
            </a:r>
          </a:p>
        </p:txBody>
      </p:sp>
      <p:sp>
        <p:nvSpPr>
          <p:cNvPr id="10" name="Rectangle 9">
            <a:extLst>
              <a:ext uri="{FF2B5EF4-FFF2-40B4-BE49-F238E27FC236}">
                <a16:creationId xmlns:a16="http://schemas.microsoft.com/office/drawing/2014/main" id="{F6FB1FD8-BF9B-416F-B5EF-B1226207F6DF}"/>
              </a:ext>
            </a:extLst>
          </p:cNvPr>
          <p:cNvSpPr>
            <a:spLocks noGrp="1"/>
          </p:cNvSpPr>
          <p:nvPr/>
        </p:nvSpPr>
        <p:spPr>
          <a:xfrm>
            <a:off x="43529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2014</a:t>
            </a:r>
          </a:p>
        </p:txBody>
      </p:sp>
      <p:sp>
        <p:nvSpPr>
          <p:cNvPr id="11" name="Rectangle 10">
            <a:extLst>
              <a:ext uri="{FF2B5EF4-FFF2-40B4-BE49-F238E27FC236}">
                <a16:creationId xmlns:a16="http://schemas.microsoft.com/office/drawing/2014/main" id="{7D918A5E-ED1B-4DD4-BA88-B302F78DB731}"/>
              </a:ext>
            </a:extLst>
          </p:cNvPr>
          <p:cNvSpPr>
            <a:spLocks noGrp="1"/>
          </p:cNvSpPr>
          <p:nvPr/>
        </p:nvSpPr>
        <p:spPr>
          <a:xfrm>
            <a:off x="55213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2018</a:t>
            </a:r>
          </a:p>
        </p:txBody>
      </p:sp>
      <p:sp>
        <p:nvSpPr>
          <p:cNvPr id="12" name="Rectangle 11">
            <a:extLst>
              <a:ext uri="{FF2B5EF4-FFF2-40B4-BE49-F238E27FC236}">
                <a16:creationId xmlns:a16="http://schemas.microsoft.com/office/drawing/2014/main" id="{6144B0A1-CE4A-43BE-9178-0420B8E6CCA5}"/>
              </a:ext>
            </a:extLst>
          </p:cNvPr>
          <p:cNvSpPr>
            <a:spLocks noGrp="1"/>
          </p:cNvSpPr>
          <p:nvPr/>
        </p:nvSpPr>
        <p:spPr>
          <a:xfrm>
            <a:off x="66897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2022</a:t>
            </a:r>
          </a:p>
        </p:txBody>
      </p:sp>
      <p:sp>
        <p:nvSpPr>
          <p:cNvPr id="13" name="Rectangle 12">
            <a:extLst>
              <a:ext uri="{FF2B5EF4-FFF2-40B4-BE49-F238E27FC236}">
                <a16:creationId xmlns:a16="http://schemas.microsoft.com/office/drawing/2014/main" id="{428004DA-A65E-4916-901A-688E66CA90A4}"/>
              </a:ext>
            </a:extLst>
          </p:cNvPr>
          <p:cNvSpPr>
            <a:spLocks noGrp="1"/>
          </p:cNvSpPr>
          <p:nvPr/>
        </p:nvSpPr>
        <p:spPr>
          <a:xfrm>
            <a:off x="7858125" y="345757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2025</a:t>
            </a:r>
          </a:p>
        </p:txBody>
      </p:sp>
      <p:sp>
        <p:nvSpPr>
          <p:cNvPr id="14" name="Rectangle 13">
            <a:extLst>
              <a:ext uri="{FF2B5EF4-FFF2-40B4-BE49-F238E27FC236}">
                <a16:creationId xmlns:a16="http://schemas.microsoft.com/office/drawing/2014/main" id="{8B1E36B5-31D9-4F02-8C21-56331549F67B}"/>
              </a:ext>
            </a:extLst>
          </p:cNvPr>
          <p:cNvSpPr>
            <a:spLocks noGrp="1"/>
          </p:cNvSpPr>
          <p:nvPr/>
        </p:nvSpPr>
        <p:spPr>
          <a:xfrm>
            <a:off x="752475" y="3752850"/>
            <a:ext cx="3810000" cy="333375"/>
          </a:xfrm>
          <a:prstGeom prst="rect">
            <a:avLst/>
          </a:prstGeom>
          <a:noFill/>
          <a:ln w="0">
            <a:noFill/>
          </a:ln>
        </p:spPr>
        <p:txBody>
          <a:bodyPr>
            <a:normAutofit fontScale="96212" lnSpcReduction="10000"/>
          </a:bodyPr>
          <a:lstStyle/>
          <a:p>
            <a:pPr>
              <a:defRPr sz="1650" b="1">
                <a:solidFill>
                  <a:srgbClr val="177C70"/>
                </a:solidFill>
                <a:latin typeface="Bitstream Charter"/>
                <a:ea typeface="Bitstream Charter"/>
                <a:cs typeface="Bitstream Charter"/>
              </a:defRPr>
            </a:pPr>
            <a:r>
              <a:rPr sz="1650" b="1">
                <a:solidFill>
                  <a:srgbClr val="177C70"/>
                </a:solidFill>
                <a:latin typeface="Bitstream Charter"/>
                <a:ea typeface="Bitstream Charter"/>
                <a:cs typeface="Bitstream Charter"/>
              </a:rPr>
              <a:t>Unemployment rate</a:t>
            </a:r>
          </a:p>
        </p:txBody>
      </p:sp>
      <p:graphicFrame>
        <p:nvGraphicFramePr>
          <p:cNvPr id="42" name="Chart"/>
          <p:cNvGraphicFramePr/>
          <p:nvPr/>
        </p:nvGraphicFramePr>
        <p:xfrm>
          <a:off x="781050" y="4086225"/>
          <a:ext cx="7877175" cy="171450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a:extLst>
              <a:ext uri="{FF2B5EF4-FFF2-40B4-BE49-F238E27FC236}">
                <a16:creationId xmlns:a16="http://schemas.microsoft.com/office/drawing/2014/main" id="{15D4E689-E238-499A-9625-0F7DD738302E}"/>
              </a:ext>
            </a:extLst>
          </p:cNvPr>
          <p:cNvSpPr>
            <a:spLocks noGrp="1"/>
          </p:cNvSpPr>
          <p:nvPr/>
        </p:nvSpPr>
        <p:spPr>
          <a:xfrm>
            <a:off x="8477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2002</a:t>
            </a:r>
          </a:p>
        </p:txBody>
      </p:sp>
      <p:sp>
        <p:nvSpPr>
          <p:cNvPr id="17" name="Rectangle 16">
            <a:extLst>
              <a:ext uri="{FF2B5EF4-FFF2-40B4-BE49-F238E27FC236}">
                <a16:creationId xmlns:a16="http://schemas.microsoft.com/office/drawing/2014/main" id="{A6AFE3F9-595C-4E64-8BDC-73580233105B}"/>
              </a:ext>
            </a:extLst>
          </p:cNvPr>
          <p:cNvSpPr>
            <a:spLocks noGrp="1"/>
          </p:cNvSpPr>
          <p:nvPr/>
        </p:nvSpPr>
        <p:spPr>
          <a:xfrm>
            <a:off x="20161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2006</a:t>
            </a:r>
          </a:p>
        </p:txBody>
      </p:sp>
      <p:sp>
        <p:nvSpPr>
          <p:cNvPr id="18" name="Rectangle 17">
            <a:extLst>
              <a:ext uri="{FF2B5EF4-FFF2-40B4-BE49-F238E27FC236}">
                <a16:creationId xmlns:a16="http://schemas.microsoft.com/office/drawing/2014/main" id="{21314D5F-F6CD-4BB3-8D90-9B60D0AD628F}"/>
              </a:ext>
            </a:extLst>
          </p:cNvPr>
          <p:cNvSpPr>
            <a:spLocks noGrp="1"/>
          </p:cNvSpPr>
          <p:nvPr/>
        </p:nvSpPr>
        <p:spPr>
          <a:xfrm>
            <a:off x="31845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2010</a:t>
            </a:r>
          </a:p>
        </p:txBody>
      </p:sp>
      <p:sp>
        <p:nvSpPr>
          <p:cNvPr id="19" name="Rectangle 18">
            <a:extLst>
              <a:ext uri="{FF2B5EF4-FFF2-40B4-BE49-F238E27FC236}">
                <a16:creationId xmlns:a16="http://schemas.microsoft.com/office/drawing/2014/main" id="{902D4990-AACF-41CB-A8BB-085A71F4374F}"/>
              </a:ext>
            </a:extLst>
          </p:cNvPr>
          <p:cNvSpPr>
            <a:spLocks noGrp="1"/>
          </p:cNvSpPr>
          <p:nvPr/>
        </p:nvSpPr>
        <p:spPr>
          <a:xfrm>
            <a:off x="43529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2014</a:t>
            </a:r>
          </a:p>
        </p:txBody>
      </p:sp>
      <p:sp>
        <p:nvSpPr>
          <p:cNvPr id="20" name="Rectangle 19">
            <a:extLst>
              <a:ext uri="{FF2B5EF4-FFF2-40B4-BE49-F238E27FC236}">
                <a16:creationId xmlns:a16="http://schemas.microsoft.com/office/drawing/2014/main" id="{50DC8E14-E91D-4759-B7FC-B3D0C44BD0A7}"/>
              </a:ext>
            </a:extLst>
          </p:cNvPr>
          <p:cNvSpPr>
            <a:spLocks noGrp="1"/>
          </p:cNvSpPr>
          <p:nvPr/>
        </p:nvSpPr>
        <p:spPr>
          <a:xfrm>
            <a:off x="55213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2018</a:t>
            </a:r>
          </a:p>
        </p:txBody>
      </p:sp>
      <p:sp>
        <p:nvSpPr>
          <p:cNvPr id="21" name="Rectangle 20">
            <a:extLst>
              <a:ext uri="{FF2B5EF4-FFF2-40B4-BE49-F238E27FC236}">
                <a16:creationId xmlns:a16="http://schemas.microsoft.com/office/drawing/2014/main" id="{113E6DEE-6E4F-4AC4-9C8B-C7EEF53D89E7}"/>
              </a:ext>
            </a:extLst>
          </p:cNvPr>
          <p:cNvSpPr>
            <a:spLocks noGrp="1"/>
          </p:cNvSpPr>
          <p:nvPr/>
        </p:nvSpPr>
        <p:spPr>
          <a:xfrm>
            <a:off x="66897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2022</a:t>
            </a:r>
          </a:p>
        </p:txBody>
      </p:sp>
      <p:sp>
        <p:nvSpPr>
          <p:cNvPr id="22" name="Rectangle 21">
            <a:extLst>
              <a:ext uri="{FF2B5EF4-FFF2-40B4-BE49-F238E27FC236}">
                <a16:creationId xmlns:a16="http://schemas.microsoft.com/office/drawing/2014/main" id="{362E67A5-5499-4486-9402-A74806B15266}"/>
              </a:ext>
            </a:extLst>
          </p:cNvPr>
          <p:cNvSpPr>
            <a:spLocks noGrp="1"/>
          </p:cNvSpPr>
          <p:nvPr/>
        </p:nvSpPr>
        <p:spPr>
          <a:xfrm>
            <a:off x="7858125" y="57245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2025</a:t>
            </a:r>
          </a:p>
        </p:txBody>
      </p:sp>
      <p:sp>
        <p:nvSpPr>
          <p:cNvPr id="23" name="Rectangle 22">
            <a:extLst>
              <a:ext uri="{FF2B5EF4-FFF2-40B4-BE49-F238E27FC236}">
                <a16:creationId xmlns:a16="http://schemas.microsoft.com/office/drawing/2014/main" id="{12FEC29B-0382-4F14-99EE-1A7D8B73D200}"/>
              </a:ext>
            </a:extLst>
          </p:cNvPr>
          <p:cNvSpPr>
            <a:spLocks noGrp="1"/>
          </p:cNvSpPr>
          <p:nvPr/>
        </p:nvSpPr>
        <p:spPr>
          <a:xfrm>
            <a:off x="9248775" y="1981200"/>
            <a:ext cx="2381250" cy="523875"/>
          </a:xfrm>
          <a:prstGeom prst="rect">
            <a:avLst/>
          </a:prstGeom>
          <a:noFill/>
          <a:ln w="0">
            <a:noFill/>
          </a:ln>
        </p:spPr>
        <p:txBody>
          <a:bodyPr>
            <a:normAutofit/>
          </a:bodyPr>
          <a:lstStyle/>
          <a:p>
            <a:pPr>
              <a:defRPr sz="2775" b="1">
                <a:solidFill>
                  <a:srgbClr val="2563EB"/>
                </a:solidFill>
                <a:latin typeface="Bitstream Charter"/>
                <a:ea typeface="Bitstream Charter"/>
                <a:cs typeface="Bitstream Charter"/>
              </a:defRPr>
            </a:pPr>
            <a:r>
              <a:rPr sz="2775" b="1">
                <a:solidFill>
                  <a:srgbClr val="2563EB"/>
                </a:solidFill>
                <a:latin typeface="Bitstream Charter"/>
                <a:ea typeface="Bitstream Charter"/>
                <a:cs typeface="Bitstream Charter"/>
              </a:rPr>
              <a:t>2008–09</a:t>
            </a:r>
          </a:p>
        </p:txBody>
      </p:sp>
      <p:sp>
        <p:nvSpPr>
          <p:cNvPr id="24" name="Rectangle 23">
            <a:extLst>
              <a:ext uri="{FF2B5EF4-FFF2-40B4-BE49-F238E27FC236}">
                <a16:creationId xmlns:a16="http://schemas.microsoft.com/office/drawing/2014/main" id="{3EF9AF5F-D4CD-4761-AFEC-BB18AD668E89}"/>
              </a:ext>
            </a:extLst>
          </p:cNvPr>
          <p:cNvSpPr>
            <a:spLocks noGrp="1"/>
          </p:cNvSpPr>
          <p:nvPr/>
        </p:nvSpPr>
        <p:spPr>
          <a:xfrm>
            <a:off x="9267825" y="2533650"/>
            <a:ext cx="2305050" cy="685800"/>
          </a:xfrm>
          <a:prstGeom prst="rect">
            <a:avLst/>
          </a:prstGeom>
          <a:noFill/>
          <a:ln w="0">
            <a:noFill/>
          </a:ln>
        </p:spPr>
        <p:txBody>
          <a:bodyPr>
            <a:normAutofit/>
          </a:bodyPr>
          <a:lstStyle/>
          <a:p>
            <a:pPr>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Unemployment rises after the financial crisis.</a:t>
            </a:r>
          </a:p>
        </p:txBody>
      </p:sp>
      <p:sp>
        <p:nvSpPr>
          <p:cNvPr id="25" name="Rectangle 24">
            <a:extLst>
              <a:ext uri="{FF2B5EF4-FFF2-40B4-BE49-F238E27FC236}">
                <a16:creationId xmlns:a16="http://schemas.microsoft.com/office/drawing/2014/main" id="{79C58D94-C72F-4DF9-9185-9C95CAFA4841}"/>
              </a:ext>
            </a:extLst>
          </p:cNvPr>
          <p:cNvSpPr>
            <a:spLocks noGrp="1"/>
          </p:cNvSpPr>
          <p:nvPr/>
        </p:nvSpPr>
        <p:spPr>
          <a:xfrm>
            <a:off x="9248775" y="4229100"/>
            <a:ext cx="2381250" cy="523875"/>
          </a:xfrm>
          <a:prstGeom prst="rect">
            <a:avLst/>
          </a:prstGeom>
          <a:noFill/>
          <a:ln w="0">
            <a:noFill/>
          </a:ln>
        </p:spPr>
        <p:txBody>
          <a:bodyPr>
            <a:normAutofit/>
          </a:bodyPr>
          <a:lstStyle/>
          <a:p>
            <a:pPr>
              <a:defRPr sz="2775" b="1">
                <a:solidFill>
                  <a:srgbClr val="D97706"/>
                </a:solidFill>
                <a:latin typeface="Bitstream Charter"/>
                <a:ea typeface="Bitstream Charter"/>
                <a:cs typeface="Bitstream Charter"/>
              </a:defRPr>
            </a:pPr>
            <a:r>
              <a:rPr sz="2775" b="1">
                <a:solidFill>
                  <a:srgbClr val="D97706"/>
                </a:solidFill>
                <a:latin typeface="Bitstream Charter"/>
                <a:ea typeface="Bitstream Charter"/>
                <a:cs typeface="Bitstream Charter"/>
              </a:rPr>
              <a:t>2021–22</a:t>
            </a:r>
          </a:p>
        </p:txBody>
      </p:sp>
      <p:sp>
        <p:nvSpPr>
          <p:cNvPr id="26" name="Rectangle 25">
            <a:extLst>
              <a:ext uri="{FF2B5EF4-FFF2-40B4-BE49-F238E27FC236}">
                <a16:creationId xmlns:a16="http://schemas.microsoft.com/office/drawing/2014/main" id="{9B1A3ECE-2BDA-4839-8B3F-4563CF49D33F}"/>
              </a:ext>
            </a:extLst>
          </p:cNvPr>
          <p:cNvSpPr>
            <a:spLocks noGrp="1"/>
          </p:cNvSpPr>
          <p:nvPr/>
        </p:nvSpPr>
        <p:spPr>
          <a:xfrm>
            <a:off x="9267825" y="4762500"/>
            <a:ext cx="2305050" cy="781050"/>
          </a:xfrm>
          <a:prstGeom prst="rect">
            <a:avLst/>
          </a:prstGeom>
          <a:noFill/>
          <a:ln w="0">
            <a:noFill/>
          </a:ln>
        </p:spPr>
        <p:txBody>
          <a:bodyPr>
            <a:normAutofit/>
          </a:bodyPr>
          <a:lstStyle/>
          <a:p>
            <a:pPr>
              <a:defRPr sz="1275" b="0">
                <a:solidFill>
                  <a:srgbClr val="52606D"/>
                </a:solidFill>
                <a:latin typeface="Bitstream Charter"/>
                <a:ea typeface="Bitstream Charter"/>
                <a:cs typeface="Bitstream Charter"/>
              </a:defRPr>
            </a:pPr>
            <a:r>
              <a:rPr sz="1275" b="0">
                <a:solidFill>
                  <a:srgbClr val="52606D"/>
                </a:solidFill>
                <a:latin typeface="Bitstream Charter"/>
                <a:ea typeface="Bitstream Charter"/>
                <a:cs typeface="Bitstream Charter"/>
              </a:rPr>
              <a:t>Inflation surges after the pandemic downturn.</a:t>
            </a:r>
          </a:p>
        </p:txBody>
      </p:sp>
      <p:sp>
        <p:nvSpPr>
          <p:cNvPr id="27" name="Rectangle 26">
            <a:extLst>
              <a:ext uri="{FF2B5EF4-FFF2-40B4-BE49-F238E27FC236}">
                <a16:creationId xmlns:a16="http://schemas.microsoft.com/office/drawing/2014/main" id="{EEA49725-C320-4610-9029-D0E1CA820CAD}"/>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Why aligned line charts: the shared years show event order without forcing two different measures onto one plot.</a:t>
            </a:r>
          </a:p>
        </p:txBody>
      </p:sp>
    </p:spTree>
    <p:extLst>
      <p:ext uri="{BB962C8B-B14F-4D97-AF65-F5344CB8AC3E}">
        <p14:creationId xmlns:p14="http://schemas.microsoft.com/office/powerpoint/2010/main" val="1186604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A4BE81C-A81E-408B-B31A-5F1E2EF5ED1E}"/>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C5A0B295-2D7C-4837-B26E-5134678102AE}"/>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Inflation rose before the major rate increases</a:t>
            </a:r>
          </a:p>
        </p:txBody>
      </p:sp>
      <p:sp>
        <p:nvSpPr>
          <p:cNvPr id="3" name="Rectangle 2">
            <a:extLst>
              <a:ext uri="{FF2B5EF4-FFF2-40B4-BE49-F238E27FC236}">
                <a16:creationId xmlns:a16="http://schemas.microsoft.com/office/drawing/2014/main" id="{177F869C-7555-45FD-9F00-35653F8D7CCA}"/>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04</a:t>
            </a:r>
          </a:p>
        </p:txBody>
      </p:sp>
      <p:sp>
        <p:nvSpPr>
          <p:cNvPr id="4" name="Rectangle 3">
            <a:extLst>
              <a:ext uri="{FF2B5EF4-FFF2-40B4-BE49-F238E27FC236}">
                <a16:creationId xmlns:a16="http://schemas.microsoft.com/office/drawing/2014/main" id="{402187B1-D8D8-4DE7-8491-66576E0FBC4D}"/>
              </a:ext>
            </a:extLst>
          </p:cNvPr>
          <p:cNvSpPr>
            <a:spLocks noGrp="1"/>
          </p:cNvSpPr>
          <p:nvPr/>
        </p:nvSpPr>
        <p:spPr>
          <a:xfrm>
            <a:off x="714375" y="962025"/>
            <a:ext cx="10572750" cy="400050"/>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Monthly CPI inflation and effective federal funds rate, January 2019–August 2026</a:t>
            </a:r>
          </a:p>
        </p:txBody>
      </p:sp>
      <p:graphicFrame>
        <p:nvGraphicFramePr>
          <p:cNvPr id="23" name="Chart"/>
          <p:cNvGraphicFramePr/>
          <p:nvPr/>
        </p:nvGraphicFramePr>
        <p:xfrm>
          <a:off x="771525" y="1685925"/>
          <a:ext cx="8382000" cy="37338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EAFCA55A-46FD-4114-A54E-6E7C1841E00F}"/>
              </a:ext>
            </a:extLst>
          </p:cNvPr>
          <p:cNvSpPr>
            <a:spLocks noGrp="1"/>
          </p:cNvSpPr>
          <p:nvPr/>
        </p:nvSpPr>
        <p:spPr>
          <a:xfrm>
            <a:off x="923925"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2019</a:t>
            </a:r>
          </a:p>
        </p:txBody>
      </p:sp>
      <p:sp>
        <p:nvSpPr>
          <p:cNvPr id="7" name="Rectangle 6">
            <a:extLst>
              <a:ext uri="{FF2B5EF4-FFF2-40B4-BE49-F238E27FC236}">
                <a16:creationId xmlns:a16="http://schemas.microsoft.com/office/drawing/2014/main" id="{50431527-6BD2-4F63-A861-A5DFA32CB4E4}"/>
              </a:ext>
            </a:extLst>
          </p:cNvPr>
          <p:cNvSpPr>
            <a:spLocks noGrp="1"/>
          </p:cNvSpPr>
          <p:nvPr/>
        </p:nvSpPr>
        <p:spPr>
          <a:xfrm>
            <a:off x="1974396"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2020</a:t>
            </a:r>
          </a:p>
        </p:txBody>
      </p:sp>
      <p:sp>
        <p:nvSpPr>
          <p:cNvPr id="8" name="Rectangle 7">
            <a:extLst>
              <a:ext uri="{FF2B5EF4-FFF2-40B4-BE49-F238E27FC236}">
                <a16:creationId xmlns:a16="http://schemas.microsoft.com/office/drawing/2014/main" id="{F5DF5957-1BCE-45E5-8CB9-9A8B4322249F}"/>
              </a:ext>
            </a:extLst>
          </p:cNvPr>
          <p:cNvSpPr>
            <a:spLocks noGrp="1"/>
          </p:cNvSpPr>
          <p:nvPr/>
        </p:nvSpPr>
        <p:spPr>
          <a:xfrm>
            <a:off x="3024868"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2021</a:t>
            </a:r>
          </a:p>
        </p:txBody>
      </p:sp>
      <p:sp>
        <p:nvSpPr>
          <p:cNvPr id="9" name="Rectangle 8">
            <a:extLst>
              <a:ext uri="{FF2B5EF4-FFF2-40B4-BE49-F238E27FC236}">
                <a16:creationId xmlns:a16="http://schemas.microsoft.com/office/drawing/2014/main" id="{B1E17CB5-33EE-4FE1-A13C-37CEF808BEC5}"/>
              </a:ext>
            </a:extLst>
          </p:cNvPr>
          <p:cNvSpPr>
            <a:spLocks noGrp="1"/>
          </p:cNvSpPr>
          <p:nvPr/>
        </p:nvSpPr>
        <p:spPr>
          <a:xfrm>
            <a:off x="4075339"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2022</a:t>
            </a:r>
          </a:p>
        </p:txBody>
      </p:sp>
      <p:sp>
        <p:nvSpPr>
          <p:cNvPr id="10" name="Rectangle 9">
            <a:extLst>
              <a:ext uri="{FF2B5EF4-FFF2-40B4-BE49-F238E27FC236}">
                <a16:creationId xmlns:a16="http://schemas.microsoft.com/office/drawing/2014/main" id="{012A06EF-CE31-418D-AFA0-2225EED57602}"/>
              </a:ext>
            </a:extLst>
          </p:cNvPr>
          <p:cNvSpPr>
            <a:spLocks noGrp="1"/>
          </p:cNvSpPr>
          <p:nvPr/>
        </p:nvSpPr>
        <p:spPr>
          <a:xfrm>
            <a:off x="5125811"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2023</a:t>
            </a:r>
          </a:p>
        </p:txBody>
      </p:sp>
      <p:sp>
        <p:nvSpPr>
          <p:cNvPr id="11" name="Rectangle 10">
            <a:extLst>
              <a:ext uri="{FF2B5EF4-FFF2-40B4-BE49-F238E27FC236}">
                <a16:creationId xmlns:a16="http://schemas.microsoft.com/office/drawing/2014/main" id="{27A38E45-E903-4533-A2C4-DEDAC4E64263}"/>
              </a:ext>
            </a:extLst>
          </p:cNvPr>
          <p:cNvSpPr>
            <a:spLocks noGrp="1"/>
          </p:cNvSpPr>
          <p:nvPr/>
        </p:nvSpPr>
        <p:spPr>
          <a:xfrm>
            <a:off x="6176282"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2024</a:t>
            </a:r>
          </a:p>
        </p:txBody>
      </p:sp>
      <p:sp>
        <p:nvSpPr>
          <p:cNvPr id="12" name="Rectangle 11">
            <a:extLst>
              <a:ext uri="{FF2B5EF4-FFF2-40B4-BE49-F238E27FC236}">
                <a16:creationId xmlns:a16="http://schemas.microsoft.com/office/drawing/2014/main" id="{CFDFD731-AEAA-462A-9EC2-C45A7FB8C267}"/>
              </a:ext>
            </a:extLst>
          </p:cNvPr>
          <p:cNvSpPr>
            <a:spLocks noGrp="1"/>
          </p:cNvSpPr>
          <p:nvPr/>
        </p:nvSpPr>
        <p:spPr>
          <a:xfrm>
            <a:off x="7226754"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2025</a:t>
            </a:r>
          </a:p>
        </p:txBody>
      </p:sp>
      <p:sp>
        <p:nvSpPr>
          <p:cNvPr id="13" name="Rectangle 12">
            <a:extLst>
              <a:ext uri="{FF2B5EF4-FFF2-40B4-BE49-F238E27FC236}">
                <a16:creationId xmlns:a16="http://schemas.microsoft.com/office/drawing/2014/main" id="{FE34E45E-B934-4B1B-83F4-5E857FD9EF1E}"/>
              </a:ext>
            </a:extLst>
          </p:cNvPr>
          <p:cNvSpPr>
            <a:spLocks noGrp="1"/>
          </p:cNvSpPr>
          <p:nvPr/>
        </p:nvSpPr>
        <p:spPr>
          <a:xfrm>
            <a:off x="8277225" y="5381625"/>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2026</a:t>
            </a:r>
          </a:p>
        </p:txBody>
      </p:sp>
      <p:sp>
        <p:nvSpPr>
          <p:cNvPr id="14" name="Rectangle 13">
            <a:extLst>
              <a:ext uri="{FF2B5EF4-FFF2-40B4-BE49-F238E27FC236}">
                <a16:creationId xmlns:a16="http://schemas.microsoft.com/office/drawing/2014/main" id="{AEF30AA1-7A45-429F-9BD6-B65AF472BB37}"/>
              </a:ext>
            </a:extLst>
          </p:cNvPr>
          <p:cNvSpPr>
            <a:spLocks noGrp="1"/>
          </p:cNvSpPr>
          <p:nvPr/>
        </p:nvSpPr>
        <p:spPr>
          <a:xfrm>
            <a:off x="9477375" y="2190750"/>
            <a:ext cx="2095500" cy="590550"/>
          </a:xfrm>
          <a:prstGeom prst="rect">
            <a:avLst/>
          </a:prstGeom>
          <a:noFill/>
          <a:ln w="0">
            <a:noFill/>
          </a:ln>
        </p:spPr>
        <p:txBody>
          <a:bodyPr>
            <a:normAutofit fontScale="87333" lnSpcReduction="10000"/>
          </a:bodyPr>
          <a:lstStyle/>
          <a:p>
            <a:pPr>
              <a:defRPr sz="3750" b="1">
                <a:solidFill>
                  <a:srgbClr val="D97706"/>
                </a:solidFill>
                <a:latin typeface="Bitstream Charter"/>
                <a:ea typeface="Bitstream Charter"/>
                <a:cs typeface="Bitstream Charter"/>
              </a:defRPr>
            </a:pPr>
            <a:r>
              <a:rPr sz="3750" b="1">
                <a:solidFill>
                  <a:srgbClr val="D97706"/>
                </a:solidFill>
                <a:latin typeface="Bitstream Charter"/>
                <a:ea typeface="Bitstream Charter"/>
                <a:cs typeface="Bitstream Charter"/>
              </a:rPr>
              <a:t>9.0%</a:t>
            </a:r>
          </a:p>
        </p:txBody>
      </p:sp>
      <p:sp>
        <p:nvSpPr>
          <p:cNvPr id="15" name="Rectangle 14">
            <a:extLst>
              <a:ext uri="{FF2B5EF4-FFF2-40B4-BE49-F238E27FC236}">
                <a16:creationId xmlns:a16="http://schemas.microsoft.com/office/drawing/2014/main" id="{AEF0A8C2-D00D-4C69-BBF0-5B6369E81D99}"/>
              </a:ext>
            </a:extLst>
          </p:cNvPr>
          <p:cNvSpPr>
            <a:spLocks noGrp="1"/>
          </p:cNvSpPr>
          <p:nvPr/>
        </p:nvSpPr>
        <p:spPr>
          <a:xfrm>
            <a:off x="9525000" y="2800350"/>
            <a:ext cx="2076450" cy="619125"/>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CPI inflation</a:t>
            </a:r>
          </a:p>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June 2022</a:t>
            </a:r>
          </a:p>
        </p:txBody>
      </p:sp>
      <p:sp>
        <p:nvSpPr>
          <p:cNvPr id="16" name="Rectangle 15">
            <a:extLst>
              <a:ext uri="{FF2B5EF4-FFF2-40B4-BE49-F238E27FC236}">
                <a16:creationId xmlns:a16="http://schemas.microsoft.com/office/drawing/2014/main" id="{4879D770-6324-4D0D-9A75-35C2541A3E1D}"/>
              </a:ext>
            </a:extLst>
          </p:cNvPr>
          <p:cNvSpPr>
            <a:spLocks noGrp="1"/>
          </p:cNvSpPr>
          <p:nvPr/>
        </p:nvSpPr>
        <p:spPr>
          <a:xfrm>
            <a:off x="9496425" y="3724275"/>
            <a:ext cx="1914525" cy="19050"/>
          </a:xfrm>
          <a:prstGeom prst="rect">
            <a:avLst/>
          </a:prstGeom>
          <a:solidFill>
            <a:srgbClr val="D97706"/>
          </a:solidFill>
          <a:ln w="0">
            <a:noFill/>
          </a:ln>
        </p:spPr>
        <p:txBody>
          <a:bodyPr/>
          <a:lstStyle/>
          <a:p>
            <a:endParaRPr lang="en-US"/>
          </a:p>
        </p:txBody>
      </p:sp>
      <p:sp>
        <p:nvSpPr>
          <p:cNvPr id="17" name="Rectangle 16">
            <a:extLst>
              <a:ext uri="{FF2B5EF4-FFF2-40B4-BE49-F238E27FC236}">
                <a16:creationId xmlns:a16="http://schemas.microsoft.com/office/drawing/2014/main" id="{14274E7D-F639-48BD-97B6-23F6CB333223}"/>
              </a:ext>
            </a:extLst>
          </p:cNvPr>
          <p:cNvSpPr>
            <a:spLocks noGrp="1"/>
          </p:cNvSpPr>
          <p:nvPr/>
        </p:nvSpPr>
        <p:spPr>
          <a:xfrm>
            <a:off x="9515475" y="4010025"/>
            <a:ext cx="2000250" cy="1266825"/>
          </a:xfrm>
          <a:prstGeom prst="rect">
            <a:avLst/>
          </a:prstGeom>
          <a:noFill/>
          <a:ln w="0">
            <a:noFill/>
          </a:ln>
        </p:spPr>
        <p:txBody>
          <a:bodyPr>
            <a:normAutofit/>
          </a:bodyPr>
          <a:lstStyle/>
          <a:p>
            <a:pPr>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Rate increases followed the inflation surge. The lines do not prove how much the hikes changed prices.</a:t>
            </a:r>
          </a:p>
        </p:txBody>
      </p:sp>
      <p:sp>
        <p:nvSpPr>
          <p:cNvPr id="18" name="Rectangle 17">
            <a:extLst>
              <a:ext uri="{FF2B5EF4-FFF2-40B4-BE49-F238E27FC236}">
                <a16:creationId xmlns:a16="http://schemas.microsoft.com/office/drawing/2014/main" id="{EA7D536C-9034-4DB8-A6D0-608BEC0ECF3F}"/>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October 2025 is omitted. This slide joins adjacent observations; the notebook chart shows the gap.</a:t>
            </a:r>
          </a:p>
        </p:txBody>
      </p:sp>
    </p:spTree>
    <p:extLst>
      <p:ext uri="{BB962C8B-B14F-4D97-AF65-F5344CB8AC3E}">
        <p14:creationId xmlns:p14="http://schemas.microsoft.com/office/powerpoint/2010/main" val="1369354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284B8B6-AD03-4F74-941E-749D7AF644CE}"/>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C7F7A730-98C9-43B5-9231-2E156ECF1C3D}"/>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Unemployment recovered after the pandemic shock</a:t>
            </a:r>
          </a:p>
        </p:txBody>
      </p:sp>
      <p:sp>
        <p:nvSpPr>
          <p:cNvPr id="3" name="Rectangle 2">
            <a:extLst>
              <a:ext uri="{FF2B5EF4-FFF2-40B4-BE49-F238E27FC236}">
                <a16:creationId xmlns:a16="http://schemas.microsoft.com/office/drawing/2014/main" id="{B00F8FB5-8949-45CE-AEE6-3F45A26DC5DA}"/>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05</a:t>
            </a:r>
          </a:p>
        </p:txBody>
      </p:sp>
      <p:sp>
        <p:nvSpPr>
          <p:cNvPr id="4" name="Rectangle 3">
            <a:extLst>
              <a:ext uri="{FF2B5EF4-FFF2-40B4-BE49-F238E27FC236}">
                <a16:creationId xmlns:a16="http://schemas.microsoft.com/office/drawing/2014/main" id="{F4B66AA2-7D7C-4380-97B6-0E3D1D8CEAA7}"/>
              </a:ext>
            </a:extLst>
          </p:cNvPr>
          <p:cNvSpPr>
            <a:spLocks noGrp="1"/>
          </p:cNvSpPr>
          <p:nvPr/>
        </p:nvSpPr>
        <p:spPr>
          <a:xfrm>
            <a:off x="714375" y="962025"/>
            <a:ext cx="10572750" cy="400050"/>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Monthly unemployment rate, January 2019–August 2026</a:t>
            </a:r>
          </a:p>
        </p:txBody>
      </p:sp>
      <p:graphicFrame>
        <p:nvGraphicFramePr>
          <p:cNvPr id="24" name="Chart"/>
          <p:cNvGraphicFramePr/>
          <p:nvPr/>
        </p:nvGraphicFramePr>
        <p:xfrm>
          <a:off x="781050" y="1752600"/>
          <a:ext cx="8334375"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4ECF3E32-C480-4DE4-AF52-90C1730A9982}"/>
              </a:ext>
            </a:extLst>
          </p:cNvPr>
          <p:cNvSpPr>
            <a:spLocks noGrp="1"/>
          </p:cNvSpPr>
          <p:nvPr/>
        </p:nvSpPr>
        <p:spPr>
          <a:xfrm>
            <a:off x="92392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2019</a:t>
            </a:r>
          </a:p>
        </p:txBody>
      </p:sp>
      <p:sp>
        <p:nvSpPr>
          <p:cNvPr id="7" name="Rectangle 6">
            <a:extLst>
              <a:ext uri="{FF2B5EF4-FFF2-40B4-BE49-F238E27FC236}">
                <a16:creationId xmlns:a16="http://schemas.microsoft.com/office/drawing/2014/main" id="{069901D5-5384-477A-B654-3CA53A9570FF}"/>
              </a:ext>
            </a:extLst>
          </p:cNvPr>
          <p:cNvSpPr>
            <a:spLocks noGrp="1"/>
          </p:cNvSpPr>
          <p:nvPr/>
        </p:nvSpPr>
        <p:spPr>
          <a:xfrm>
            <a:off x="197167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2020</a:t>
            </a:r>
          </a:p>
        </p:txBody>
      </p:sp>
      <p:sp>
        <p:nvSpPr>
          <p:cNvPr id="8" name="Rectangle 7">
            <a:extLst>
              <a:ext uri="{FF2B5EF4-FFF2-40B4-BE49-F238E27FC236}">
                <a16:creationId xmlns:a16="http://schemas.microsoft.com/office/drawing/2014/main" id="{D19D505D-A3F5-4BC0-AE8E-60CC5A8C5429}"/>
              </a:ext>
            </a:extLst>
          </p:cNvPr>
          <p:cNvSpPr>
            <a:spLocks noGrp="1"/>
          </p:cNvSpPr>
          <p:nvPr/>
        </p:nvSpPr>
        <p:spPr>
          <a:xfrm>
            <a:off x="301942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2021</a:t>
            </a:r>
          </a:p>
        </p:txBody>
      </p:sp>
      <p:sp>
        <p:nvSpPr>
          <p:cNvPr id="9" name="Rectangle 8">
            <a:extLst>
              <a:ext uri="{FF2B5EF4-FFF2-40B4-BE49-F238E27FC236}">
                <a16:creationId xmlns:a16="http://schemas.microsoft.com/office/drawing/2014/main" id="{879DC96B-A815-4DBB-A697-8772F1305A56}"/>
              </a:ext>
            </a:extLst>
          </p:cNvPr>
          <p:cNvSpPr>
            <a:spLocks noGrp="1"/>
          </p:cNvSpPr>
          <p:nvPr/>
        </p:nvSpPr>
        <p:spPr>
          <a:xfrm>
            <a:off x="406717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2022</a:t>
            </a:r>
          </a:p>
        </p:txBody>
      </p:sp>
      <p:sp>
        <p:nvSpPr>
          <p:cNvPr id="10" name="Rectangle 9">
            <a:extLst>
              <a:ext uri="{FF2B5EF4-FFF2-40B4-BE49-F238E27FC236}">
                <a16:creationId xmlns:a16="http://schemas.microsoft.com/office/drawing/2014/main" id="{74C7EA66-A18D-4E12-B18D-CA614985340B}"/>
              </a:ext>
            </a:extLst>
          </p:cNvPr>
          <p:cNvSpPr>
            <a:spLocks noGrp="1"/>
          </p:cNvSpPr>
          <p:nvPr/>
        </p:nvSpPr>
        <p:spPr>
          <a:xfrm>
            <a:off x="511492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2023</a:t>
            </a:r>
          </a:p>
        </p:txBody>
      </p:sp>
      <p:sp>
        <p:nvSpPr>
          <p:cNvPr id="11" name="Rectangle 10">
            <a:extLst>
              <a:ext uri="{FF2B5EF4-FFF2-40B4-BE49-F238E27FC236}">
                <a16:creationId xmlns:a16="http://schemas.microsoft.com/office/drawing/2014/main" id="{BEAF149F-771C-4C4F-9ABB-42CC870DE5AA}"/>
              </a:ext>
            </a:extLst>
          </p:cNvPr>
          <p:cNvSpPr>
            <a:spLocks noGrp="1"/>
          </p:cNvSpPr>
          <p:nvPr/>
        </p:nvSpPr>
        <p:spPr>
          <a:xfrm>
            <a:off x="616267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2024</a:t>
            </a:r>
          </a:p>
        </p:txBody>
      </p:sp>
      <p:sp>
        <p:nvSpPr>
          <p:cNvPr id="12" name="Rectangle 11">
            <a:extLst>
              <a:ext uri="{FF2B5EF4-FFF2-40B4-BE49-F238E27FC236}">
                <a16:creationId xmlns:a16="http://schemas.microsoft.com/office/drawing/2014/main" id="{6DDBC0DD-4583-4157-901E-9358C2B39899}"/>
              </a:ext>
            </a:extLst>
          </p:cNvPr>
          <p:cNvSpPr>
            <a:spLocks noGrp="1"/>
          </p:cNvSpPr>
          <p:nvPr/>
        </p:nvSpPr>
        <p:spPr>
          <a:xfrm>
            <a:off x="721042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2025</a:t>
            </a:r>
          </a:p>
        </p:txBody>
      </p:sp>
      <p:sp>
        <p:nvSpPr>
          <p:cNvPr id="13" name="Rectangle 12">
            <a:extLst>
              <a:ext uri="{FF2B5EF4-FFF2-40B4-BE49-F238E27FC236}">
                <a16:creationId xmlns:a16="http://schemas.microsoft.com/office/drawing/2014/main" id="{7EA7186A-25B1-43C2-9D3D-41C8A9D12521}"/>
              </a:ext>
            </a:extLst>
          </p:cNvPr>
          <p:cNvSpPr>
            <a:spLocks noGrp="1"/>
          </p:cNvSpPr>
          <p:nvPr/>
        </p:nvSpPr>
        <p:spPr>
          <a:xfrm>
            <a:off x="8258175" y="5429250"/>
            <a:ext cx="619125" cy="238125"/>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2026</a:t>
            </a:r>
          </a:p>
        </p:txBody>
      </p:sp>
      <p:sp>
        <p:nvSpPr>
          <p:cNvPr id="14" name="Rectangle 13">
            <a:extLst>
              <a:ext uri="{FF2B5EF4-FFF2-40B4-BE49-F238E27FC236}">
                <a16:creationId xmlns:a16="http://schemas.microsoft.com/office/drawing/2014/main" id="{49DDCD82-6596-4209-B1BC-E64D1FCFA74B}"/>
              </a:ext>
            </a:extLst>
          </p:cNvPr>
          <p:cNvSpPr>
            <a:spLocks noGrp="1"/>
          </p:cNvSpPr>
          <p:nvPr/>
        </p:nvSpPr>
        <p:spPr>
          <a:xfrm>
            <a:off x="9439275" y="2095500"/>
            <a:ext cx="2152650" cy="561975"/>
          </a:xfrm>
          <a:prstGeom prst="rect">
            <a:avLst/>
          </a:prstGeom>
          <a:noFill/>
          <a:ln w="0">
            <a:noFill/>
          </a:ln>
        </p:spPr>
        <p:txBody>
          <a:bodyPr>
            <a:normAutofit fontScale="84014" lnSpcReduction="10000"/>
          </a:bodyPr>
          <a:lstStyle/>
          <a:p>
            <a:pPr>
              <a:defRPr sz="3675" b="1">
                <a:solidFill>
                  <a:srgbClr val="C2413B"/>
                </a:solidFill>
                <a:latin typeface="Bitstream Charter"/>
                <a:ea typeface="Bitstream Charter"/>
                <a:cs typeface="Bitstream Charter"/>
              </a:defRPr>
            </a:pPr>
            <a:r>
              <a:rPr sz="3675" b="1">
                <a:solidFill>
                  <a:srgbClr val="C2413B"/>
                </a:solidFill>
                <a:latin typeface="Bitstream Charter"/>
                <a:ea typeface="Bitstream Charter"/>
                <a:cs typeface="Bitstream Charter"/>
              </a:rPr>
              <a:t>14.8%</a:t>
            </a:r>
          </a:p>
        </p:txBody>
      </p:sp>
      <p:sp>
        <p:nvSpPr>
          <p:cNvPr id="15" name="Rectangle 14">
            <a:extLst>
              <a:ext uri="{FF2B5EF4-FFF2-40B4-BE49-F238E27FC236}">
                <a16:creationId xmlns:a16="http://schemas.microsoft.com/office/drawing/2014/main" id="{49F9EC5E-A4FA-4C8D-9781-1EF99A4D8C78}"/>
              </a:ext>
            </a:extLst>
          </p:cNvPr>
          <p:cNvSpPr>
            <a:spLocks noGrp="1"/>
          </p:cNvSpPr>
          <p:nvPr/>
        </p:nvSpPr>
        <p:spPr>
          <a:xfrm>
            <a:off x="9496425" y="2686050"/>
            <a:ext cx="2019300" cy="638175"/>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April 2020</a:t>
            </a:r>
          </a:p>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pandemic peak</a:t>
            </a:r>
          </a:p>
        </p:txBody>
      </p:sp>
      <p:sp>
        <p:nvSpPr>
          <p:cNvPr id="16" name="Rectangle 15">
            <a:extLst>
              <a:ext uri="{FF2B5EF4-FFF2-40B4-BE49-F238E27FC236}">
                <a16:creationId xmlns:a16="http://schemas.microsoft.com/office/drawing/2014/main" id="{8CCB6E5C-FD42-49F5-825E-F42BDDDF824B}"/>
              </a:ext>
            </a:extLst>
          </p:cNvPr>
          <p:cNvSpPr>
            <a:spLocks noGrp="1"/>
          </p:cNvSpPr>
          <p:nvPr/>
        </p:nvSpPr>
        <p:spPr>
          <a:xfrm>
            <a:off x="9486900" y="3638550"/>
            <a:ext cx="1933575" cy="19050"/>
          </a:xfrm>
          <a:prstGeom prst="rect">
            <a:avLst/>
          </a:prstGeom>
          <a:solidFill>
            <a:srgbClr val="D97706"/>
          </a:solidFill>
          <a:ln w="0">
            <a:noFill/>
          </a:ln>
        </p:spPr>
        <p:txBody>
          <a:bodyPr/>
          <a:lstStyle/>
          <a:p>
            <a:endParaRPr lang="en-US"/>
          </a:p>
        </p:txBody>
      </p:sp>
      <p:sp>
        <p:nvSpPr>
          <p:cNvPr id="17" name="Rectangle 16">
            <a:extLst>
              <a:ext uri="{FF2B5EF4-FFF2-40B4-BE49-F238E27FC236}">
                <a16:creationId xmlns:a16="http://schemas.microsoft.com/office/drawing/2014/main" id="{D367074B-D33A-40C4-BBA0-D2926DA7D7F7}"/>
              </a:ext>
            </a:extLst>
          </p:cNvPr>
          <p:cNvSpPr>
            <a:spLocks noGrp="1"/>
          </p:cNvSpPr>
          <p:nvPr/>
        </p:nvSpPr>
        <p:spPr>
          <a:xfrm>
            <a:off x="9458325" y="3924300"/>
            <a:ext cx="2133600" cy="609600"/>
          </a:xfrm>
          <a:prstGeom prst="rect">
            <a:avLst/>
          </a:prstGeom>
          <a:noFill/>
          <a:ln w="0">
            <a:noFill/>
          </a:ln>
        </p:spPr>
        <p:txBody>
          <a:bodyPr>
            <a:normAutofit/>
          </a:bodyPr>
          <a:lstStyle/>
          <a:p>
            <a:pPr>
              <a:defRPr sz="3375" b="1">
                <a:solidFill>
                  <a:srgbClr val="177C70"/>
                </a:solidFill>
                <a:latin typeface="Bitstream Charter"/>
                <a:ea typeface="Bitstream Charter"/>
                <a:cs typeface="Bitstream Charter"/>
              </a:defRPr>
            </a:pPr>
            <a:r>
              <a:rPr sz="3375" b="1">
                <a:solidFill>
                  <a:srgbClr val="177C70"/>
                </a:solidFill>
                <a:latin typeface="Bitstream Charter"/>
                <a:ea typeface="Bitstream Charter"/>
                <a:cs typeface="Bitstream Charter"/>
              </a:rPr>
              <a:t>4.1%</a:t>
            </a:r>
          </a:p>
        </p:txBody>
      </p:sp>
      <p:sp>
        <p:nvSpPr>
          <p:cNvPr id="18" name="Rectangle 17">
            <a:extLst>
              <a:ext uri="{FF2B5EF4-FFF2-40B4-BE49-F238E27FC236}">
                <a16:creationId xmlns:a16="http://schemas.microsoft.com/office/drawing/2014/main" id="{1DAAA026-7FBB-4949-94A6-73BE1D5376E5}"/>
              </a:ext>
            </a:extLst>
          </p:cNvPr>
          <p:cNvSpPr>
            <a:spLocks noGrp="1"/>
          </p:cNvSpPr>
          <p:nvPr/>
        </p:nvSpPr>
        <p:spPr>
          <a:xfrm>
            <a:off x="9525000" y="4467225"/>
            <a:ext cx="1981200" cy="504825"/>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August 2026</a:t>
            </a:r>
          </a:p>
        </p:txBody>
      </p:sp>
      <p:sp>
        <p:nvSpPr>
          <p:cNvPr id="19" name="Rectangle 18">
            <a:extLst>
              <a:ext uri="{FF2B5EF4-FFF2-40B4-BE49-F238E27FC236}">
                <a16:creationId xmlns:a16="http://schemas.microsoft.com/office/drawing/2014/main" id="{DA26A9C0-6AC6-4DBA-8363-F1328E1FE2BD}"/>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Why a separate panel: the 2020 job-loss spike needs its own scale; unemployment is not a causal test of rate hikes.</a:t>
            </a:r>
          </a:p>
        </p:txBody>
      </p:sp>
    </p:spTree>
    <p:extLst>
      <p:ext uri="{BB962C8B-B14F-4D97-AF65-F5344CB8AC3E}">
        <p14:creationId xmlns:p14="http://schemas.microsoft.com/office/powerpoint/2010/main" val="121777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D8BC7C8-F990-471A-AEBF-FFECAB887C13}"/>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11863489-BEA8-48E6-B351-583F5DE47BF9}"/>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The evidence supports a qualified answer</a:t>
            </a:r>
          </a:p>
        </p:txBody>
      </p:sp>
      <p:sp>
        <p:nvSpPr>
          <p:cNvPr id="3" name="Rectangle 2">
            <a:extLst>
              <a:ext uri="{FF2B5EF4-FFF2-40B4-BE49-F238E27FC236}">
                <a16:creationId xmlns:a16="http://schemas.microsoft.com/office/drawing/2014/main" id="{263066DA-79D4-4F2E-96BD-9C2AE6278D1F}"/>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06</a:t>
            </a:r>
          </a:p>
        </p:txBody>
      </p:sp>
      <p:sp>
        <p:nvSpPr>
          <p:cNvPr id="4" name="Rectangle 3">
            <a:extLst>
              <a:ext uri="{FF2B5EF4-FFF2-40B4-BE49-F238E27FC236}">
                <a16:creationId xmlns:a16="http://schemas.microsoft.com/office/drawing/2014/main" id="{1579B712-5B4C-44C6-A4AB-DC123CE19A31}"/>
              </a:ext>
            </a:extLst>
          </p:cNvPr>
          <p:cNvSpPr>
            <a:spLocks noGrp="1"/>
          </p:cNvSpPr>
          <p:nvPr/>
        </p:nvSpPr>
        <p:spPr>
          <a:xfrm>
            <a:off x="752475" y="1466850"/>
            <a:ext cx="552450" cy="571500"/>
          </a:xfrm>
          <a:prstGeom prst="rect">
            <a:avLst/>
          </a:prstGeom>
          <a:noFill/>
          <a:ln w="0">
            <a:noFill/>
          </a:ln>
        </p:spPr>
        <p:txBody>
          <a:bodyPr>
            <a:normAutofit fontScale="87500" lnSpcReduction="10000"/>
          </a:bodyPr>
          <a:lstStyle/>
          <a:p>
            <a:pPr>
              <a:defRPr sz="3600" b="1">
                <a:solidFill>
                  <a:srgbClr val="D97706"/>
                </a:solidFill>
                <a:latin typeface="Bitstream Charter"/>
                <a:ea typeface="Bitstream Charter"/>
                <a:cs typeface="Bitstream Charter"/>
              </a:defRPr>
            </a:pPr>
            <a:r>
              <a:rPr sz="3600" b="1">
                <a:solidFill>
                  <a:srgbClr val="D97706"/>
                </a:solidFill>
                <a:latin typeface="Bitstream Charter"/>
                <a:ea typeface="Bitstream Charter"/>
                <a:cs typeface="Bitstream Charter"/>
              </a:rPr>
              <a:t>1</a:t>
            </a:r>
          </a:p>
        </p:txBody>
      </p:sp>
      <p:sp>
        <p:nvSpPr>
          <p:cNvPr id="5" name="Rectangle 4">
            <a:extLst>
              <a:ext uri="{FF2B5EF4-FFF2-40B4-BE49-F238E27FC236}">
                <a16:creationId xmlns:a16="http://schemas.microsoft.com/office/drawing/2014/main" id="{7F2587E0-FD95-47DD-A895-4D79F3C7F2BF}"/>
              </a:ext>
            </a:extLst>
          </p:cNvPr>
          <p:cNvSpPr>
            <a:spLocks noGrp="1"/>
          </p:cNvSpPr>
          <p:nvPr/>
        </p:nvSpPr>
        <p:spPr>
          <a:xfrm>
            <a:off x="1428750" y="1438275"/>
            <a:ext cx="5048250" cy="781050"/>
          </a:xfrm>
          <a:prstGeom prst="rect">
            <a:avLst/>
          </a:prstGeom>
          <a:noFill/>
          <a:ln w="0">
            <a:noFill/>
          </a:ln>
        </p:spPr>
        <p:txBody>
          <a:bodyPr>
            <a:normAutofit/>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Both goals were achieved in some periods</a:t>
            </a:r>
          </a:p>
        </p:txBody>
      </p:sp>
      <p:sp>
        <p:nvSpPr>
          <p:cNvPr id="6" name="Rectangle 5">
            <a:extLst>
              <a:ext uri="{FF2B5EF4-FFF2-40B4-BE49-F238E27FC236}">
                <a16:creationId xmlns:a16="http://schemas.microsoft.com/office/drawing/2014/main" id="{91166BA0-7B90-4EB6-B505-769645609AF8}"/>
              </a:ext>
            </a:extLst>
          </p:cNvPr>
          <p:cNvSpPr>
            <a:spLocks noGrp="1"/>
          </p:cNvSpPr>
          <p:nvPr/>
        </p:nvSpPr>
        <p:spPr>
          <a:xfrm>
            <a:off x="1438275" y="2257425"/>
            <a:ext cx="4619625" cy="942975"/>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Low inflation and low unemployment coexisted. Neither remained stable throughout the 25-year window.</a:t>
            </a:r>
          </a:p>
        </p:txBody>
      </p:sp>
      <p:sp>
        <p:nvSpPr>
          <p:cNvPr id="7" name="Rectangle 6">
            <a:extLst>
              <a:ext uri="{FF2B5EF4-FFF2-40B4-BE49-F238E27FC236}">
                <a16:creationId xmlns:a16="http://schemas.microsoft.com/office/drawing/2014/main" id="{238D8D66-5FE8-4641-A914-C7FDA090D62D}"/>
              </a:ext>
            </a:extLst>
          </p:cNvPr>
          <p:cNvSpPr>
            <a:spLocks noGrp="1"/>
          </p:cNvSpPr>
          <p:nvPr/>
        </p:nvSpPr>
        <p:spPr>
          <a:xfrm>
            <a:off x="752475" y="3609975"/>
            <a:ext cx="552450" cy="571500"/>
          </a:xfrm>
          <a:prstGeom prst="rect">
            <a:avLst/>
          </a:prstGeom>
          <a:noFill/>
          <a:ln w="0">
            <a:noFill/>
          </a:ln>
        </p:spPr>
        <p:txBody>
          <a:bodyPr>
            <a:normAutofit fontScale="87500" lnSpcReduction="10000"/>
          </a:bodyPr>
          <a:lstStyle/>
          <a:p>
            <a:pPr>
              <a:defRPr sz="3600" b="1">
                <a:solidFill>
                  <a:srgbClr val="2563EB"/>
                </a:solidFill>
                <a:latin typeface="Bitstream Charter"/>
                <a:ea typeface="Bitstream Charter"/>
                <a:cs typeface="Bitstream Charter"/>
              </a:defRPr>
            </a:pPr>
            <a:r>
              <a:rPr sz="3600" b="1">
                <a:solidFill>
                  <a:srgbClr val="2563EB"/>
                </a:solidFill>
                <a:latin typeface="Bitstream Charter"/>
                <a:ea typeface="Bitstream Charter"/>
                <a:cs typeface="Bitstream Charter"/>
              </a:rPr>
              <a:t>2</a:t>
            </a:r>
          </a:p>
        </p:txBody>
      </p:sp>
      <p:sp>
        <p:nvSpPr>
          <p:cNvPr id="8" name="Rectangle 7">
            <a:extLst>
              <a:ext uri="{FF2B5EF4-FFF2-40B4-BE49-F238E27FC236}">
                <a16:creationId xmlns:a16="http://schemas.microsoft.com/office/drawing/2014/main" id="{A839C56C-FD5B-4C0D-9A18-0509B6BEEFB5}"/>
              </a:ext>
            </a:extLst>
          </p:cNvPr>
          <p:cNvSpPr>
            <a:spLocks noGrp="1"/>
          </p:cNvSpPr>
          <p:nvPr/>
        </p:nvSpPr>
        <p:spPr>
          <a:xfrm>
            <a:off x="1428750" y="3590925"/>
            <a:ext cx="5095875" cy="762000"/>
          </a:xfrm>
          <a:prstGeom prst="rect">
            <a:avLst/>
          </a:prstGeom>
          <a:noFill/>
          <a:ln w="0">
            <a:noFill/>
          </a:ln>
        </p:spPr>
        <p:txBody>
          <a:bodyPr>
            <a:normAutofit/>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Recent disinflation came with modest unemployment</a:t>
            </a:r>
          </a:p>
        </p:txBody>
      </p:sp>
      <p:sp>
        <p:nvSpPr>
          <p:cNvPr id="9" name="Rectangle 8">
            <a:extLst>
              <a:ext uri="{FF2B5EF4-FFF2-40B4-BE49-F238E27FC236}">
                <a16:creationId xmlns:a16="http://schemas.microsoft.com/office/drawing/2014/main" id="{30549230-CC3F-446C-A138-C122B1324001}"/>
              </a:ext>
            </a:extLst>
          </p:cNvPr>
          <p:cNvSpPr>
            <a:spLocks noGrp="1"/>
          </p:cNvSpPr>
          <p:nvPr/>
        </p:nvSpPr>
        <p:spPr>
          <a:xfrm>
            <a:off x="1438275" y="4429125"/>
            <a:ext cx="4657725" cy="116205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After the 2022 rate increases, inflation fell while unemployment stayed far below its 2020 peak. Inflation rose again in spring 2026.</a:t>
            </a:r>
          </a:p>
        </p:txBody>
      </p:sp>
      <p:sp>
        <p:nvSpPr>
          <p:cNvPr id="10" name="Rectangle 9">
            <a:extLst>
              <a:ext uri="{FF2B5EF4-FFF2-40B4-BE49-F238E27FC236}">
                <a16:creationId xmlns:a16="http://schemas.microsoft.com/office/drawing/2014/main" id="{A33376C6-FC13-4D58-A328-3BB53B4D202E}"/>
              </a:ext>
            </a:extLst>
          </p:cNvPr>
          <p:cNvSpPr>
            <a:spLocks noGrp="1"/>
          </p:cNvSpPr>
          <p:nvPr/>
        </p:nvSpPr>
        <p:spPr>
          <a:xfrm>
            <a:off x="6772275" y="1485900"/>
            <a:ext cx="19050" cy="4095750"/>
          </a:xfrm>
          <a:prstGeom prst="rect">
            <a:avLst/>
          </a:prstGeom>
          <a:solidFill>
            <a:srgbClr val="E0E4E8"/>
          </a:solidFill>
          <a:ln w="0">
            <a:noFill/>
          </a:ln>
        </p:spPr>
        <p:txBody>
          <a:bodyPr/>
          <a:lstStyle/>
          <a:p>
            <a:endParaRPr lang="en-US"/>
          </a:p>
        </p:txBody>
      </p:sp>
      <p:sp>
        <p:nvSpPr>
          <p:cNvPr id="11" name="Rectangle 10">
            <a:extLst>
              <a:ext uri="{FF2B5EF4-FFF2-40B4-BE49-F238E27FC236}">
                <a16:creationId xmlns:a16="http://schemas.microsoft.com/office/drawing/2014/main" id="{3B97622F-AEDA-48C4-A8C9-8EA4AFFC6F65}"/>
              </a:ext>
            </a:extLst>
          </p:cNvPr>
          <p:cNvSpPr>
            <a:spLocks noGrp="1"/>
          </p:cNvSpPr>
          <p:nvPr/>
        </p:nvSpPr>
        <p:spPr>
          <a:xfrm>
            <a:off x="7181850" y="1466850"/>
            <a:ext cx="4105275" cy="666750"/>
          </a:xfrm>
          <a:prstGeom prst="rect">
            <a:avLst/>
          </a:prstGeom>
          <a:noFill/>
          <a:ln w="0">
            <a:noFill/>
          </a:ln>
        </p:spPr>
        <p:txBody>
          <a:bodyPr>
            <a:normAutofit/>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What the charts cannot establish</a:t>
            </a:r>
          </a:p>
        </p:txBody>
      </p:sp>
      <p:sp>
        <p:nvSpPr>
          <p:cNvPr id="12" name="Rectangle 11">
            <a:extLst>
              <a:ext uri="{FF2B5EF4-FFF2-40B4-BE49-F238E27FC236}">
                <a16:creationId xmlns:a16="http://schemas.microsoft.com/office/drawing/2014/main" id="{7513C458-B1C5-4637-BB55-2BDE78DAE301}"/>
              </a:ext>
            </a:extLst>
          </p:cNvPr>
          <p:cNvSpPr>
            <a:spLocks noGrp="1"/>
          </p:cNvSpPr>
          <p:nvPr/>
        </p:nvSpPr>
        <p:spPr>
          <a:xfrm>
            <a:off x="7210425" y="2371725"/>
            <a:ext cx="3990975" cy="78105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They cannot isolate the Fed’s effect from supply shocks, fiscal policy or global events.</a:t>
            </a:r>
          </a:p>
        </p:txBody>
      </p:sp>
      <p:sp>
        <p:nvSpPr>
          <p:cNvPr id="13" name="Rectangle 12">
            <a:extLst>
              <a:ext uri="{FF2B5EF4-FFF2-40B4-BE49-F238E27FC236}">
                <a16:creationId xmlns:a16="http://schemas.microsoft.com/office/drawing/2014/main" id="{21C098C0-9339-4965-A9DA-5A867AF2EEDE}"/>
              </a:ext>
            </a:extLst>
          </p:cNvPr>
          <p:cNvSpPr>
            <a:spLocks noGrp="1"/>
          </p:cNvSpPr>
          <p:nvPr/>
        </p:nvSpPr>
        <p:spPr>
          <a:xfrm>
            <a:off x="7210425" y="3486150"/>
            <a:ext cx="4000500" cy="89535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Low unemployment does not by itself prove the economy reached maximum employment.</a:t>
            </a:r>
          </a:p>
        </p:txBody>
      </p:sp>
      <p:sp>
        <p:nvSpPr>
          <p:cNvPr id="14" name="Rectangle 13">
            <a:extLst>
              <a:ext uri="{FF2B5EF4-FFF2-40B4-BE49-F238E27FC236}">
                <a16:creationId xmlns:a16="http://schemas.microsoft.com/office/drawing/2014/main" id="{50A74232-6333-441A-9673-AE41FBDC9E81}"/>
              </a:ext>
            </a:extLst>
          </p:cNvPr>
          <p:cNvSpPr>
            <a:spLocks noGrp="1"/>
          </p:cNvSpPr>
          <p:nvPr/>
        </p:nvSpPr>
        <p:spPr>
          <a:xfrm>
            <a:off x="7210425" y="4714875"/>
            <a:ext cx="3971925" cy="733425"/>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The 2% formal target applies to PCE inflation; the assignment specifies CPI.</a:t>
            </a:r>
          </a:p>
        </p:txBody>
      </p:sp>
      <p:sp>
        <p:nvSpPr>
          <p:cNvPr id="15" name="Rectangle 14">
            <a:extLst>
              <a:ext uri="{FF2B5EF4-FFF2-40B4-BE49-F238E27FC236}">
                <a16:creationId xmlns:a16="http://schemas.microsoft.com/office/drawing/2014/main" id="{B5937285-AD57-4D92-A756-3A964E9835D4}"/>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Answer: the Fed has not maintained both outcomes continuously. The evidence cannot quantify its causal contribution.</a:t>
            </a:r>
          </a:p>
        </p:txBody>
      </p:sp>
    </p:spTree>
    <p:extLst>
      <p:ext uri="{BB962C8B-B14F-4D97-AF65-F5344CB8AC3E}">
        <p14:creationId xmlns:p14="http://schemas.microsoft.com/office/powerpoint/2010/main" val="785246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A2308B2-C959-4B27-99EA-273A1560B4CF}"/>
              </a:ext>
            </a:extLst>
          </p:cNvPr>
          <p:cNvSpPr>
            <a:spLocks noGrp="1"/>
          </p:cNvSpPr>
          <p:nvPr/>
        </p:nvSpPr>
        <p:spPr>
          <a:xfrm>
            <a:off x="0" y="0"/>
            <a:ext cx="12192000" cy="47625"/>
          </a:xfrm>
          <a:prstGeom prst="rect">
            <a:avLst/>
          </a:prstGeom>
          <a:solidFill>
            <a:srgbClr val="D97706"/>
          </a:solidFill>
          <a:ln w="0">
            <a:noFill/>
          </a:ln>
        </p:spPr>
        <p:txBody>
          <a:bodyPr/>
          <a:lstStyle/>
          <a:p>
            <a:endParaRPr lang="en-US"/>
          </a:p>
        </p:txBody>
      </p:sp>
      <p:sp>
        <p:nvSpPr>
          <p:cNvPr id="2" name="Rectangle 1">
            <a:extLst>
              <a:ext uri="{FF2B5EF4-FFF2-40B4-BE49-F238E27FC236}">
                <a16:creationId xmlns:a16="http://schemas.microsoft.com/office/drawing/2014/main" id="{A53D9EBA-DBD9-42E6-98E5-D0319229F7BD}"/>
              </a:ext>
            </a:extLst>
          </p:cNvPr>
          <p:cNvSpPr>
            <a:spLocks noGrp="1"/>
          </p:cNvSpPr>
          <p:nvPr/>
        </p:nvSpPr>
        <p:spPr>
          <a:xfrm>
            <a:off x="685800" y="333375"/>
            <a:ext cx="10239375" cy="552450"/>
          </a:xfrm>
          <a:prstGeom prst="rect">
            <a:avLst/>
          </a:prstGeom>
          <a:noFill/>
          <a:ln w="0">
            <a:noFill/>
          </a:ln>
        </p:spPr>
        <p:txBody>
          <a:bodyPr>
            <a:normAutofit/>
          </a:bodyPr>
          <a:lstStyle/>
          <a:p>
            <a:pPr>
              <a:defRPr sz="2550" b="1">
                <a:solidFill>
                  <a:srgbClr val="17212B"/>
                </a:solidFill>
                <a:latin typeface="Bitstream Charter"/>
                <a:ea typeface="Bitstream Charter"/>
                <a:cs typeface="Bitstream Charter"/>
              </a:defRPr>
            </a:pPr>
            <a:r>
              <a:rPr sz="2550" b="1">
                <a:solidFill>
                  <a:srgbClr val="17212B"/>
                </a:solidFill>
                <a:latin typeface="Bitstream Charter"/>
                <a:ea typeface="Bitstream Charter"/>
                <a:cs typeface="Bitstream Charter"/>
              </a:rPr>
              <a:t>Sources, visual choices and reproducibility</a:t>
            </a:r>
          </a:p>
        </p:txBody>
      </p:sp>
      <p:sp>
        <p:nvSpPr>
          <p:cNvPr id="3" name="Rectangle 2">
            <a:extLst>
              <a:ext uri="{FF2B5EF4-FFF2-40B4-BE49-F238E27FC236}">
                <a16:creationId xmlns:a16="http://schemas.microsoft.com/office/drawing/2014/main" id="{CF43376E-0E5C-447D-974B-F3F3BB478358}"/>
              </a:ext>
            </a:extLst>
          </p:cNvPr>
          <p:cNvSpPr>
            <a:spLocks noGrp="1"/>
          </p:cNvSpPr>
          <p:nvPr/>
        </p:nvSpPr>
        <p:spPr>
          <a:xfrm>
            <a:off x="11144250" y="419100"/>
            <a:ext cx="523875" cy="266700"/>
          </a:xfrm>
          <a:prstGeom prst="rect">
            <a:avLst/>
          </a:prstGeom>
          <a:noFill/>
          <a:ln w="0">
            <a:noFill/>
          </a:ln>
        </p:spPr>
        <p:txBody>
          <a:bodyPr>
            <a:normAutofit/>
          </a:bodyPr>
          <a:lstStyle/>
          <a:p>
            <a:pPr>
              <a:defRPr sz="1050" b="0">
                <a:solidFill>
                  <a:srgbClr val="52606D"/>
                </a:solidFill>
                <a:latin typeface="Bitstream Charter"/>
                <a:ea typeface="Bitstream Charter"/>
                <a:cs typeface="Bitstream Charter"/>
              </a:defRPr>
            </a:pPr>
            <a:r>
              <a:rPr sz="1050" b="0">
                <a:solidFill>
                  <a:srgbClr val="52606D"/>
                </a:solidFill>
                <a:latin typeface="Bitstream Charter"/>
                <a:ea typeface="Bitstream Charter"/>
                <a:cs typeface="Bitstream Charter"/>
              </a:rPr>
              <a:t>07</a:t>
            </a:r>
          </a:p>
        </p:txBody>
      </p:sp>
      <p:sp>
        <p:nvSpPr>
          <p:cNvPr id="4" name="Rectangle 3">
            <a:extLst>
              <a:ext uri="{FF2B5EF4-FFF2-40B4-BE49-F238E27FC236}">
                <a16:creationId xmlns:a16="http://schemas.microsoft.com/office/drawing/2014/main" id="{C6B12A41-0069-48E7-A805-91A466B7C7D8}"/>
              </a:ext>
            </a:extLst>
          </p:cNvPr>
          <p:cNvSpPr>
            <a:spLocks noGrp="1"/>
          </p:cNvSpPr>
          <p:nvPr/>
        </p:nvSpPr>
        <p:spPr>
          <a:xfrm>
            <a:off x="762000" y="1438275"/>
            <a:ext cx="4905375" cy="352425"/>
          </a:xfrm>
          <a:prstGeom prst="rect">
            <a:avLst/>
          </a:prstGeom>
          <a:noFill/>
          <a:ln w="0">
            <a:noFill/>
          </a:ln>
        </p:spPr>
        <p:txBody>
          <a:bodyPr>
            <a:normAutofit fontScale="98833" lnSpcReduction="10000"/>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Why these visuals</a:t>
            </a:r>
          </a:p>
        </p:txBody>
      </p:sp>
      <p:sp>
        <p:nvSpPr>
          <p:cNvPr id="5" name="Rectangle 4">
            <a:extLst>
              <a:ext uri="{FF2B5EF4-FFF2-40B4-BE49-F238E27FC236}">
                <a16:creationId xmlns:a16="http://schemas.microsoft.com/office/drawing/2014/main" id="{DF981AC8-FC01-46E4-8E49-65D7CB53104E}"/>
              </a:ext>
            </a:extLst>
          </p:cNvPr>
          <p:cNvSpPr>
            <a:spLocks noGrp="1"/>
          </p:cNvSpPr>
          <p:nvPr/>
        </p:nvSpPr>
        <p:spPr>
          <a:xfrm>
            <a:off x="771525" y="1914525"/>
            <a:ext cx="4848225" cy="95250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The 25-year aligned charts show when the two mandate measures moved together or diverged.</a:t>
            </a:r>
          </a:p>
        </p:txBody>
      </p:sp>
      <p:sp>
        <p:nvSpPr>
          <p:cNvPr id="6" name="Rectangle 5">
            <a:extLst>
              <a:ext uri="{FF2B5EF4-FFF2-40B4-BE49-F238E27FC236}">
                <a16:creationId xmlns:a16="http://schemas.microsoft.com/office/drawing/2014/main" id="{1578F859-3235-4BCB-B05A-3AEE58CD2346}"/>
              </a:ext>
            </a:extLst>
          </p:cNvPr>
          <p:cNvSpPr>
            <a:spLocks noGrp="1"/>
          </p:cNvSpPr>
          <p:nvPr/>
        </p:nvSpPr>
        <p:spPr>
          <a:xfrm>
            <a:off x="771525" y="3076575"/>
            <a:ext cx="4857750" cy="102870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sz="1425" b="0">
                <a:solidFill>
                  <a:srgbClr val="52606D"/>
                </a:solidFill>
                <a:latin typeface="Bitstream Charter"/>
                <a:ea typeface="Bitstream Charter"/>
                <a:cs typeface="Bitstream Charter"/>
              </a:rPr>
              <a:t>The monthly inflation and rate chart reveals order and delay. A separate unemployment panel makes the pandemic shock readable.</a:t>
            </a:r>
          </a:p>
        </p:txBody>
      </p:sp>
      <p:sp>
        <p:nvSpPr>
          <p:cNvPr id="7" name="Rectangle 6">
            <a:extLst>
              <a:ext uri="{FF2B5EF4-FFF2-40B4-BE49-F238E27FC236}">
                <a16:creationId xmlns:a16="http://schemas.microsoft.com/office/drawing/2014/main" id="{18F9F6E3-AE77-4B66-864C-C2C6A8CA439A}"/>
              </a:ext>
            </a:extLst>
          </p:cNvPr>
          <p:cNvSpPr>
            <a:spLocks noGrp="1"/>
          </p:cNvSpPr>
          <p:nvPr/>
        </p:nvSpPr>
        <p:spPr>
          <a:xfrm>
            <a:off x="771525" y="4429125"/>
            <a:ext cx="4838700" cy="742950"/>
          </a:xfrm>
          <a:prstGeom prst="rect">
            <a:avLst/>
          </a:prstGeom>
          <a:noFill/>
          <a:ln w="0">
            <a:noFill/>
          </a:ln>
        </p:spPr>
        <p:txBody>
          <a:bodyPr>
            <a:normAutofit/>
          </a:bodyPr>
          <a:lstStyle/>
          <a:p>
            <a:pPr>
              <a:defRPr sz="1425" b="0">
                <a:solidFill>
                  <a:srgbClr val="52606D"/>
                </a:solidFill>
                <a:latin typeface="Bitstream Charter"/>
                <a:ea typeface="Bitstream Charter"/>
                <a:cs typeface="Bitstream Charter"/>
              </a:defRPr>
            </a:pPr>
            <a:r>
              <a:rPr lang="en-US" sz="1425" dirty="0" err="1">
                <a:solidFill>
                  <a:srgbClr val="52606D"/>
                </a:solidFill>
                <a:latin typeface="Bitstream Charter"/>
              </a:rPr>
              <a:t>Plotly</a:t>
            </a:r>
            <a:r>
              <a:rPr lang="en-US" sz="1425" dirty="0">
                <a:solidFill>
                  <a:srgbClr val="52606D"/>
                </a:solidFill>
                <a:latin typeface="Bitstream Charter"/>
              </a:rPr>
              <a:t> produced the Story 2 visualizations. </a:t>
            </a:r>
            <a:r>
              <a:rPr lang="en-US" sz="1425">
                <a:solidFill>
                  <a:srgbClr val="52606D"/>
                </a:solidFill>
                <a:latin typeface="Bitstream Charter"/>
              </a:rPr>
              <a:t>Story 1 used Matplotlib and Seaborn, meeting the assignment’s different-library requirement.</a:t>
            </a:r>
            <a:endParaRPr sz="1425" dirty="0">
              <a:solidFill>
                <a:srgbClr val="52606D"/>
              </a:solidFill>
              <a:latin typeface="Bitstream Charter"/>
              <a:ea typeface="Bitstream Charter"/>
              <a:cs typeface="Bitstream Charter"/>
            </a:endParaRPr>
          </a:p>
        </p:txBody>
      </p:sp>
      <p:sp>
        <p:nvSpPr>
          <p:cNvPr id="8" name="Rectangle 7">
            <a:extLst>
              <a:ext uri="{FF2B5EF4-FFF2-40B4-BE49-F238E27FC236}">
                <a16:creationId xmlns:a16="http://schemas.microsoft.com/office/drawing/2014/main" id="{B126A56B-182F-4C98-A206-17AD5EAFE523}"/>
              </a:ext>
            </a:extLst>
          </p:cNvPr>
          <p:cNvSpPr>
            <a:spLocks noGrp="1"/>
          </p:cNvSpPr>
          <p:nvPr/>
        </p:nvSpPr>
        <p:spPr>
          <a:xfrm>
            <a:off x="6124575" y="1495425"/>
            <a:ext cx="19050" cy="4048125"/>
          </a:xfrm>
          <a:prstGeom prst="rect">
            <a:avLst/>
          </a:prstGeom>
          <a:solidFill>
            <a:srgbClr val="E0E4E8"/>
          </a:solidFill>
          <a:ln w="0">
            <a:noFill/>
          </a:ln>
        </p:spPr>
        <p:txBody>
          <a:bodyPr/>
          <a:lstStyle/>
          <a:p>
            <a:endParaRPr lang="en-US"/>
          </a:p>
        </p:txBody>
      </p:sp>
      <p:sp>
        <p:nvSpPr>
          <p:cNvPr id="9" name="Rectangle 8">
            <a:extLst>
              <a:ext uri="{FF2B5EF4-FFF2-40B4-BE49-F238E27FC236}">
                <a16:creationId xmlns:a16="http://schemas.microsoft.com/office/drawing/2014/main" id="{E5B38AEC-19A9-4985-91A7-3AE68CF664DD}"/>
              </a:ext>
            </a:extLst>
          </p:cNvPr>
          <p:cNvSpPr>
            <a:spLocks noGrp="1"/>
          </p:cNvSpPr>
          <p:nvPr/>
        </p:nvSpPr>
        <p:spPr>
          <a:xfrm>
            <a:off x="6505575" y="1438275"/>
            <a:ext cx="4772025" cy="352425"/>
          </a:xfrm>
          <a:prstGeom prst="rect">
            <a:avLst/>
          </a:prstGeom>
          <a:noFill/>
          <a:ln w="0">
            <a:noFill/>
          </a:ln>
        </p:spPr>
        <p:txBody>
          <a:bodyPr>
            <a:normAutofit fontScale="98833" lnSpcReduction="10000"/>
          </a:bodyPr>
          <a:lstStyle/>
          <a:p>
            <a:pPr>
              <a:defRPr sz="1875" b="1">
                <a:solidFill>
                  <a:srgbClr val="17212B"/>
                </a:solidFill>
                <a:latin typeface="Bitstream Charter"/>
                <a:ea typeface="Bitstream Charter"/>
                <a:cs typeface="Bitstream Charter"/>
              </a:defRPr>
            </a:pPr>
            <a:r>
              <a:rPr sz="1875" b="1">
                <a:solidFill>
                  <a:srgbClr val="17212B"/>
                </a:solidFill>
                <a:latin typeface="Bitstream Charter"/>
                <a:ea typeface="Bitstream Charter"/>
                <a:cs typeface="Bitstream Charter"/>
              </a:rPr>
              <a:t>Sources and method</a:t>
            </a:r>
          </a:p>
        </p:txBody>
      </p:sp>
      <p:sp>
        <p:nvSpPr>
          <p:cNvPr id="10" name="Rectangle 9">
            <a:extLst>
              <a:ext uri="{FF2B5EF4-FFF2-40B4-BE49-F238E27FC236}">
                <a16:creationId xmlns:a16="http://schemas.microsoft.com/office/drawing/2014/main" id="{A052799D-0CAA-4C63-8CBC-E0C9F45333B1}"/>
              </a:ext>
            </a:extLst>
          </p:cNvPr>
          <p:cNvSpPr>
            <a:spLocks noGrp="1"/>
          </p:cNvSpPr>
          <p:nvPr/>
        </p:nvSpPr>
        <p:spPr>
          <a:xfrm>
            <a:off x="6524625" y="1943100"/>
            <a:ext cx="4572000" cy="771525"/>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BLS CPI-U: CUSR0000SA0</a:t>
            </a:r>
          </a:p>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BLS unemployment: LNS14000000</a:t>
            </a:r>
          </a:p>
        </p:txBody>
      </p:sp>
      <p:sp>
        <p:nvSpPr>
          <p:cNvPr id="11" name="Rectangle 10">
            <a:extLst>
              <a:ext uri="{FF2B5EF4-FFF2-40B4-BE49-F238E27FC236}">
                <a16:creationId xmlns:a16="http://schemas.microsoft.com/office/drawing/2014/main" id="{49DD0156-8214-4C3F-9BA3-41F992D9AFC7}"/>
              </a:ext>
            </a:extLst>
          </p:cNvPr>
          <p:cNvSpPr>
            <a:spLocks noGrp="1"/>
          </p:cNvSpPr>
          <p:nvPr/>
        </p:nvSpPr>
        <p:spPr>
          <a:xfrm>
            <a:off x="6524625" y="3009900"/>
            <a:ext cx="4591050" cy="657225"/>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FRED: FEDFUNDS (effective rate)</a:t>
            </a:r>
          </a:p>
        </p:txBody>
      </p:sp>
      <p:sp>
        <p:nvSpPr>
          <p:cNvPr id="12" name="Rectangle 11">
            <a:extLst>
              <a:ext uri="{FF2B5EF4-FFF2-40B4-BE49-F238E27FC236}">
                <a16:creationId xmlns:a16="http://schemas.microsoft.com/office/drawing/2014/main" id="{991CEDD4-F54B-4DDD-835A-9F416EFB7689}"/>
              </a:ext>
            </a:extLst>
          </p:cNvPr>
          <p:cNvSpPr>
            <a:spLocks noGrp="1"/>
          </p:cNvSpPr>
          <p:nvPr/>
        </p:nvSpPr>
        <p:spPr>
          <a:xfrm>
            <a:off x="6524625" y="3933825"/>
            <a:ext cx="4600575" cy="876300"/>
          </a:xfrm>
          <a:prstGeom prst="rect">
            <a:avLst/>
          </a:prstGeom>
          <a:noFill/>
          <a:ln w="0">
            <a:noFill/>
          </a:ln>
        </p:spPr>
        <p:txBody>
          <a:bodyPr>
            <a:normAutofit/>
          </a:bodyPr>
          <a:lstStyle/>
          <a:p>
            <a:pPr>
              <a:defRPr sz="1350" b="0">
                <a:solidFill>
                  <a:srgbClr val="52606D"/>
                </a:solidFill>
                <a:latin typeface="Bitstream Charter"/>
                <a:ea typeface="Bitstream Charter"/>
                <a:cs typeface="Bitstream Charter"/>
              </a:defRPr>
            </a:pPr>
            <a:r>
              <a:rPr sz="1350" b="0">
                <a:solidFill>
                  <a:srgbClr val="52606D"/>
                </a:solidFill>
                <a:latin typeface="Bitstream Charter"/>
                <a:ea typeface="Bitstream Charter"/>
                <a:cs typeface="Bitstream Charter"/>
              </a:rPr>
              <a:t>The notebook includes coded BLS API requests, retrieval messages, source fallback, and the monthly table.</a:t>
            </a:r>
          </a:p>
        </p:txBody>
      </p:sp>
      <p:sp>
        <p:nvSpPr>
          <p:cNvPr id="13" name="Rectangle 12">
            <a:extLst>
              <a:ext uri="{FF2B5EF4-FFF2-40B4-BE49-F238E27FC236}">
                <a16:creationId xmlns:a16="http://schemas.microsoft.com/office/drawing/2014/main" id="{6DCC6482-4B33-4B3C-8522-237C85975391}"/>
              </a:ext>
            </a:extLst>
          </p:cNvPr>
          <p:cNvSpPr>
            <a:spLocks noGrp="1"/>
          </p:cNvSpPr>
          <p:nvPr/>
        </p:nvSpPr>
        <p:spPr>
          <a:xfrm>
            <a:off x="6524624" y="5114925"/>
            <a:ext cx="4619625" cy="647700"/>
          </a:xfrm>
          <a:prstGeom prst="rect">
            <a:avLst/>
          </a:prstGeom>
          <a:noFill/>
          <a:ln w="0">
            <a:noFill/>
          </a:ln>
        </p:spPr>
        <p:txBody>
          <a:bodyPr>
            <a:normAutofit fontScale="92500"/>
          </a:bodyPr>
          <a:lstStyle/>
          <a:p>
            <a:pPr>
              <a:defRPr sz="1200" b="0">
                <a:solidFill>
                  <a:srgbClr val="2563EB"/>
                </a:solidFill>
                <a:latin typeface="Bitstream Charter"/>
                <a:ea typeface="Bitstream Charter"/>
                <a:cs typeface="Bitstream Charter"/>
              </a:defRPr>
            </a:pPr>
            <a:r>
              <a:rPr sz="1200" b="1" dirty="0">
                <a:solidFill>
                  <a:srgbClr val="2563EB"/>
                </a:solidFill>
                <a:latin typeface="Bitstream Charter"/>
                <a:ea typeface="Bitstream Charter"/>
                <a:cs typeface="Bitstream Charter"/>
              </a:rPr>
              <a:t>AI-use disclosure is provided in the separate accompanying file.</a:t>
            </a:r>
            <a:endParaRPr lang="en-US" sz="1200" b="1" dirty="0">
              <a:solidFill>
                <a:srgbClr val="2563EB"/>
              </a:solidFill>
              <a:latin typeface="Bitstream Charter"/>
              <a:ea typeface="Bitstream Charter"/>
              <a:cs typeface="Bitstream Charter"/>
            </a:endParaRPr>
          </a:p>
          <a:p>
            <a:pPr>
              <a:defRPr sz="1200" b="0">
                <a:solidFill>
                  <a:srgbClr val="2563EB"/>
                </a:solidFill>
                <a:latin typeface="Bitstream Charter"/>
                <a:ea typeface="Bitstream Charter"/>
                <a:cs typeface="Bitstream Charter"/>
              </a:defRPr>
            </a:pPr>
            <a:r>
              <a:rPr lang="en-US" sz="1200" b="1" dirty="0">
                <a:solidFill>
                  <a:srgbClr val="2563EB"/>
                </a:solidFill>
                <a:latin typeface="Bitstream Charter"/>
              </a:rPr>
              <a:t>Supporting notebook, processed data, and reproducible analysis are available through the GitHub repository linked in the submission comments.</a:t>
            </a:r>
            <a:endParaRPr lang="en-US" sz="1200" b="1" dirty="0">
              <a:solidFill>
                <a:srgbClr val="2563EB"/>
              </a:solidFill>
              <a:latin typeface="Bitstream Charter"/>
              <a:ea typeface="Bitstream Charter"/>
              <a:cs typeface="Bitstream Charter"/>
            </a:endParaRPr>
          </a:p>
          <a:p>
            <a:pPr>
              <a:defRPr sz="1200" b="0">
                <a:solidFill>
                  <a:srgbClr val="2563EB"/>
                </a:solidFill>
                <a:latin typeface="Bitstream Charter"/>
                <a:ea typeface="Bitstream Charter"/>
                <a:cs typeface="Bitstream Charter"/>
              </a:defRPr>
            </a:pPr>
            <a:endParaRPr sz="1200" b="0" dirty="0">
              <a:solidFill>
                <a:srgbClr val="2563EB"/>
              </a:solidFill>
              <a:latin typeface="Bitstream Charter"/>
              <a:ea typeface="Bitstream Charter"/>
              <a:cs typeface="Bitstream Charter"/>
            </a:endParaRPr>
          </a:p>
        </p:txBody>
      </p:sp>
      <p:sp>
        <p:nvSpPr>
          <p:cNvPr id="14" name="Rectangle 13">
            <a:extLst>
              <a:ext uri="{FF2B5EF4-FFF2-40B4-BE49-F238E27FC236}">
                <a16:creationId xmlns:a16="http://schemas.microsoft.com/office/drawing/2014/main" id="{8B558EA1-A1FF-4149-86C4-E39D50C7B855}"/>
              </a:ext>
            </a:extLst>
          </p:cNvPr>
          <p:cNvSpPr>
            <a:spLocks noGrp="1"/>
          </p:cNvSpPr>
          <p:nvPr/>
        </p:nvSpPr>
        <p:spPr>
          <a:xfrm>
            <a:off x="695325" y="6400800"/>
            <a:ext cx="10744200" cy="266700"/>
          </a:xfrm>
          <a:prstGeom prst="rect">
            <a:avLst/>
          </a:prstGeom>
          <a:noFill/>
          <a:ln w="0">
            <a:noFill/>
          </a:ln>
        </p:spPr>
        <p:txBody>
          <a:bodyPr>
            <a:normAutofit/>
          </a:bodyPr>
          <a:lstStyle/>
          <a:p>
            <a:pPr>
              <a:defRPr sz="900" b="0">
                <a:solidFill>
                  <a:srgbClr val="52606D"/>
                </a:solidFill>
                <a:latin typeface="Bitstream Charter"/>
                <a:ea typeface="Bitstream Charter"/>
                <a:cs typeface="Bitstream Charter"/>
              </a:defRPr>
            </a:pPr>
            <a:r>
              <a:rPr sz="900" b="0">
                <a:solidFill>
                  <a:srgbClr val="52606D"/>
                </a:solidFill>
                <a:latin typeface="Bitstream Charter"/>
                <a:ea typeface="Bitstream Charter"/>
                <a:cs typeface="Bitstream Charter"/>
              </a:rPr>
              <a:t>October 2025 BLS observations are missing, not interpolated. Full source URLs and code are in the notebook.</a:t>
            </a:r>
          </a:p>
        </p:txBody>
      </p:sp>
    </p:spTree>
    <p:extLst>
      <p:ext uri="{BB962C8B-B14F-4D97-AF65-F5344CB8AC3E}">
        <p14:creationId xmlns:p14="http://schemas.microsoft.com/office/powerpoint/2010/main" val="6256240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1099</Words>
  <Application>Microsoft Office PowerPoint</Application>
  <DocSecurity>0</DocSecurity>
  <PresentationFormat>Widescreen</PresentationFormat>
  <Paragraphs>115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Bitstream Charter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Muhammad Khan</cp:lastModifiedBy>
  <cp:revision>1</cp:revision>
  <dcterms:created xsi:type="dcterms:W3CDTF">2026-09-27T18:46:05Z</dcterms:created>
  <dcterms:modified xsi:type="dcterms:W3CDTF">2026-09-27T18:52:32Z</dcterms:modified>
</cp:coreProperties>
</file>