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Funding per resident</c:v>
          </c:tx>
          <c:spPr>
            <a:solidFill>
              <a:srgbClr val="8A94A3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2563EB"/>
              </a:solidFill>
            </c:spPr>
            <c:extLst>
              <c:ext xmlns:c16="http://schemas.microsoft.com/office/drawing/2014/chart" uri="{C3380CC4-5D6E-409C-BE32-E72D297353CC}">
                <c16:uniqueId val="{00000001-CD28-4BAC-BD76-66E7339747F4}"/>
              </c:ext>
            </c:extLst>
          </c:dPt>
          <c:dPt>
            <c:idx val="1"/>
            <c:invertIfNegative val="0"/>
            <c:bubble3D val="0"/>
            <c:spPr>
              <a:solidFill>
                <a:srgbClr val="2563EB"/>
              </a:solidFill>
            </c:spPr>
            <c:extLst>
              <c:ext xmlns:c16="http://schemas.microsoft.com/office/drawing/2014/chart" uri="{C3380CC4-5D6E-409C-BE32-E72D297353CC}">
                <c16:uniqueId val="{00000003-CD28-4BAC-BD76-66E7339747F4}"/>
              </c:ext>
            </c:extLst>
          </c:dPt>
          <c:dPt>
            <c:idx val="2"/>
            <c:invertIfNegative val="0"/>
            <c:bubble3D val="0"/>
            <c:spPr>
              <a:solidFill>
                <a:srgbClr val="2563EB"/>
              </a:solidFill>
            </c:spPr>
            <c:extLst>
              <c:ext xmlns:c16="http://schemas.microsoft.com/office/drawing/2014/chart" uri="{C3380CC4-5D6E-409C-BE32-E72D297353CC}">
                <c16:uniqueId val="{00000005-CD28-4BAC-BD76-66E7339747F4}"/>
              </c:ext>
            </c:extLst>
          </c:dPt>
          <c:dPt>
            <c:idx val="3"/>
            <c:invertIfNegative val="0"/>
            <c:bubble3D val="0"/>
            <c:spPr>
              <a:solidFill>
                <a:srgbClr val="2563EB"/>
              </a:solidFill>
            </c:spPr>
            <c:extLst>
              <c:ext xmlns:c16="http://schemas.microsoft.com/office/drawing/2014/chart" uri="{C3380CC4-5D6E-409C-BE32-E72D297353CC}">
                <c16:uniqueId val="{00000007-CD28-4BAC-BD76-66E7339747F4}"/>
              </c:ext>
            </c:extLst>
          </c:dPt>
          <c:dPt>
            <c:idx val="4"/>
            <c:invertIfNegative val="0"/>
            <c:bubble3D val="0"/>
            <c:spPr>
              <a:solidFill>
                <a:srgbClr val="2563EB"/>
              </a:solidFill>
            </c:spPr>
            <c:extLst>
              <c:ext xmlns:c16="http://schemas.microsoft.com/office/drawing/2014/chart" uri="{C3380CC4-5D6E-409C-BE32-E72D297353CC}">
                <c16:uniqueId val="{00000009-CD28-4BAC-BD76-66E7339747F4}"/>
              </c:ext>
            </c:extLst>
          </c:dPt>
          <c:dPt>
            <c:idx val="5"/>
            <c:invertIfNegative val="0"/>
            <c:bubble3D val="0"/>
            <c:spPr>
              <a:solidFill>
                <a:srgbClr val="2563EB"/>
              </a:solidFill>
            </c:spPr>
            <c:extLst>
              <c:ext xmlns:c16="http://schemas.microsoft.com/office/drawing/2014/chart" uri="{C3380CC4-5D6E-409C-BE32-E72D297353CC}">
                <c16:uniqueId val="{0000000B-CD28-4BAC-BD76-66E7339747F4}"/>
              </c:ext>
            </c:extLst>
          </c:dPt>
          <c:dPt>
            <c:idx val="6"/>
            <c:invertIfNegative val="0"/>
            <c:bubble3D val="0"/>
            <c:spPr>
              <a:solidFill>
                <a:srgbClr val="2563EB"/>
              </a:solidFill>
            </c:spPr>
            <c:extLst>
              <c:ext xmlns:c16="http://schemas.microsoft.com/office/drawing/2014/chart" uri="{C3380CC4-5D6E-409C-BE32-E72D297353CC}">
                <c16:uniqueId val="{0000000D-CD28-4BAC-BD76-66E7339747F4}"/>
              </c:ext>
            </c:extLst>
          </c:dPt>
          <c:dPt>
            <c:idx val="7"/>
            <c:invertIfNegative val="0"/>
            <c:bubble3D val="0"/>
            <c:spPr>
              <a:solidFill>
                <a:srgbClr val="2563EB"/>
              </a:solidFill>
            </c:spPr>
            <c:extLst>
              <c:ext xmlns:c16="http://schemas.microsoft.com/office/drawing/2014/chart" uri="{C3380CC4-5D6E-409C-BE32-E72D297353CC}">
                <c16:uniqueId val="{0000000F-CD28-4BAC-BD76-66E7339747F4}"/>
              </c:ext>
            </c:extLst>
          </c:dPt>
          <c:dPt>
            <c:idx val="8"/>
            <c:invertIfNegative val="0"/>
            <c:bubble3D val="0"/>
            <c:spPr>
              <a:solidFill>
                <a:srgbClr val="D97706"/>
              </a:solidFill>
            </c:spPr>
            <c:extLst>
              <c:ext xmlns:c16="http://schemas.microsoft.com/office/drawing/2014/chart" uri="{C3380CC4-5D6E-409C-BE32-E72D297353CC}">
                <c16:uniqueId val="{00000011-CD28-4BAC-BD76-66E7339747F4}"/>
              </c:ext>
            </c:extLst>
          </c:dPt>
          <c:dPt>
            <c:idx val="9"/>
            <c:invertIfNegative val="0"/>
            <c:bubble3D val="0"/>
            <c:spPr>
              <a:solidFill>
                <a:srgbClr val="D97706"/>
              </a:solidFill>
            </c:spPr>
            <c:extLst>
              <c:ext xmlns:c16="http://schemas.microsoft.com/office/drawing/2014/chart" uri="{C3380CC4-5D6E-409C-BE32-E72D297353CC}">
                <c16:uniqueId val="{00000013-CD28-4BAC-BD76-66E7339747F4}"/>
              </c:ext>
            </c:extLst>
          </c:dPt>
          <c:dPt>
            <c:idx val="10"/>
            <c:invertIfNegative val="0"/>
            <c:bubble3D val="0"/>
            <c:spPr>
              <a:solidFill>
                <a:srgbClr val="D97706"/>
              </a:solidFill>
            </c:spPr>
            <c:extLst>
              <c:ext xmlns:c16="http://schemas.microsoft.com/office/drawing/2014/chart" uri="{C3380CC4-5D6E-409C-BE32-E72D297353CC}">
                <c16:uniqueId val="{00000015-CD28-4BAC-BD76-66E7339747F4}"/>
              </c:ext>
            </c:extLst>
          </c:dPt>
          <c:dPt>
            <c:idx val="11"/>
            <c:invertIfNegative val="0"/>
            <c:bubble3D val="0"/>
            <c:spPr>
              <a:solidFill>
                <a:srgbClr val="D97706"/>
              </a:solidFill>
            </c:spPr>
            <c:extLst>
              <c:ext xmlns:c16="http://schemas.microsoft.com/office/drawing/2014/chart" uri="{C3380CC4-5D6E-409C-BE32-E72D297353CC}">
                <c16:uniqueId val="{00000017-CD28-4BAC-BD76-66E7339747F4}"/>
              </c:ext>
            </c:extLst>
          </c:dPt>
          <c:dPt>
            <c:idx val="12"/>
            <c:invertIfNegative val="0"/>
            <c:bubble3D val="0"/>
            <c:spPr>
              <a:solidFill>
                <a:srgbClr val="D97706"/>
              </a:solidFill>
            </c:spPr>
            <c:extLst>
              <c:ext xmlns:c16="http://schemas.microsoft.com/office/drawing/2014/chart" uri="{C3380CC4-5D6E-409C-BE32-E72D297353CC}">
                <c16:uniqueId val="{00000019-CD28-4BAC-BD76-66E7339747F4}"/>
              </c:ext>
            </c:extLst>
          </c:dPt>
          <c:dPt>
            <c:idx val="13"/>
            <c:invertIfNegative val="0"/>
            <c:bubble3D val="0"/>
            <c:spPr>
              <a:solidFill>
                <a:srgbClr val="D97706"/>
              </a:solidFill>
            </c:spPr>
            <c:extLst>
              <c:ext xmlns:c16="http://schemas.microsoft.com/office/drawing/2014/chart" uri="{C3380CC4-5D6E-409C-BE32-E72D297353CC}">
                <c16:uniqueId val="{0000001B-CD28-4BAC-BD76-66E7339747F4}"/>
              </c:ext>
            </c:extLst>
          </c:dPt>
          <c:dPt>
            <c:idx val="14"/>
            <c:invertIfNegative val="0"/>
            <c:bubble3D val="0"/>
            <c:spPr>
              <a:solidFill>
                <a:srgbClr val="D97706"/>
              </a:solidFill>
            </c:spPr>
            <c:extLst>
              <c:ext xmlns:c16="http://schemas.microsoft.com/office/drawing/2014/chart" uri="{C3380CC4-5D6E-409C-BE32-E72D297353CC}">
                <c16:uniqueId val="{0000001D-CD28-4BAC-BD76-66E7339747F4}"/>
              </c:ext>
            </c:extLst>
          </c:dPt>
          <c:dPt>
            <c:idx val="15"/>
            <c:invertIfNegative val="0"/>
            <c:bubble3D val="0"/>
            <c:spPr>
              <a:solidFill>
                <a:srgbClr val="D97706"/>
              </a:solidFill>
            </c:spPr>
            <c:extLst>
              <c:ext xmlns:c16="http://schemas.microsoft.com/office/drawing/2014/chart" uri="{C3380CC4-5D6E-409C-BE32-E72D297353CC}">
                <c16:uniqueId val="{0000001F-CD28-4BAC-BD76-66E7339747F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50" b="1">
                    <a:solidFill>
                      <a:srgbClr val="17212B"/>
                    </a:solidFill>
                    <a:latin typeface="Bitstream Charter"/>
                    <a:ea typeface="Bitstream Charter"/>
                    <a:cs typeface="Bitstream Charte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6"/>
              <c:pt idx="0">
                <c:v>PUERTO RICO</c:v>
              </c:pt>
              <c:pt idx="1">
                <c:v>FLORIDA</c:v>
              </c:pt>
              <c:pt idx="2">
                <c:v>NORTH CAROLINA</c:v>
              </c:pt>
              <c:pt idx="3">
                <c:v>SOUTH CAROLINA</c:v>
              </c:pt>
              <c:pt idx="4">
                <c:v>MARYLAND</c:v>
              </c:pt>
              <c:pt idx="5">
                <c:v>GEORGIA</c:v>
              </c:pt>
              <c:pt idx="6">
                <c:v>CALIFORNIA</c:v>
              </c:pt>
              <c:pt idx="7">
                <c:v>MINNESOTA</c:v>
              </c:pt>
              <c:pt idx="8">
                <c:v>SOUTH DAKOTA</c:v>
              </c:pt>
              <c:pt idx="9">
                <c:v>DISTRICT OF COLUMBIA</c:v>
              </c:pt>
              <c:pt idx="10">
                <c:v>U.S. VIRGIN ISLANDS</c:v>
              </c:pt>
              <c:pt idx="11">
                <c:v>NORTHERN MARIANA ISLANDS</c:v>
              </c:pt>
              <c:pt idx="12">
                <c:v>NORTH DAKOTA</c:v>
              </c:pt>
              <c:pt idx="13">
                <c:v>MONTANA</c:v>
              </c:pt>
              <c:pt idx="14">
                <c:v>WYOMING</c:v>
              </c:pt>
              <c:pt idx="15">
                <c:v>ALASKA</c:v>
              </c:pt>
            </c:strLit>
          </c:cat>
          <c:val>
            <c:numLit>
              <c:formatCode>\$#,##0</c:formatCode>
              <c:ptCount val="16"/>
              <c:pt idx="0">
                <c:v>308.43</c:v>
              </c:pt>
              <c:pt idx="1">
                <c:v>368.63</c:v>
              </c:pt>
              <c:pt idx="2">
                <c:v>420.6</c:v>
              </c:pt>
              <c:pt idx="3">
                <c:v>435.39</c:v>
              </c:pt>
              <c:pt idx="4">
                <c:v>437.98</c:v>
              </c:pt>
              <c:pt idx="5">
                <c:v>458.17</c:v>
              </c:pt>
              <c:pt idx="6">
                <c:v>471.44</c:v>
              </c:pt>
              <c:pt idx="7">
                <c:v>472.26</c:v>
              </c:pt>
              <c:pt idx="8">
                <c:v>1428.85</c:v>
              </c:pt>
              <c:pt idx="9">
                <c:v>1637.38</c:v>
              </c:pt>
              <c:pt idx="10">
                <c:v>1701.74</c:v>
              </c:pt>
              <c:pt idx="11">
                <c:v>1760.02</c:v>
              </c:pt>
              <c:pt idx="12">
                <c:v>2309.88</c:v>
              </c:pt>
              <c:pt idx="13">
                <c:v>2938.91</c:v>
              </c:pt>
              <c:pt idx="14">
                <c:v>3956.1</c:v>
              </c:pt>
              <c:pt idx="15">
                <c:v>5043.74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20-CD28-4BAC-BD76-66E7339747F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9DEE5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\$#,##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75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7F8FA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Population-weighted funding per resident</c:v>
          </c:tx>
          <c:spPr>
            <a:solidFill>
              <a:srgbClr val="2563EB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ABC-4C11-9E90-40E08B95EB45}"/>
              </c:ext>
            </c:extLst>
          </c:dPt>
          <c:dPt>
            <c:idx val="1"/>
            <c:invertIfNegative val="0"/>
            <c:bubble3D val="0"/>
            <c:spPr>
              <a:solidFill>
                <a:srgbClr val="C2413B"/>
              </a:solidFill>
            </c:spPr>
            <c:extLst>
              <c:ext xmlns:c16="http://schemas.microsoft.com/office/drawing/2014/chart" uri="{C3380CC4-5D6E-409C-BE32-E72D297353CC}">
                <c16:uniqueId val="{00000003-3ABC-4C11-9E90-40E08B95EB4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17212B"/>
                    </a:solidFill>
                    <a:latin typeface="Bitstream Charter"/>
                    <a:ea typeface="Bitstream Charter"/>
                    <a:cs typeface="Bitstream Charte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Biden-won
26 jurisdictions</c:v>
              </c:pt>
              <c:pt idx="1">
                <c:v>Trump-won
25 jurisdictions</c:v>
              </c:pt>
            </c:strLit>
          </c:cat>
          <c:val>
            <c:numLit>
              <c:formatCode>\$#,##0</c:formatCode>
              <c:ptCount val="2"/>
              <c:pt idx="0">
                <c:v>543.46</c:v>
              </c:pt>
              <c:pt idx="1">
                <c:v>616.36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3ABC-4C11-9E90-40E08B95EB4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EE5"/>
            </a:solidFill>
          </a:ln>
        </c:spPr>
        <c:txPr>
          <a:bodyPr anchorCtr="1"/>
          <a:lstStyle/>
          <a:p>
            <a:pPr>
              <a:defRPr sz="105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700"/>
          <c:min val="0"/>
        </c:scaling>
        <c:delete val="0"/>
        <c:axPos val="l"/>
        <c:majorGridlines>
          <c:spPr>
            <a:ln w="9525">
              <a:solidFill>
                <a:srgbClr val="D9DEE5"/>
              </a:solidFill>
            </a:ln>
          </c:spPr>
        </c:majorGridlines>
        <c:numFmt formatCode="\$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endParaRPr lang="en-US"/>
          </a:p>
        </c:txPr>
        <c:crossAx val="48650112"/>
        <c:crosses val="autoZero"/>
        <c:crossBetween val="between"/>
        <c:majorUnit val="100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7F8FA"/>
    </a:solidFill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Course-provided IIJA FUNDING AS OF MARCH 2023.xlsx.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Population: U.S. Census Bureau NST-EST2022-POP and 2020 Island Areas counts. Election results: Federal Election Commission, Federal Elections 2020.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Course-provided IIJA allocations; U.S. Census Bureau 2022 estimates and 2020 Island Areas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Course-provided IIJA allocations; U.S. Census Bureau population estimates and Island Areas counts. Values rounded to nearest dollar.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Course-provided IIJA allocations; U.S. Census Bureau population estimates; Federal Election Commission official 2020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Interpretation based on the descriptive, nonparametric, and population-adjusted analyses in the supporting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Population workbook: https://www2.census.gov/programs-surveys/popest/tables/2020-2022/state/totals/NST-EST2022-POP.xlsx</a:t>
            </a:r>
          </a:p>
          <a:p>
            <a:r>
              <a:t>Island Areas: https://www.census.gov/newsroom/press-releases/2021/2020-population-us-island-areas.html</a:t>
            </a:r>
          </a:p>
          <a:p>
            <a:r>
              <a:t>FEC: https://www.fec.gov/introduction-campaign-finance/election-results-and-voting-information/federal-elections-2020/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61F1BE-3CD6-4E04-A499-A741326E97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0A8171-5433-47E2-9D90-8EFEEB74E766}"/>
              </a:ext>
            </a:extLst>
          </p:cNvPr>
          <p:cNvSpPr>
            <a:spLocks noGrp="1"/>
          </p:cNvSpPr>
          <p:nvPr/>
        </p:nvSpPr>
        <p:spPr>
          <a:xfrm>
            <a:off x="781050" y="1000125"/>
            <a:ext cx="10001250" cy="1428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Infrastructure Investment and Jobs Act funding allocation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0BF657-B21A-4C81-9E54-4154DF24366D}"/>
              </a:ext>
            </a:extLst>
          </p:cNvPr>
          <p:cNvSpPr>
            <a:spLocks noGrp="1"/>
          </p:cNvSpPr>
          <p:nvPr/>
        </p:nvSpPr>
        <p:spPr>
          <a:xfrm>
            <a:off x="819150" y="2619375"/>
            <a:ext cx="942975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0">
                <a:solidFill>
                  <a:srgbClr val="DCE3E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DCE3EA"/>
                </a:solidFill>
                <a:latin typeface="Bitstream Charter"/>
                <a:ea typeface="Bitstream Charter"/>
                <a:cs typeface="Bitstream Charter"/>
              </a:rPr>
              <a:t>Population explains most differences in total funding, but per-resident allocations vary sharply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D34E57-86E9-45A9-BABA-21F874357644}"/>
              </a:ext>
            </a:extLst>
          </p:cNvPr>
          <p:cNvSpPr>
            <a:spLocks noGrp="1"/>
          </p:cNvSpPr>
          <p:nvPr/>
        </p:nvSpPr>
        <p:spPr>
          <a:xfrm>
            <a:off x="819150" y="3714750"/>
            <a:ext cx="1428750" cy="47625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65F0AB-0E47-4301-BB57-AD62541D0811}"/>
              </a:ext>
            </a:extLst>
          </p:cNvPr>
          <p:cNvSpPr>
            <a:spLocks noGrp="1"/>
          </p:cNvSpPr>
          <p:nvPr/>
        </p:nvSpPr>
        <p:spPr>
          <a:xfrm>
            <a:off x="819150" y="4048125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Muhammad Suffyan Khan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3A7248-6E79-4EAC-816A-4FDA7AC4B07C}"/>
              </a:ext>
            </a:extLst>
          </p:cNvPr>
          <p:cNvSpPr>
            <a:spLocks noGrp="1"/>
          </p:cNvSpPr>
          <p:nvPr/>
        </p:nvSpPr>
        <p:spPr>
          <a:xfrm>
            <a:off x="819150" y="4495800"/>
            <a:ext cx="571500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BCC7D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BCC7D1"/>
                </a:solidFill>
                <a:latin typeface="Bitstream Charter"/>
                <a:ea typeface="Bitstream Charter"/>
                <a:cs typeface="Bitstream Charter"/>
              </a:rPr>
              <a:t>DATA 608: Knowledge and Visual Analytics</a:t>
            </a:r>
          </a:p>
          <a:p>
            <a:pPr algn="l">
              <a:defRPr sz="1275" b="0">
                <a:solidFill>
                  <a:srgbClr val="BCC7D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BCC7D1"/>
                </a:solidFill>
                <a:latin typeface="Bitstream Charter"/>
                <a:ea typeface="Bitstream Charter"/>
                <a:cs typeface="Bitstream Charter"/>
              </a:rPr>
              <a:t>CUNY School of Professional Studies</a:t>
            </a:r>
          </a:p>
          <a:p>
            <a:pPr algn="l">
              <a:defRPr sz="1275" b="0">
                <a:solidFill>
                  <a:srgbClr val="BCC7D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BCC7D1"/>
                </a:solidFill>
                <a:latin typeface="Bitstream Charter"/>
                <a:ea typeface="Bitstream Charter"/>
                <a:cs typeface="Bitstream Charter"/>
              </a:rPr>
              <a:t>Funding data as of March 2023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E97E31-242D-4786-917B-EE761ABFD7EC}"/>
              </a:ext>
            </a:extLst>
          </p:cNvPr>
          <p:cNvSpPr>
            <a:spLocks noGrp="1"/>
          </p:cNvSpPr>
          <p:nvPr/>
        </p:nvSpPr>
        <p:spPr>
          <a:xfrm>
            <a:off x="8191500" y="3857625"/>
            <a:ext cx="2667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4050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$196.0B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ACEA96-A68A-4DBB-A8C9-4DD6AADB474E}"/>
              </a:ext>
            </a:extLst>
          </p:cNvPr>
          <p:cNvSpPr>
            <a:spLocks noGrp="1"/>
          </p:cNvSpPr>
          <p:nvPr/>
        </p:nvSpPr>
        <p:spPr>
          <a:xfrm>
            <a:off x="7810500" y="4572000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0">
                <a:solidFill>
                  <a:srgbClr val="BCC7D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BCC7D1"/>
                </a:solidFill>
                <a:latin typeface="Bitstream Charter"/>
                <a:ea typeface="Bitstream Charter"/>
                <a:cs typeface="Bitstream Charter"/>
              </a:rPr>
              <a:t>funding in the course dataset</a:t>
            </a:r>
          </a:p>
        </p:txBody>
      </p:sp>
    </p:spTree>
    <p:extLst>
      <p:ext uri="{BB962C8B-B14F-4D97-AF65-F5344CB8AC3E}">
        <p14:creationId xmlns:p14="http://schemas.microsoft.com/office/powerpoint/2010/main" val="1063285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FB1267D-FC64-4D7B-A61D-F354D3773D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7222D5-E069-4D6A-B172-69C3A59C6D50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10191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Data and analytical scope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FEA7CC-95C7-414E-A6D4-7480A6C9B608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0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BB681A-7BB7-4347-98CE-27F12700A5E4}"/>
              </a:ext>
            </a:extLst>
          </p:cNvPr>
          <p:cNvSpPr>
            <a:spLocks noGrp="1"/>
          </p:cNvSpPr>
          <p:nvPr/>
        </p:nvSpPr>
        <p:spPr>
          <a:xfrm>
            <a:off x="723900" y="1190625"/>
            <a:ext cx="2381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1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$196.0B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B3383B-4059-4979-8B54-58CCD4123FD7}"/>
              </a:ext>
            </a:extLst>
          </p:cNvPr>
          <p:cNvSpPr>
            <a:spLocks noGrp="1"/>
          </p:cNvSpPr>
          <p:nvPr/>
        </p:nvSpPr>
        <p:spPr>
          <a:xfrm>
            <a:off x="723900" y="1762125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Total course-provided funding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57EC05-E235-4D97-9F5C-AB391F9DE141}"/>
              </a:ext>
            </a:extLst>
          </p:cNvPr>
          <p:cNvSpPr>
            <a:spLocks noGrp="1"/>
          </p:cNvSpPr>
          <p:nvPr/>
        </p:nvSpPr>
        <p:spPr>
          <a:xfrm>
            <a:off x="3524250" y="1238250"/>
            <a:ext cx="19050" cy="819150"/>
          </a:xfrm>
          <a:prstGeom prst="rect">
            <a:avLst/>
          </a:prstGeom>
          <a:solidFill>
            <a:srgbClr val="D9DE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9BBAA8-A8D5-4FC7-B852-4660D120A95A}"/>
              </a:ext>
            </a:extLst>
          </p:cNvPr>
          <p:cNvSpPr>
            <a:spLocks noGrp="1"/>
          </p:cNvSpPr>
          <p:nvPr/>
        </p:nvSpPr>
        <p:spPr>
          <a:xfrm>
            <a:off x="4000500" y="1190625"/>
            <a:ext cx="1524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150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56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2CA33C-D1C3-41FA-9109-F35F297F8E9D}"/>
              </a:ext>
            </a:extLst>
          </p:cNvPr>
          <p:cNvSpPr>
            <a:spLocks noGrp="1"/>
          </p:cNvSpPr>
          <p:nvPr/>
        </p:nvSpPr>
        <p:spPr>
          <a:xfrm>
            <a:off x="4000500" y="176212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Geographic jurisdictions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46DF60-F1BE-4186-BB8A-3340C661B1FC}"/>
              </a:ext>
            </a:extLst>
          </p:cNvPr>
          <p:cNvSpPr>
            <a:spLocks noGrp="1"/>
          </p:cNvSpPr>
          <p:nvPr/>
        </p:nvSpPr>
        <p:spPr>
          <a:xfrm>
            <a:off x="6667500" y="1238250"/>
            <a:ext cx="19050" cy="819150"/>
          </a:xfrm>
          <a:prstGeom prst="rect">
            <a:avLst/>
          </a:prstGeom>
          <a:solidFill>
            <a:srgbClr val="D9DE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C47A5D-5D33-4A3A-A453-CA4093EF8612}"/>
              </a:ext>
            </a:extLst>
          </p:cNvPr>
          <p:cNvSpPr>
            <a:spLocks noGrp="1"/>
          </p:cNvSpPr>
          <p:nvPr/>
        </p:nvSpPr>
        <p:spPr>
          <a:xfrm>
            <a:off x="7162800" y="1190625"/>
            <a:ext cx="1524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150" b="1">
                <a:solidFill>
                  <a:srgbClr val="C2413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C2413B"/>
                </a:solidFill>
                <a:latin typeface="Bitstream Charter"/>
                <a:ea typeface="Bitstream Charter"/>
                <a:cs typeface="Bitstream Charter"/>
              </a:rPr>
              <a:t>51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9DFA08-1A38-4FB0-8724-B53D8AF346BB}"/>
              </a:ext>
            </a:extLst>
          </p:cNvPr>
          <p:cNvSpPr>
            <a:spLocks noGrp="1"/>
          </p:cNvSpPr>
          <p:nvPr/>
        </p:nvSpPr>
        <p:spPr>
          <a:xfrm>
            <a:off x="7162800" y="1762125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Election comparison jurisdictions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899184-F2A8-4D7C-91F5-6EE1B39C9B78}"/>
              </a:ext>
            </a:extLst>
          </p:cNvPr>
          <p:cNvSpPr>
            <a:spLocks noGrp="1"/>
          </p:cNvSpPr>
          <p:nvPr/>
        </p:nvSpPr>
        <p:spPr>
          <a:xfrm>
            <a:off x="723900" y="2619375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Equity benchmark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27CFAB-A695-4972-888A-F6833E34E428}"/>
              </a:ext>
            </a:extLst>
          </p:cNvPr>
          <p:cNvSpPr>
            <a:spLocks noGrp="1"/>
          </p:cNvSpPr>
          <p:nvPr/>
        </p:nvSpPr>
        <p:spPr>
          <a:xfrm>
            <a:off x="723900" y="3009900"/>
            <a:ext cx="4762500" cy="895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A jurisdiction receives its population share of the geographic funding pool. The allocation ratio equals funding share divided by population share.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D75D1D-0BE2-49EF-9E87-37032FB1FE6D}"/>
              </a:ext>
            </a:extLst>
          </p:cNvPr>
          <p:cNvSpPr>
            <a:spLocks noGrp="1"/>
          </p:cNvSpPr>
          <p:nvPr/>
        </p:nvSpPr>
        <p:spPr>
          <a:xfrm>
            <a:off x="6191250" y="2619375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Population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1BE148-89EE-44F3-9662-71FD467C8EC2}"/>
              </a:ext>
            </a:extLst>
          </p:cNvPr>
          <p:cNvSpPr>
            <a:spLocks noGrp="1"/>
          </p:cNvSpPr>
          <p:nvPr/>
        </p:nvSpPr>
        <p:spPr>
          <a:xfrm>
            <a:off x="6191250" y="3009900"/>
            <a:ext cx="4762500" cy="895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July 2022 Census estimates cover the states, District of Columbia, and Puerto Rico. Official 2020 Census counts cover four Island Areas.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8FDDC5-DDCA-468D-84F1-6A369FB90ACF}"/>
              </a:ext>
            </a:extLst>
          </p:cNvPr>
          <p:cNvSpPr>
            <a:spLocks noGrp="1"/>
          </p:cNvSpPr>
          <p:nvPr/>
        </p:nvSpPr>
        <p:spPr>
          <a:xfrm>
            <a:off x="723900" y="4333875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Political comparison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084905-F32C-4029-8020-889489F78CB9}"/>
              </a:ext>
            </a:extLst>
          </p:cNvPr>
          <p:cNvSpPr>
            <a:spLocks noGrp="1"/>
          </p:cNvSpPr>
          <p:nvPr/>
        </p:nvSpPr>
        <p:spPr>
          <a:xfrm>
            <a:off x="723900" y="472440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Official FEC statewide 2020 results identify 26 Biden-won and 25 Trump-won jurisdictions. Territories do not enter this comparison.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32C3B2-D428-4DAF-8BAE-AAEDB249A8F1}"/>
              </a:ext>
            </a:extLst>
          </p:cNvPr>
          <p:cNvSpPr>
            <a:spLocks noGrp="1"/>
          </p:cNvSpPr>
          <p:nvPr/>
        </p:nvSpPr>
        <p:spPr>
          <a:xfrm>
            <a:off x="6191250" y="4333875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Scope decision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4680E9-3ACA-4A4F-840F-9FAE278C00A8}"/>
              </a:ext>
            </a:extLst>
          </p:cNvPr>
          <p:cNvSpPr>
            <a:spLocks noGrp="1"/>
          </p:cNvSpPr>
          <p:nvPr/>
        </p:nvSpPr>
        <p:spPr>
          <a:xfrm>
            <a:off x="6191250" y="472440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The $3.0 billion Tribal Communities category remains separate because its population overlaps state and territorial populations.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836040-F856-4327-992A-EC9BA8A5EC7C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108204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Sources: Course dataset, U.S. Census Bureau, and Federal Election Commission</a:t>
            </a:r>
          </a:p>
        </p:txBody>
      </p:sp>
    </p:spTree>
    <p:extLst>
      <p:ext uri="{BB962C8B-B14F-4D97-AF65-F5344CB8AC3E}">
        <p14:creationId xmlns:p14="http://schemas.microsoft.com/office/powerpoint/2010/main" val="223803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E38D72E-900F-4003-ABB0-0748B52006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D481B7-FE50-414D-94E2-B74A662973E9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10191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Population strongly tracks total funding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503DC4-5DF7-47E7-914B-507F9E93C3D6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0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C0C5F4-CA28-4806-AC06-CBCCD5024DF4}"/>
              </a:ext>
            </a:extLst>
          </p:cNvPr>
          <p:cNvSpPr>
            <a:spLocks noGrp="1"/>
          </p:cNvSpPr>
          <p:nvPr/>
        </p:nvSpPr>
        <p:spPr>
          <a:xfrm>
            <a:off x="8096250" y="1190625"/>
            <a:ext cx="314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Pearson correlation: 0.966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2066A6-18CB-4568-82D6-159F864F6566}"/>
              </a:ext>
            </a:extLst>
          </p:cNvPr>
          <p:cNvSpPr>
            <a:spLocks noGrp="1"/>
          </p:cNvSpPr>
          <p:nvPr/>
        </p:nvSpPr>
        <p:spPr>
          <a:xfrm>
            <a:off x="8172450" y="1762125"/>
            <a:ext cx="2952750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Large jurisdictions receive more total funding. Several small jurisdictions still receive much more than their population-proportional share.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8BA682-DE09-4873-9828-FF50C1C43E7A}"/>
              </a:ext>
            </a:extLst>
          </p:cNvPr>
          <p:cNvSpPr>
            <a:spLocks noGrp="1"/>
          </p:cNvSpPr>
          <p:nvPr/>
        </p:nvSpPr>
        <p:spPr>
          <a:xfrm>
            <a:off x="8239125" y="3381375"/>
            <a:ext cx="2619375" cy="28575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6E60BC-CF30-4F7C-821D-0DE21AD46D1B}"/>
              </a:ext>
            </a:extLst>
          </p:cNvPr>
          <p:cNvSpPr>
            <a:spLocks noGrp="1"/>
          </p:cNvSpPr>
          <p:nvPr/>
        </p:nvSpPr>
        <p:spPr>
          <a:xfrm>
            <a:off x="8172450" y="3619500"/>
            <a:ext cx="2762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 lnSpcReduction="10000"/>
          </a:bodyPr>
          <a:lstStyle/>
          <a:p>
            <a:pPr algn="l">
              <a:def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Interpretation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4529C2-ADD8-435F-BAA3-9B06C2B6E174}"/>
              </a:ext>
            </a:extLst>
          </p:cNvPr>
          <p:cNvSpPr>
            <a:spLocks noGrp="1"/>
          </p:cNvSpPr>
          <p:nvPr/>
        </p:nvSpPr>
        <p:spPr>
          <a:xfrm>
            <a:off x="8172450" y="3981450"/>
            <a:ext cx="295275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Population explains most of the total-dollar pattern. It does not explain the full distribution of dollars per resident.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64D809-E485-4CDA-A778-4C9C0977F3FF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108204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Equity scope: 50 states, District of Columbia, and five territories; Tribal Communities excluded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BDD34D-9642-4648-E4A2-6FD5376BA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899347"/>
            <a:ext cx="7181235" cy="539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77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3538DBF-1601-4DD5-8717-5DA8C225E1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E956C-AF44-46B6-B08D-D20A9A72BF74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10191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Per-resident funding ranges from $308 to $5,044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70B16E-928C-46D5-BD8B-599D7E2E7ABD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0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685800" y="1095375"/>
          <a:ext cx="8286750" cy="4905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AB452BF-B8A8-4196-A04C-2F2254E0380C}"/>
              </a:ext>
            </a:extLst>
          </p:cNvPr>
          <p:cNvSpPr>
            <a:spLocks noGrp="1"/>
          </p:cNvSpPr>
          <p:nvPr/>
        </p:nvSpPr>
        <p:spPr>
          <a:xfrm>
            <a:off x="9382125" y="1571625"/>
            <a:ext cx="18097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600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16.4x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5E9FDC-76CC-4FB0-99F5-94A232D87731}"/>
              </a:ext>
            </a:extLst>
          </p:cNvPr>
          <p:cNvSpPr>
            <a:spLocks noGrp="1"/>
          </p:cNvSpPr>
          <p:nvPr/>
        </p:nvSpPr>
        <p:spPr>
          <a:xfrm>
            <a:off x="9239250" y="2286000"/>
            <a:ext cx="2095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Highest-to-lowest difference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41261F-8996-409F-8EDC-60F4AC62CEAA}"/>
              </a:ext>
            </a:extLst>
          </p:cNvPr>
          <p:cNvSpPr>
            <a:spLocks noGrp="1"/>
          </p:cNvSpPr>
          <p:nvPr/>
        </p:nvSpPr>
        <p:spPr>
          <a:xfrm>
            <a:off x="9334500" y="3333750"/>
            <a:ext cx="1952625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The wide range confirms that the allocation is not strictly proportional to population.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1A94EA-A7DE-49FC-9A47-B7835B2A42F5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108204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Orange: eight highest values. Blue: eight lowest values. Common horizontal scale.</a:t>
            </a:r>
          </a:p>
        </p:txBody>
      </p:sp>
    </p:spTree>
    <p:extLst>
      <p:ext uri="{BB962C8B-B14F-4D97-AF65-F5344CB8AC3E}">
        <p14:creationId xmlns:p14="http://schemas.microsoft.com/office/powerpoint/2010/main" val="472347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B1249BE-E874-4143-9A28-EC0C0CCEE6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EA83A1-0B14-4485-A69E-617C31BDC935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10191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The allocation does not favor Biden-won jurisdictions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7D0055-E611-44BF-9FC3-4A291002D4C6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0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="857250" y="1333500"/>
          <a:ext cx="619125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9A98A64-C8A2-44EE-8AFF-6A176C2643CF}"/>
              </a:ext>
            </a:extLst>
          </p:cNvPr>
          <p:cNvSpPr>
            <a:spLocks noGrp="1"/>
          </p:cNvSpPr>
          <p:nvPr/>
        </p:nvSpPr>
        <p:spPr>
          <a:xfrm>
            <a:off x="7810500" y="1476375"/>
            <a:ext cx="31908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850" b="1">
                <a:solidFill>
                  <a:srgbClr val="C2413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C2413B"/>
                </a:solidFill>
                <a:latin typeface="Bitstream Charter"/>
                <a:ea typeface="Bitstream Charter"/>
                <a:cs typeface="Bitstream Charter"/>
              </a:rPr>
              <a:t>13.4% higher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2E8AFA-F2A8-4DCA-B567-32F63DEBBCD1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2809875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in Trump-won jurisdictions on a population-weighted basis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9CCD25-BFB7-4BB8-9FFE-B54D2C25C1A9}"/>
              </a:ext>
            </a:extLst>
          </p:cNvPr>
          <p:cNvSpPr>
            <a:spLocks noGrp="1"/>
          </p:cNvSpPr>
          <p:nvPr/>
        </p:nvSpPr>
        <p:spPr>
          <a:xfrm>
            <a:off x="7905750" y="3143250"/>
            <a:ext cx="2952750" cy="19050"/>
          </a:xfrm>
          <a:prstGeom prst="rect">
            <a:avLst/>
          </a:prstGeom>
          <a:solidFill>
            <a:srgbClr val="D9DE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569745-8506-4CDA-90BC-88908B86D6E0}"/>
              </a:ext>
            </a:extLst>
          </p:cNvPr>
          <p:cNvSpPr>
            <a:spLocks noGrp="1"/>
          </p:cNvSpPr>
          <p:nvPr/>
        </p:nvSpPr>
        <p:spPr>
          <a:xfrm>
            <a:off x="7905750" y="33337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Mann-Whitney test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51CBD7-49B2-4750-B227-33A4CA87DDB6}"/>
              </a:ext>
            </a:extLst>
          </p:cNvPr>
          <p:cNvSpPr>
            <a:spLocks noGrp="1"/>
          </p:cNvSpPr>
          <p:nvPr/>
        </p:nvSpPr>
        <p:spPr>
          <a:xfrm>
            <a:off x="10144125" y="3333750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621"/>
          </a:bodyPr>
          <a:lstStyle/>
          <a:p>
            <a:pPr algn="r">
              <a:def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p = 0.172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94C959-3588-4A6E-83C7-E7316CADDF5B}"/>
              </a:ext>
            </a:extLst>
          </p:cNvPr>
          <p:cNvSpPr>
            <a:spLocks noGrp="1"/>
          </p:cNvSpPr>
          <p:nvPr/>
        </p:nvSpPr>
        <p:spPr>
          <a:xfrm>
            <a:off x="7905750" y="3857625"/>
            <a:ext cx="2143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415"/>
          </a:bodyPr>
          <a:lstStyle/>
          <a:p>
            <a:pPr algn="l">
              <a:defRPr sz="127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Population-adjusted model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1BEAA1-2853-455B-A0FC-F4A729D3F1FC}"/>
              </a:ext>
            </a:extLst>
          </p:cNvPr>
          <p:cNvSpPr>
            <a:spLocks noGrp="1"/>
          </p:cNvSpPr>
          <p:nvPr/>
        </p:nvSpPr>
        <p:spPr>
          <a:xfrm>
            <a:off x="10144125" y="38576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621"/>
          </a:bodyPr>
          <a:lstStyle/>
          <a:p>
            <a:pPr algn="r">
              <a:def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p = 0.341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596446-41E8-408D-AA82-3B45611D6F27}"/>
              </a:ext>
            </a:extLst>
          </p:cNvPr>
          <p:cNvSpPr>
            <a:spLocks noGrp="1"/>
          </p:cNvSpPr>
          <p:nvPr/>
        </p:nvSpPr>
        <p:spPr>
          <a:xfrm>
            <a:off x="7905750" y="4524375"/>
            <a:ext cx="29527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Neither comparison reaches conventional statistical significance.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C609AE-2523-4F9F-8186-82272F38AFE9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108204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Scope: 50 states and District of Columbia; territories excluded from election comparison</a:t>
            </a:r>
          </a:p>
        </p:txBody>
      </p:sp>
    </p:spTree>
    <p:extLst>
      <p:ext uri="{BB962C8B-B14F-4D97-AF65-F5344CB8AC3E}">
        <p14:creationId xmlns:p14="http://schemas.microsoft.com/office/powerpoint/2010/main" val="260162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48878D2-7D3E-461B-81CF-5188EFA55A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C27854-6DC1-4523-AE3D-A7FC6388C8F1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10191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The evidence supports two conclusions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C3F2C9-AFA3-4197-B6FD-66E0A33A4014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0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299100-6A94-4D9A-9703-C8C1C88B3AAB}"/>
              </a:ext>
            </a:extLst>
          </p:cNvPr>
          <p:cNvSpPr>
            <a:spLocks noGrp="1"/>
          </p:cNvSpPr>
          <p:nvPr/>
        </p:nvSpPr>
        <p:spPr>
          <a:xfrm>
            <a:off x="714375" y="1238250"/>
            <a:ext cx="5715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150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A88022-156D-4D8E-A464-C706C66D62B7}"/>
              </a:ext>
            </a:extLst>
          </p:cNvPr>
          <p:cNvSpPr>
            <a:spLocks noGrp="1"/>
          </p:cNvSpPr>
          <p:nvPr/>
        </p:nvSpPr>
        <p:spPr>
          <a:xfrm>
            <a:off x="1476375" y="1190625"/>
            <a:ext cx="4476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769"/>
          </a:bodyPr>
          <a:lstStyle/>
          <a:p>
            <a:pPr algn="l">
              <a:defRPr sz="180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Allocation is not strictly population proportional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82EF5A-10C4-456F-AA55-A7DCE7E23FF4}"/>
              </a:ext>
            </a:extLst>
          </p:cNvPr>
          <p:cNvSpPr>
            <a:spLocks noGrp="1"/>
          </p:cNvSpPr>
          <p:nvPr/>
        </p:nvSpPr>
        <p:spPr>
          <a:xfrm>
            <a:off x="1476375" y="1762125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Population strongly predicts total funding, yet per-resident allocations differ by more than sixteenfold across the observed jurisdictions.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71C02E-5356-4E58-959A-8FC678E560D1}"/>
              </a:ext>
            </a:extLst>
          </p:cNvPr>
          <p:cNvSpPr>
            <a:spLocks noGrp="1"/>
          </p:cNvSpPr>
          <p:nvPr/>
        </p:nvSpPr>
        <p:spPr>
          <a:xfrm>
            <a:off x="714375" y="3143250"/>
            <a:ext cx="5715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1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29145E-132C-4466-9F6F-5473138068B5}"/>
              </a:ext>
            </a:extLst>
          </p:cNvPr>
          <p:cNvSpPr>
            <a:spLocks noGrp="1"/>
          </p:cNvSpPr>
          <p:nvPr/>
        </p:nvSpPr>
        <p:spPr>
          <a:xfrm>
            <a:off x="1476375" y="3095625"/>
            <a:ext cx="4476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472" lnSpcReduction="10000"/>
          </a:bodyPr>
          <a:lstStyle/>
          <a:p>
            <a:pPr algn="l">
              <a:defRPr sz="180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The data shows no preference for Biden-won jurisdictions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D9DF2E-286E-4C80-8D89-7E8C6E856AC4}"/>
              </a:ext>
            </a:extLst>
          </p:cNvPr>
          <p:cNvSpPr>
            <a:spLocks noGrp="1"/>
          </p:cNvSpPr>
          <p:nvPr/>
        </p:nvSpPr>
        <p:spPr>
          <a:xfrm>
            <a:off x="1476375" y="3762375"/>
            <a:ext cx="4429125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Trump-won jurisdictions received more per resident. Neither the distributional test nor the population-adjusted model found a significant political difference.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1E6361-717A-4443-A504-7E1C9953A673}"/>
              </a:ext>
            </a:extLst>
          </p:cNvPr>
          <p:cNvSpPr>
            <a:spLocks noGrp="1"/>
          </p:cNvSpPr>
          <p:nvPr/>
        </p:nvSpPr>
        <p:spPr>
          <a:xfrm>
            <a:off x="6477000" y="1190625"/>
            <a:ext cx="19050" cy="4333875"/>
          </a:xfrm>
          <a:prstGeom prst="rect">
            <a:avLst/>
          </a:prstGeom>
          <a:solidFill>
            <a:srgbClr val="D9DE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07772C-6AFD-444E-913E-CC826A3C9E20}"/>
              </a:ext>
            </a:extLst>
          </p:cNvPr>
          <p:cNvSpPr>
            <a:spLocks noGrp="1"/>
          </p:cNvSpPr>
          <p:nvPr/>
        </p:nvSpPr>
        <p:spPr>
          <a:xfrm>
            <a:off x="7000875" y="1190625"/>
            <a:ext cx="4095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What this analysis cannot determine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35B6AFB-7554-4ACC-A8D4-799D31BCD653}"/>
              </a:ext>
            </a:extLst>
          </p:cNvPr>
          <p:cNvSpPr>
            <a:spLocks noGrp="1"/>
          </p:cNvSpPr>
          <p:nvPr/>
        </p:nvSpPr>
        <p:spPr>
          <a:xfrm>
            <a:off x="7029450" y="195262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7212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96A4C7-7D8D-42AF-95CE-22C24AC879F1}"/>
              </a:ext>
            </a:extLst>
          </p:cNvPr>
          <p:cNvSpPr>
            <a:spLocks noGrp="1"/>
          </p:cNvSpPr>
          <p:nvPr/>
        </p:nvSpPr>
        <p:spPr>
          <a:xfrm>
            <a:off x="7029450" y="1952625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8DACC6-8969-4554-AACF-5134CDAD9377}"/>
              </a:ext>
            </a:extLst>
          </p:cNvPr>
          <p:cNvSpPr>
            <a:spLocks noGrp="1"/>
          </p:cNvSpPr>
          <p:nvPr/>
        </p:nvSpPr>
        <p:spPr>
          <a:xfrm>
            <a:off x="7524750" y="1847850"/>
            <a:ext cx="34766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Funding allocations do not equal completed spending.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19DBE9A-F99F-423A-8EE4-0BE673BD644D}"/>
              </a:ext>
            </a:extLst>
          </p:cNvPr>
          <p:cNvSpPr>
            <a:spLocks noGrp="1"/>
          </p:cNvSpPr>
          <p:nvPr/>
        </p:nvSpPr>
        <p:spPr>
          <a:xfrm>
            <a:off x="7029450" y="28098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7212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58A454-3EDE-45A0-BBE2-BCAE39D89A2E}"/>
              </a:ext>
            </a:extLst>
          </p:cNvPr>
          <p:cNvSpPr>
            <a:spLocks noGrp="1"/>
          </p:cNvSpPr>
          <p:nvPr/>
        </p:nvSpPr>
        <p:spPr>
          <a:xfrm>
            <a:off x="7029450" y="2809875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F9C032-EB80-4187-B273-C8BF04B2ACF8}"/>
              </a:ext>
            </a:extLst>
          </p:cNvPr>
          <p:cNvSpPr>
            <a:spLocks noGrp="1"/>
          </p:cNvSpPr>
          <p:nvPr/>
        </p:nvSpPr>
        <p:spPr>
          <a:xfrm>
            <a:off x="7524750" y="2705100"/>
            <a:ext cx="34766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Population does not capture infrastructure need or statutory funding minimums.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E7C36D6-895D-4978-AABD-CAF28CE2A4F8}"/>
              </a:ext>
            </a:extLst>
          </p:cNvPr>
          <p:cNvSpPr>
            <a:spLocks noGrp="1"/>
          </p:cNvSpPr>
          <p:nvPr/>
        </p:nvSpPr>
        <p:spPr>
          <a:xfrm>
            <a:off x="7029450" y="366712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7212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5C1B36-02FF-4B57-A446-122C9949A40C}"/>
              </a:ext>
            </a:extLst>
          </p:cNvPr>
          <p:cNvSpPr>
            <a:spLocks noGrp="1"/>
          </p:cNvSpPr>
          <p:nvPr/>
        </p:nvSpPr>
        <p:spPr>
          <a:xfrm>
            <a:off x="7029450" y="3667125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DE2D23-0AF6-4F1D-8A83-0EE8458DA9D0}"/>
              </a:ext>
            </a:extLst>
          </p:cNvPr>
          <p:cNvSpPr>
            <a:spLocks noGrp="1"/>
          </p:cNvSpPr>
          <p:nvPr/>
        </p:nvSpPr>
        <p:spPr>
          <a:xfrm>
            <a:off x="7524750" y="3562350"/>
            <a:ext cx="34766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A statewide election winner is a simplified measure of political alignment.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E2B4DB1-85CB-46FA-BAF7-72D37FA601EB}"/>
              </a:ext>
            </a:extLst>
          </p:cNvPr>
          <p:cNvSpPr>
            <a:spLocks noGrp="1"/>
          </p:cNvSpPr>
          <p:nvPr/>
        </p:nvSpPr>
        <p:spPr>
          <a:xfrm>
            <a:off x="7029450" y="45243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7212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74FEB3-520E-4CCE-9881-428924045E09}"/>
              </a:ext>
            </a:extLst>
          </p:cNvPr>
          <p:cNvSpPr>
            <a:spLocks noGrp="1"/>
          </p:cNvSpPr>
          <p:nvPr/>
        </p:nvSpPr>
        <p:spPr>
          <a:xfrm>
            <a:off x="7029450" y="4524375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1B1852-A07C-4985-BE39-CAFF4A5ADCE1}"/>
              </a:ext>
            </a:extLst>
          </p:cNvPr>
          <p:cNvSpPr>
            <a:spLocks noGrp="1"/>
          </p:cNvSpPr>
          <p:nvPr/>
        </p:nvSpPr>
        <p:spPr>
          <a:xfrm>
            <a:off x="7524750" y="4419600"/>
            <a:ext cx="34766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The observational data cannot establish intent or causation.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642B0F-FF5C-42E5-89E0-F43707D0F16B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108204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Conclusion reflects the March 2023 allocation snapshot and cited population estimates</a:t>
            </a:r>
          </a:p>
        </p:txBody>
      </p:sp>
    </p:spTree>
    <p:extLst>
      <p:ext uri="{BB962C8B-B14F-4D97-AF65-F5344CB8AC3E}">
        <p14:creationId xmlns:p14="http://schemas.microsoft.com/office/powerpoint/2010/main" val="349990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9727664-19A5-4389-BA60-A72CE95492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FCED8B-9C26-4DE2-B333-2E761CAAA18F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10191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Sources and AI-use disclosure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7AC19F-1691-4D9A-A3FB-DF5F2CEDAE5F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0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2617B1-22F0-41F1-A6DD-3B61C2F6071F}"/>
              </a:ext>
            </a:extLst>
          </p:cNvPr>
          <p:cNvSpPr>
            <a:spLocks noGrp="1"/>
          </p:cNvSpPr>
          <p:nvPr/>
        </p:nvSpPr>
        <p:spPr>
          <a:xfrm>
            <a:off x="723900" y="1190625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389" lnSpcReduction="10000"/>
          </a:bodyPr>
          <a:lstStyle/>
          <a:p>
            <a:pPr algn="l">
              <a:defRPr sz="15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Funding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89F5E4-9F11-4391-987D-31EF21A225A9}"/>
              </a:ext>
            </a:extLst>
          </p:cNvPr>
          <p:cNvSpPr>
            <a:spLocks noGrp="1"/>
          </p:cNvSpPr>
          <p:nvPr/>
        </p:nvSpPr>
        <p:spPr>
          <a:xfrm>
            <a:off x="723900" y="1552575"/>
            <a:ext cx="49053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Course-provided IIJA FUNDING AS OF MARCH 2023.xlsx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8C4E5B-9FD6-4269-BA13-2D88DD23DCC8}"/>
              </a:ext>
            </a:extLst>
          </p:cNvPr>
          <p:cNvSpPr>
            <a:spLocks noGrp="1"/>
          </p:cNvSpPr>
          <p:nvPr/>
        </p:nvSpPr>
        <p:spPr>
          <a:xfrm>
            <a:off x="723900" y="2428875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389" lnSpcReduction="10000"/>
          </a:bodyPr>
          <a:lstStyle/>
          <a:p>
            <a:pPr algn="l">
              <a:defRPr sz="15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Population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0861E8-FA5C-41E6-9558-B5A7681754CB}"/>
              </a:ext>
            </a:extLst>
          </p:cNvPr>
          <p:cNvSpPr>
            <a:spLocks noGrp="1"/>
          </p:cNvSpPr>
          <p:nvPr/>
        </p:nvSpPr>
        <p:spPr>
          <a:xfrm>
            <a:off x="723900" y="2790825"/>
            <a:ext cx="4905375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U.S. Census Bureau, NST-EST2022-POP</a:t>
            </a:r>
          </a:p>
          <a:p>
            <a:pPr algn="l">
              <a:def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U.S. Census Bureau, 2020 Island Areas population counts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F1AC41-FB61-45E3-B651-EF85FB97F665}"/>
              </a:ext>
            </a:extLst>
          </p:cNvPr>
          <p:cNvSpPr>
            <a:spLocks noGrp="1"/>
          </p:cNvSpPr>
          <p:nvPr/>
        </p:nvSpPr>
        <p:spPr>
          <a:xfrm>
            <a:off x="723900" y="4000500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389" lnSpcReduction="10000"/>
          </a:bodyPr>
          <a:lstStyle/>
          <a:p>
            <a:pPr algn="l">
              <a:defRPr sz="15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Election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2488EF-9C29-453A-A3B0-9C5849845C40}"/>
              </a:ext>
            </a:extLst>
          </p:cNvPr>
          <p:cNvSpPr>
            <a:spLocks noGrp="1"/>
          </p:cNvSpPr>
          <p:nvPr/>
        </p:nvSpPr>
        <p:spPr>
          <a:xfrm>
            <a:off x="723900" y="4362450"/>
            <a:ext cx="49053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Federal Election Commission, Federal Elections 2020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AE4E26-E647-47BF-A79F-78A7E39C7ED9}"/>
              </a:ext>
            </a:extLst>
          </p:cNvPr>
          <p:cNvSpPr>
            <a:spLocks noGrp="1"/>
          </p:cNvSpPr>
          <p:nvPr/>
        </p:nvSpPr>
        <p:spPr>
          <a:xfrm>
            <a:off x="6191250" y="1190625"/>
            <a:ext cx="19050" cy="4238625"/>
          </a:xfrm>
          <a:prstGeom prst="rect">
            <a:avLst/>
          </a:prstGeom>
          <a:solidFill>
            <a:srgbClr val="D9DE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7FCFEB-B587-4205-9535-C5C172B929AF}"/>
              </a:ext>
            </a:extLst>
          </p:cNvPr>
          <p:cNvSpPr>
            <a:spLocks noGrp="1"/>
          </p:cNvSpPr>
          <p:nvPr/>
        </p:nvSpPr>
        <p:spPr>
          <a:xfrm>
            <a:off x="6762750" y="1190625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AI-use disclosure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00DF82-93BB-4392-8B35-68403670B760}"/>
              </a:ext>
            </a:extLst>
          </p:cNvPr>
          <p:cNvSpPr>
            <a:spLocks noGrp="1"/>
          </p:cNvSpPr>
          <p:nvPr/>
        </p:nvSpPr>
        <p:spPr>
          <a:xfrm>
            <a:off x="6762749" y="2433637"/>
            <a:ext cx="4333875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3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350" dirty="0">
                <a:solidFill>
                  <a:srgbClr val="52606D"/>
                </a:solidFill>
                <a:latin typeface="Bitstream Charter"/>
              </a:rPr>
              <a:t>ChatGPT was used to assist with data-cleaning review, analysis, visualization refinement, and editorial review. I reviewed and validated all code, calculations, visualizations, interpretations, and final conclusions.</a:t>
            </a:r>
            <a:endParaRPr sz="1350" b="0" dirty="0">
              <a:solidFill>
                <a:srgbClr val="52606D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B693AF-1616-418A-AD92-A288A3D9E24D}"/>
              </a:ext>
            </a:extLst>
          </p:cNvPr>
          <p:cNvSpPr>
            <a:spLocks noGrp="1"/>
          </p:cNvSpPr>
          <p:nvPr/>
        </p:nvSpPr>
        <p:spPr>
          <a:xfrm>
            <a:off x="6762750" y="4905375"/>
            <a:ext cx="4333875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Supporting notebook and processed data are maintained in the private course repository.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6471A1-7AC7-421C-AD52-D1DD2090942B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108204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Full source URLs and reproducible calculations appear in the supporting project files</a:t>
            </a:r>
          </a:p>
        </p:txBody>
      </p:sp>
    </p:spTree>
    <p:extLst>
      <p:ext uri="{BB962C8B-B14F-4D97-AF65-F5344CB8AC3E}">
        <p14:creationId xmlns:p14="http://schemas.microsoft.com/office/powerpoint/2010/main" val="9103296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742</Words>
  <Application>Microsoft Office PowerPoint</Application>
  <DocSecurity>0</DocSecurity>
  <PresentationFormat>Widescreen</PresentationFormat>
  <Paragraphs>88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Bitstream Charter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Muhammad Khan</cp:lastModifiedBy>
  <cp:revision>2</cp:revision>
  <dcterms:created xsi:type="dcterms:W3CDTF">2026-09-12T00:34:25Z</dcterms:created>
  <dcterms:modified xsi:type="dcterms:W3CDTF">2026-09-12T00:54:57Z</dcterms:modified>
</cp:coreProperties>
</file>